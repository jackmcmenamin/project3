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Vanilla BERT</c:v>
                </c:pt>
              </c:strCache>
            </c:strRef>
          </c:tx>
          <c:spPr>
            <a:solidFill>
              <a:srgbClr val="B9C4DC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41B34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All pairs</c:v>
                  </c:pt>
                  <c:pt idx="1">
                    <c:v>Both supervised</c:v>
                  </c:pt>
                  <c:pt idx="2">
                    <c:v>One supervised</c:v>
                  </c:pt>
                  <c:pt idx="3">
                    <c:v>Neither supervised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0.492</c:v>
                </c:pt>
                <c:pt idx="1">
                  <c:v>0.336</c:v>
                </c:pt>
                <c:pt idx="2">
                  <c:v>0.617</c:v>
                </c:pt>
                <c:pt idx="3">
                  <c:v>0.55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+MLM control</c:v>
                </c:pt>
              </c:strCache>
            </c:strRef>
          </c:tx>
          <c:spPr>
            <a:solidFill>
              <a:srgbClr val="5C6F9E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41B34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All pairs</c:v>
                  </c:pt>
                  <c:pt idx="1">
                    <c:v>Both supervised</c:v>
                  </c:pt>
                  <c:pt idx="2">
                    <c:v>One supervised</c:v>
                  </c:pt>
                  <c:pt idx="3">
                    <c:v>Neither supervised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0.51</c:v>
                </c:pt>
                <c:pt idx="1">
                  <c:v>0.333</c:v>
                </c:pt>
                <c:pt idx="2">
                  <c:v>0.645</c:v>
                </c:pt>
                <c:pt idx="3">
                  <c:v>0.561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RSR</c:v>
                </c:pt>
              </c:strCache>
            </c:strRef>
          </c:tx>
          <c:spPr>
            <a:solidFill>
              <a:srgbClr val="E8743B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41B34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All pairs</c:v>
                  </c:pt>
                  <c:pt idx="1">
                    <c:v>Both supervised</c:v>
                  </c:pt>
                  <c:pt idx="2">
                    <c:v>One supervised</c:v>
                  </c:pt>
                  <c:pt idx="3">
                    <c:v>Neither supervised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0.528</c:v>
                </c:pt>
                <c:pt idx="1">
                  <c:v>0.34</c:v>
                </c:pt>
                <c:pt idx="2">
                  <c:v>0.648</c:v>
                </c:pt>
                <c:pt idx="3">
                  <c:v>0.614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900" u="none">
                  <a:solidFill>
                    <a:srgbClr val="141B34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58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5"/>
          <c:min val="0"/>
        </c:scaling>
        <c:delete val="0"/>
        <c:axPos val="l"/>
        <c:majorGridlines>
          <c:spPr>
            <a:ln w="12700" cap="flat">
              <a:solidFill>
                <a:srgbClr val="E8ECF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A6588"/>
                    </a:solidFill>
                    <a:latin typeface="Calibri"/>
                  </a:defRPr>
                </a:pPr>
                <a:r>
                  <a:rPr sz="1100" b="0" i="0" u="none" strike="noStrike">
                    <a:solidFill>
                      <a:srgbClr val="5A6588"/>
                    </a:solidFill>
                    <a:latin typeface="Calibri"/>
                  </a:rPr>
                  <a:t>SimLex-999 Spearman rho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58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All pairs</c:v>
                </c:pt>
              </c:strCache>
            </c:strRef>
          </c:tx>
          <c:spPr>
            <a:solidFill>
              <a:srgbClr val="24325C"/>
            </a:solidFill>
            <a:ln w="38100" cap="flat">
              <a:solidFill>
                <a:srgbClr val="24325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4325C"/>
              </a:solidFill>
              <a:ln w="9525" cap="flat">
                <a:solidFill>
                  <a:srgbClr val="24325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0.5181</c:v>
                </c:pt>
                <c:pt idx="1">
                  <c:v>0.5096</c:v>
                </c:pt>
                <c:pt idx="2">
                  <c:v>0.5112</c:v>
                </c:pt>
                <c:pt idx="3">
                  <c:v>0.5181</c:v>
                </c:pt>
                <c:pt idx="4">
                  <c:v>0.515</c:v>
                </c:pt>
                <c:pt idx="5">
                  <c:v>0.5164</c:v>
                </c:pt>
                <c:pt idx="6">
                  <c:v>0.5204</c:v>
                </c:pt>
                <c:pt idx="7">
                  <c:v>0.5227</c:v>
                </c:pt>
                <c:pt idx="8">
                  <c:v>0.5218</c:v>
                </c:pt>
                <c:pt idx="9">
                  <c:v>0.5122</c:v>
                </c:pt>
                <c:pt idx="10">
                  <c:v>0.4867</c:v>
                </c:pt>
                <c:pt idx="11">
                  <c:v>0.4695</c:v>
                </c:pt>
                <c:pt idx="12">
                  <c:v>0.4921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Neither supervised</c:v>
                </c:pt>
              </c:strCache>
            </c:strRef>
          </c:tx>
          <c:spPr>
            <a:solidFill>
              <a:srgbClr val="E8743B"/>
            </a:solidFill>
            <a:ln w="38100" cap="flat">
              <a:solidFill>
                <a:srgbClr val="E8743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743B"/>
              </a:solidFill>
              <a:ln w="9525" cap="flat">
                <a:solidFill>
                  <a:srgbClr val="E8743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0.5283</c:v>
                </c:pt>
                <c:pt idx="1">
                  <c:v>0.5222</c:v>
                </c:pt>
                <c:pt idx="2">
                  <c:v>0.5333</c:v>
                </c:pt>
                <c:pt idx="3">
                  <c:v>0.5333</c:v>
                </c:pt>
                <c:pt idx="4">
                  <c:v>0.5439</c:v>
                </c:pt>
                <c:pt idx="5">
                  <c:v>0.5418</c:v>
                </c:pt>
                <c:pt idx="6">
                  <c:v>0.553</c:v>
                </c:pt>
                <c:pt idx="7">
                  <c:v>0.5677</c:v>
                </c:pt>
                <c:pt idx="8">
                  <c:v>0.5813</c:v>
                </c:pt>
                <c:pt idx="9">
                  <c:v>0.585</c:v>
                </c:pt>
                <c:pt idx="10">
                  <c:v>0.5636</c:v>
                </c:pt>
                <c:pt idx="11">
                  <c:v>0.5438</c:v>
                </c:pt>
                <c:pt idx="12">
                  <c:v>0.5498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A6588"/>
                    </a:solidFill>
                    <a:latin typeface="Calibri"/>
                  </a:defRPr>
                </a:pPr>
                <a:r>
                  <a:rPr sz="1100" b="0" i="0" u="none" strike="noStrike">
                    <a:solidFill>
                      <a:srgbClr val="5A6588"/>
                    </a:solidFill>
                    <a:latin typeface="Calibri"/>
                  </a:rPr>
                  <a:t>hidden layer (0 = embeddings)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58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2"/>
          <c:min val="0.44"/>
        </c:scaling>
        <c:delete val="0"/>
        <c:axPos val="l"/>
        <c:majorGridlines>
          <c:spPr>
            <a:ln w="12700" cap="flat">
              <a:solidFill>
                <a:srgbClr val="E8EC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58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Progress update. Three things: our BERT result, an independent replication of your RoBERTa experiments, and where the brain evaluation stands.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motivation slide. The old-new example is the whole thesis in one row: models track association, we want similarity. SimLex ships both columns so we can measure the difference directly â€” that's a planned analysis.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 was dropped on your advice â€” it rates relatedness rather than strict similarity. The anchoring in step 4 is the part that differs from your setup and it turns out to matter a 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slide. Neither-supervised is the generalisation test: those words got no human score, so there is nothing to memorise. The effect is small in absolute terms but extremely consistent â€” every seed, tiny variance.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came from a colleague's RoBERTa plot. One evening's work replicated it on BERT and it changed where we attach the loss. Note the two curves peak at different layers â€” 7 for all pairs, 9 for generalisation.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confirmation â€” his work stands up. The two notes are offered as help, not criticism. The batch-size one matters because it rules out the easy explanation for the collapse.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Careful framing: not 'you were wrong', but 'your conclusion may be about the anchoring rather than the contexts'. Our own BERT interleave runs also decayed â€” that's the within-model evidence for the hypothesis. He only tried K-averaging as a fix, never the weighted combine.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double dissociation is the story: his template method helps supervised concepts and does nothing for unsupervised ones; ours does the reverse. But be upfront that n=3 and p=0.068 â€” direction is consistent (3/3 subjects, every upper layer) but this is not yet significant. Drive quota blocked M05-M10; it resets in 24h.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Priority order is up for discussion â€” that's one of the things I want your steer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asks â€” priority order, whether to consolidate the BERT and RoBERTa lines into one paper, and which brain dataset to target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1417320"/>
            <a:ext cx="384048" cy="384048"/>
          </a:xfrm>
          <a:prstGeom prst="rect">
            <a:avLst/>
          </a:prstGeom>
          <a:solidFill>
            <a:srgbClr val="24325C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577072" y="1417320"/>
            <a:ext cx="384048" cy="384048"/>
          </a:xfrm>
          <a:prstGeom prst="rect">
            <a:avLst/>
          </a:prstGeom>
          <a:solidFill>
            <a:srgbClr val="24325C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015984" y="1417320"/>
            <a:ext cx="384048" cy="384048"/>
          </a:xfrm>
          <a:prstGeom prst="rect">
            <a:avLst/>
          </a:prstGeom>
          <a:solidFill>
            <a:srgbClr val="5C6F9E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454896" y="1417320"/>
            <a:ext cx="384048" cy="384048"/>
          </a:xfrm>
          <a:prstGeom prst="rect">
            <a:avLst/>
          </a:prstGeom>
          <a:solidFill>
            <a:srgbClr val="5C6F9E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893808" y="1417320"/>
            <a:ext cx="384048" cy="384048"/>
          </a:xfrm>
          <a:prstGeom prst="rect">
            <a:avLst/>
          </a:prstGeom>
          <a:solidFill>
            <a:srgbClr val="2A9D8F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332720" y="1417320"/>
            <a:ext cx="384048" cy="384048"/>
          </a:xfrm>
          <a:prstGeom prst="rect">
            <a:avLst/>
          </a:prstGeom>
          <a:solidFill>
            <a:srgbClr val="35507F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771632" y="1417320"/>
            <a:ext cx="384048" cy="384048"/>
          </a:xfrm>
          <a:prstGeom prst="rect">
            <a:avLst/>
          </a:prstGeom>
          <a:solidFill>
            <a:srgbClr val="35507F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210544" y="1417320"/>
            <a:ext cx="384048" cy="384048"/>
          </a:xfrm>
          <a:prstGeom prst="rect">
            <a:avLst/>
          </a:prstGeom>
          <a:solidFill>
            <a:srgbClr val="5C6F9E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138160" y="1856232"/>
            <a:ext cx="384048" cy="384048"/>
          </a:xfrm>
          <a:prstGeom prst="rect">
            <a:avLst/>
          </a:prstGeom>
          <a:solidFill>
            <a:srgbClr val="E8743B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577072" y="1856232"/>
            <a:ext cx="384048" cy="384048"/>
          </a:xfrm>
          <a:prstGeom prst="rect">
            <a:avLst/>
          </a:prstGeom>
          <a:solidFill>
            <a:srgbClr val="24325C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015984" y="1856232"/>
            <a:ext cx="384048" cy="384048"/>
          </a:xfrm>
          <a:prstGeom prst="rect">
            <a:avLst/>
          </a:prstGeom>
          <a:solidFill>
            <a:srgbClr val="2A9D8F">
              <a:alpha val="4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454896" y="1856232"/>
            <a:ext cx="384048" cy="384048"/>
          </a:xfrm>
          <a:prstGeom prst="rect">
            <a:avLst/>
          </a:prstGeom>
          <a:solidFill>
            <a:srgbClr val="2A9D8F">
              <a:alpha val="4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9893808" y="1856232"/>
            <a:ext cx="384048" cy="384048"/>
          </a:xfrm>
          <a:prstGeom prst="rect">
            <a:avLst/>
          </a:prstGeom>
          <a:solidFill>
            <a:srgbClr val="5C6F9E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332720" y="1856232"/>
            <a:ext cx="384048" cy="384048"/>
          </a:xfrm>
          <a:prstGeom prst="rect">
            <a:avLst/>
          </a:prstGeom>
          <a:solidFill>
            <a:srgbClr val="35507F">
              <a:alpha val="4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771632" y="1856232"/>
            <a:ext cx="384048" cy="384048"/>
          </a:xfrm>
          <a:prstGeom prst="rect">
            <a:avLst/>
          </a:prstGeom>
          <a:solidFill>
            <a:srgbClr val="2A9D8F">
              <a:alpha val="4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210544" y="1856232"/>
            <a:ext cx="384048" cy="384048"/>
          </a:xfrm>
          <a:prstGeom prst="rect">
            <a:avLst/>
          </a:prstGeom>
          <a:solidFill>
            <a:srgbClr val="5C6F9E">
              <a:alpha val="4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138160" y="2295144"/>
            <a:ext cx="384048" cy="384048"/>
          </a:xfrm>
          <a:prstGeom prst="rect">
            <a:avLst/>
          </a:prstGeom>
          <a:solidFill>
            <a:srgbClr val="F2C14E">
              <a:alpha val="4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577072" y="2295144"/>
            <a:ext cx="384048" cy="384048"/>
          </a:xfrm>
          <a:prstGeom prst="rect">
            <a:avLst/>
          </a:prstGeom>
          <a:solidFill>
            <a:srgbClr val="35507F">
              <a:alpha val="4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015984" y="2295144"/>
            <a:ext cx="384048" cy="384048"/>
          </a:xfrm>
          <a:prstGeom prst="rect">
            <a:avLst/>
          </a:prstGeom>
          <a:solidFill>
            <a:srgbClr val="24325C">
              <a:alpha val="4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454896" y="2295144"/>
            <a:ext cx="384048" cy="384048"/>
          </a:xfrm>
          <a:prstGeom prst="rect">
            <a:avLst/>
          </a:prstGeom>
          <a:solidFill>
            <a:srgbClr val="35507F">
              <a:alpha val="4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9893808" y="2295144"/>
            <a:ext cx="384048" cy="384048"/>
          </a:xfrm>
          <a:prstGeom prst="rect">
            <a:avLst/>
          </a:prstGeom>
          <a:solidFill>
            <a:srgbClr val="F2C14E">
              <a:alpha val="4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0332720" y="2295144"/>
            <a:ext cx="384048" cy="384048"/>
          </a:xfrm>
          <a:prstGeom prst="rect">
            <a:avLst/>
          </a:prstGeom>
          <a:solidFill>
            <a:srgbClr val="24325C">
              <a:alpha val="4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0771632" y="2295144"/>
            <a:ext cx="384048" cy="384048"/>
          </a:xfrm>
          <a:prstGeom prst="rect">
            <a:avLst/>
          </a:prstGeom>
          <a:solidFill>
            <a:srgbClr val="5C6F9E">
              <a:alpha val="4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210544" y="2295144"/>
            <a:ext cx="384048" cy="384048"/>
          </a:xfrm>
          <a:prstGeom prst="rect">
            <a:avLst/>
          </a:prstGeom>
          <a:solidFill>
            <a:srgbClr val="24325C">
              <a:alpha val="4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8138160" y="2734056"/>
            <a:ext cx="384048" cy="384048"/>
          </a:xfrm>
          <a:prstGeom prst="rect">
            <a:avLst/>
          </a:prstGeom>
          <a:solidFill>
            <a:srgbClr val="35507F">
              <a:alpha val="4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577072" y="2734056"/>
            <a:ext cx="384048" cy="384048"/>
          </a:xfrm>
          <a:prstGeom prst="rect">
            <a:avLst/>
          </a:prstGeom>
          <a:solidFill>
            <a:srgbClr val="F2C14E">
              <a:alpha val="4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9015984" y="2734056"/>
            <a:ext cx="384048" cy="384048"/>
          </a:xfrm>
          <a:prstGeom prst="rect">
            <a:avLst/>
          </a:prstGeom>
          <a:solidFill>
            <a:srgbClr val="F2C14E">
              <a:alpha val="4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9454896" y="2734056"/>
            <a:ext cx="384048" cy="384048"/>
          </a:xfrm>
          <a:prstGeom prst="rect">
            <a:avLst/>
          </a:prstGeom>
          <a:solidFill>
            <a:srgbClr val="24325C">
              <a:alpha val="4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9893808" y="2734056"/>
            <a:ext cx="384048" cy="384048"/>
          </a:xfrm>
          <a:prstGeom prst="rect">
            <a:avLst/>
          </a:prstGeom>
          <a:solidFill>
            <a:srgbClr val="F2C14E">
              <a:alpha val="4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0332720" y="2734056"/>
            <a:ext cx="384048" cy="384048"/>
          </a:xfrm>
          <a:prstGeom prst="rect">
            <a:avLst/>
          </a:prstGeom>
          <a:solidFill>
            <a:srgbClr val="24325C">
              <a:alpha val="4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0771632" y="2734056"/>
            <a:ext cx="384048" cy="384048"/>
          </a:xfrm>
          <a:prstGeom prst="rect">
            <a:avLst/>
          </a:prstGeom>
          <a:solidFill>
            <a:srgbClr val="24325C">
              <a:alpha val="4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1210544" y="2734056"/>
            <a:ext cx="384048" cy="384048"/>
          </a:xfrm>
          <a:prstGeom prst="rect">
            <a:avLst/>
          </a:prstGeom>
          <a:solidFill>
            <a:srgbClr val="2A9D8F">
              <a:alpha val="4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8138160" y="3172968"/>
            <a:ext cx="384048" cy="384048"/>
          </a:xfrm>
          <a:prstGeom prst="rect">
            <a:avLst/>
          </a:prstGeom>
          <a:solidFill>
            <a:srgbClr val="5C6F9E">
              <a:alpha val="4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8577072" y="3172968"/>
            <a:ext cx="384048" cy="384048"/>
          </a:xfrm>
          <a:prstGeom prst="rect">
            <a:avLst/>
          </a:prstGeom>
          <a:solidFill>
            <a:srgbClr val="5C6F9E">
              <a:alpha val="4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9015984" y="3172968"/>
            <a:ext cx="384048" cy="384048"/>
          </a:xfrm>
          <a:prstGeom prst="rect">
            <a:avLst/>
          </a:prstGeom>
          <a:solidFill>
            <a:srgbClr val="24325C">
              <a:alpha val="4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9454896" y="3172968"/>
            <a:ext cx="384048" cy="384048"/>
          </a:xfrm>
          <a:prstGeom prst="rect">
            <a:avLst/>
          </a:prstGeom>
          <a:solidFill>
            <a:srgbClr val="2A9D8F">
              <a:alpha val="4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9893808" y="3172968"/>
            <a:ext cx="384048" cy="384048"/>
          </a:xfrm>
          <a:prstGeom prst="rect">
            <a:avLst/>
          </a:prstGeom>
          <a:solidFill>
            <a:srgbClr val="24325C">
              <a:alpha val="4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0332720" y="3172968"/>
            <a:ext cx="384048" cy="384048"/>
          </a:xfrm>
          <a:prstGeom prst="rect">
            <a:avLst/>
          </a:prstGeom>
          <a:solidFill>
            <a:srgbClr val="F2C14E">
              <a:alpha val="4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0771632" y="3172968"/>
            <a:ext cx="384048" cy="384048"/>
          </a:xfrm>
          <a:prstGeom prst="rect">
            <a:avLst/>
          </a:prstGeom>
          <a:solidFill>
            <a:srgbClr val="5C6F9E">
              <a:alpha val="4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1210544" y="3172968"/>
            <a:ext cx="384048" cy="384048"/>
          </a:xfrm>
          <a:prstGeom prst="rect">
            <a:avLst/>
          </a:prstGeom>
          <a:solidFill>
            <a:srgbClr val="5C6F9E">
              <a:alpha val="4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8138160" y="3611880"/>
            <a:ext cx="384048" cy="384048"/>
          </a:xfrm>
          <a:prstGeom prst="rect">
            <a:avLst/>
          </a:prstGeom>
          <a:solidFill>
            <a:srgbClr val="35507F">
              <a:alpha val="4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8577072" y="3611880"/>
            <a:ext cx="384048" cy="384048"/>
          </a:xfrm>
          <a:prstGeom prst="rect">
            <a:avLst/>
          </a:prstGeom>
          <a:solidFill>
            <a:srgbClr val="35507F">
              <a:alpha val="4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9015984" y="3611880"/>
            <a:ext cx="384048" cy="384048"/>
          </a:xfrm>
          <a:prstGeom prst="rect">
            <a:avLst/>
          </a:prstGeom>
          <a:solidFill>
            <a:srgbClr val="35507F">
              <a:alpha val="4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9454896" y="3611880"/>
            <a:ext cx="384048" cy="384048"/>
          </a:xfrm>
          <a:prstGeom prst="rect">
            <a:avLst/>
          </a:prstGeom>
          <a:solidFill>
            <a:srgbClr val="E8743B">
              <a:alpha val="4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9893808" y="3611880"/>
            <a:ext cx="384048" cy="384048"/>
          </a:xfrm>
          <a:prstGeom prst="rect">
            <a:avLst/>
          </a:prstGeom>
          <a:solidFill>
            <a:srgbClr val="35507F">
              <a:alpha val="4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10332720" y="3611880"/>
            <a:ext cx="384048" cy="384048"/>
          </a:xfrm>
          <a:prstGeom prst="rect">
            <a:avLst/>
          </a:prstGeom>
          <a:solidFill>
            <a:srgbClr val="24325C">
              <a:alpha val="4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10771632" y="3611880"/>
            <a:ext cx="384048" cy="384048"/>
          </a:xfrm>
          <a:prstGeom prst="rect">
            <a:avLst/>
          </a:prstGeom>
          <a:solidFill>
            <a:srgbClr val="35507F">
              <a:alpha val="4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11210544" y="3611880"/>
            <a:ext cx="384048" cy="384048"/>
          </a:xfrm>
          <a:prstGeom prst="rect">
            <a:avLst/>
          </a:prstGeom>
          <a:solidFill>
            <a:srgbClr val="5C6F9E">
              <a:alpha val="4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138160" y="4050792"/>
            <a:ext cx="384048" cy="384048"/>
          </a:xfrm>
          <a:prstGeom prst="rect">
            <a:avLst/>
          </a:prstGeom>
          <a:solidFill>
            <a:srgbClr val="35507F">
              <a:alpha val="4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577072" y="4050792"/>
            <a:ext cx="384048" cy="384048"/>
          </a:xfrm>
          <a:prstGeom prst="rect">
            <a:avLst/>
          </a:prstGeom>
          <a:solidFill>
            <a:srgbClr val="2A9D8F">
              <a:alpha val="4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9015984" y="4050792"/>
            <a:ext cx="384048" cy="384048"/>
          </a:xfrm>
          <a:prstGeom prst="rect">
            <a:avLst/>
          </a:prstGeom>
          <a:solidFill>
            <a:srgbClr val="24325C">
              <a:alpha val="4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9454896" y="4050792"/>
            <a:ext cx="384048" cy="384048"/>
          </a:xfrm>
          <a:prstGeom prst="rect">
            <a:avLst/>
          </a:prstGeom>
          <a:solidFill>
            <a:srgbClr val="5C6F9E">
              <a:alpha val="45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893808" y="4050792"/>
            <a:ext cx="384048" cy="384048"/>
          </a:xfrm>
          <a:prstGeom prst="rect">
            <a:avLst/>
          </a:prstGeom>
          <a:solidFill>
            <a:srgbClr val="2A9D8F">
              <a:alpha val="45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10332720" y="4050792"/>
            <a:ext cx="384048" cy="384048"/>
          </a:xfrm>
          <a:prstGeom prst="rect">
            <a:avLst/>
          </a:prstGeom>
          <a:solidFill>
            <a:srgbClr val="35507F">
              <a:alpha val="4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10771632" y="4050792"/>
            <a:ext cx="384048" cy="384048"/>
          </a:xfrm>
          <a:prstGeom prst="rect">
            <a:avLst/>
          </a:prstGeom>
          <a:solidFill>
            <a:srgbClr val="24325C">
              <a:alpha val="4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11210544" y="4050792"/>
            <a:ext cx="384048" cy="384048"/>
          </a:xfrm>
          <a:prstGeom prst="rect">
            <a:avLst/>
          </a:prstGeom>
          <a:solidFill>
            <a:srgbClr val="E8743B">
              <a:alpha val="4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138160" y="4489704"/>
            <a:ext cx="384048" cy="384048"/>
          </a:xfrm>
          <a:prstGeom prst="rect">
            <a:avLst/>
          </a:prstGeom>
          <a:solidFill>
            <a:srgbClr val="24325C">
              <a:alpha val="45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577072" y="4489704"/>
            <a:ext cx="384048" cy="384048"/>
          </a:xfrm>
          <a:prstGeom prst="rect">
            <a:avLst/>
          </a:prstGeom>
          <a:solidFill>
            <a:srgbClr val="35507F">
              <a:alpha val="45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015984" y="4489704"/>
            <a:ext cx="384048" cy="384048"/>
          </a:xfrm>
          <a:prstGeom prst="rect">
            <a:avLst/>
          </a:prstGeom>
          <a:solidFill>
            <a:srgbClr val="24325C">
              <a:alpha val="45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454896" y="4489704"/>
            <a:ext cx="384048" cy="384048"/>
          </a:xfrm>
          <a:prstGeom prst="rect">
            <a:avLst/>
          </a:prstGeom>
          <a:solidFill>
            <a:srgbClr val="35507F">
              <a:alpha val="4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893808" y="4489704"/>
            <a:ext cx="384048" cy="384048"/>
          </a:xfrm>
          <a:prstGeom prst="rect">
            <a:avLst/>
          </a:prstGeom>
          <a:solidFill>
            <a:srgbClr val="F2C14E">
              <a:alpha val="45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10332720" y="4489704"/>
            <a:ext cx="384048" cy="384048"/>
          </a:xfrm>
          <a:prstGeom prst="rect">
            <a:avLst/>
          </a:prstGeom>
          <a:solidFill>
            <a:srgbClr val="5C6F9E">
              <a:alpha val="45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10771632" y="4489704"/>
            <a:ext cx="384048" cy="384048"/>
          </a:xfrm>
          <a:prstGeom prst="rect">
            <a:avLst/>
          </a:prstGeom>
          <a:solidFill>
            <a:srgbClr val="5C6F9E">
              <a:alpha val="45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11210544" y="4489704"/>
            <a:ext cx="384048" cy="384048"/>
          </a:xfrm>
          <a:prstGeom prst="rect">
            <a:avLst/>
          </a:prstGeom>
          <a:solidFill>
            <a:srgbClr val="24325C">
              <a:alpha val="45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777240" y="141732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Representational</a:t>
            </a:r>
            <a:endParaRPr lang="en-US" sz="4400" dirty="0"/>
          </a:p>
        </p:txBody>
      </p:sp>
      <p:sp>
        <p:nvSpPr>
          <p:cNvPr id="67" name="Text 65"/>
          <p:cNvSpPr/>
          <p:nvPr/>
        </p:nvSpPr>
        <p:spPr>
          <a:xfrm>
            <a:off x="777240" y="2057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Similarity Regularisation</a:t>
            </a:r>
            <a:endParaRPr lang="en-US" sz="4400" dirty="0"/>
          </a:p>
        </p:txBody>
      </p:sp>
      <p:sp>
        <p:nvSpPr>
          <p:cNvPr id="68" name="Text 66"/>
          <p:cNvSpPr/>
          <p:nvPr/>
        </p:nvSpPr>
        <p:spPr>
          <a:xfrm>
            <a:off x="777240" y="301752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a language model to judge word similarity the way people do â€” and testing whether that makes it more brain-like.</a:t>
            </a:r>
            <a:endParaRPr lang="en-US" sz="1500" dirty="0"/>
          </a:p>
        </p:txBody>
      </p:sp>
      <p:sp>
        <p:nvSpPr>
          <p:cNvPr id="69" name="Text 67"/>
          <p:cNvSpPr/>
          <p:nvPr/>
        </p:nvSpPr>
        <p:spPr>
          <a:xfrm>
            <a:off x="777240" y="4160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McMenamin</a:t>
            </a:r>
            <a:pPr indent="0" marL="0">
              <a:buNone/>
            </a:pPr>
            <a:r>
              <a:rPr lang="en-US" sz="1300" dirty="0">
                <a:solidFill>
                  <a:srgbClr val="859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Â·   Experiment 3   Â·   Supervisor: Barry Devereux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 confuse similarity with association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Distributional training teaches a model what words appear near each other. That is association, not similarity â€” and the two come apart exactly where meaning matters.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2F5FB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27000" dist="25400" dir="5400000">
              <a:srgbClr val="8899BB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697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cup â€” mug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48640" y="312724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AND related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4015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easy case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0" y="251460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2F5FB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27000" dist="25400" dir="5400000">
              <a:srgbClr val="8899BB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74720" y="2697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cup â€” coffee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3474720" y="312724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related, NOT similar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4720" y="34015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models fail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583680" y="1417320"/>
            <a:ext cx="5029200" cy="3749040"/>
          </a:xfrm>
          <a:prstGeom prst="roundRect">
            <a:avLst>
              <a:gd name="adj" fmla="val 1951"/>
            </a:avLst>
          </a:prstGeom>
          <a:solidFill>
            <a:srgbClr val="141B34"/>
          </a:solidFill>
          <a:ln w="12700">
            <a:solidFill>
              <a:srgbClr val="141B34"/>
            </a:solidFill>
            <a:prstDash val="solid"/>
          </a:ln>
          <a:effectLst>
            <a:outerShdw sx="100000" sy="100000" kx="0" ky="0" algn="bl" rotWithShape="0" blurRad="127000" dist="25400" dir="5400000">
              <a:srgbClr val="8899BB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0" y="16459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SimLex-999 rates both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858000" y="205740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999 pairs carry a similarity score and an association score. For antonyms they point in opposite directions: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0" y="283464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old â€” new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766560" y="33832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2C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1.58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766560" y="40416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(out of 10)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0" y="33832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7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7.25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9144000" y="40416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(out of 10)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0" y="443484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59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Maximally related. Minimally similar. A distributional model sees them constantly in the same contexts and pulls them together.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RSR: constrain the similarity ranking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76656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27000" dist="25400" dir="5400000">
              <a:srgbClr val="8899B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64792"/>
            <a:ext cx="512064" cy="51206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647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81328" y="1691640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 in context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81328" y="2020824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target word is run inside real Wikipedia sentences; its sub-word vectors are mean-pooled.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679192"/>
            <a:ext cx="676656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27000" dist="25400" dir="5400000">
              <a:srgbClr val="8899BB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2935224"/>
            <a:ext cx="512064" cy="512064"/>
          </a:xfrm>
          <a:prstGeom prst="ellipse">
            <a:avLst/>
          </a:prstGeom>
          <a:solidFill>
            <a:srgbClr val="24325C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9352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81328" y="2862072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model RDM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81328" y="3191256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for every word pair in the batch â€” the model's own similarity structure.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849624"/>
            <a:ext cx="676656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27000" dist="25400" dir="5400000">
              <a:srgbClr val="8899BB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4105656"/>
            <a:ext cx="512064" cy="512064"/>
          </a:xfrm>
          <a:prstGeom prst="ellipse">
            <a:avLst/>
          </a:prstGeom>
          <a:solidFill>
            <a:srgbClr val="E8743B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1056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81328" y="4032504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 against humans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81328" y="436168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differentiable (soft) Spearman loss pushes that ranking toward human similarity ratings.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020056"/>
            <a:ext cx="676656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27000" dist="25400" dir="5400000">
              <a:srgbClr val="8899BB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5276088"/>
            <a:ext cx="512064" cy="512064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2760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81328" y="5202936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Anchor with MLM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81328" y="553212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language modelling runs in every batch, so the model stays a language model.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680960" y="1508760"/>
            <a:ext cx="3931920" cy="2286000"/>
          </a:xfrm>
          <a:prstGeom prst="roundRect">
            <a:avLst>
              <a:gd name="adj" fmla="val 3200"/>
            </a:avLst>
          </a:prstGeom>
          <a:solidFill>
            <a:srgbClr val="141B34"/>
          </a:solidFill>
          <a:ln w="12700">
            <a:solidFill>
              <a:srgbClr val="141B34"/>
            </a:solidFill>
            <a:prstDash val="solid"/>
          </a:ln>
          <a:effectLst>
            <a:outerShdw sx="100000" sy="100000" kx="0" ky="0" algn="bl" rotWithShape="0" blurRad="127000" dist="25400" dir="5400000">
              <a:srgbClr val="8899BB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955280" y="1737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soft Spearman?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955280" y="2121408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care about the ORDER of similarities, not absolute values. But ranking means sorting, and sorting has no usable gradient â€” so we use a smooth, differentiable approximation of rank.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955280" y="3291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C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 = 1 âˆ’ Ï_soft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7680960" y="4023360"/>
            <a:ext cx="39319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27000" dist="25400" dir="5400000">
              <a:srgbClr val="8899BB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955280" y="42062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on / test 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955280" y="452628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Supervision: 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SimVerb-3500 + THINGS
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 out: 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SimLex-999 â€” never seen in training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Â· BERT Â· 5 SEEDS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Biggest gains on words it never supervised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508760"/>
          <a:ext cx="74066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183880" y="150876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141B34"/>
          </a:solidFill>
          <a:ln w="12700">
            <a:solidFill>
              <a:srgbClr val="141B34"/>
            </a:solidFill>
            <a:prstDash val="solid"/>
          </a:ln>
          <a:effectLst>
            <a:outerShdw sx="100000" sy="100000" kx="0" ky="0" algn="bl" rotWithShape="0" blurRad="127000" dist="25400" dir="5400000">
              <a:srgbClr val="8899BB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412480" y="171907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supervised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412480" y="201168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+0.053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8412480" y="27889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the matched MLM control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412480" y="312724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22.8   Â·   p = 0.00002   Â·   positive in all 5 seeds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183880" y="384048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2F5FB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27000" dist="25400" dir="5400000">
              <a:srgbClr val="8899BB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412480" y="40233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control matters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412480" y="434340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+MLM model is trained for exactly the same steps without RSR. So the gain is not "more training" â€” it is the similarity constraint itself, and it shows up on words that received no human ratings at all.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Â· NO TRAINING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should we read meaning from?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training anything: score every one of BERT's 13 layers on SimLex. Semantic content peaks mid-stack and degrades toward the top â€” replicating VuliÄ‡ et al. (2020).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2148840" cy="1371600"/>
          </a:xfrm>
          <a:prstGeom prst="roundRect">
            <a:avLst>
              <a:gd name="adj" fmla="val 5333"/>
            </a:avLst>
          </a:prstGeom>
          <a:solidFill>
            <a:srgbClr val="141B34"/>
          </a:solidFill>
          <a:ln w="12700">
            <a:solidFill>
              <a:srgbClr val="141B34"/>
            </a:solidFill>
            <a:prstDash val="solid"/>
          </a:ln>
          <a:effectLst>
            <a:outerShdw sx="100000" sy="100000" kx="0" ky="0" algn="bl" rotWithShape="0" blurRad="127000" dist="25400" dir="5400000">
              <a:srgbClr val="8899BB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76148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7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0.523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331012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7 â€” best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5661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59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mid-stack peak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971800" y="2606040"/>
            <a:ext cx="2148840" cy="1371600"/>
          </a:xfrm>
          <a:prstGeom prst="roundRect">
            <a:avLst>
              <a:gd name="adj" fmla="val 5333"/>
            </a:avLst>
          </a:prstGeom>
          <a:solidFill>
            <a:srgbClr val="F2F5FB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27000" dist="25400" dir="5400000">
              <a:srgbClr val="8899BB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971800" y="276148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A65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0.492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971800" y="331012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12 â€” final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71800" y="35661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had been using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42062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layers specialise for the masked-token objective and lose general lexical structure. Reading from layer 7 raised the baseline for free.</a:t>
            </a:r>
            <a:endParaRPr lang="en-US" sz="125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5440680" y="1481328"/>
          <a:ext cx="621792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Â· 4 MODES Ã— 8000 STEPS Ã— 2 REPLICATES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RoBERTa experiments reproduce</a:t>
            </a:r>
            <a:endParaRPr lang="en-US" sz="3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69494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051560"/>
                <a:gridCol w="1051560"/>
                <a:gridCol w="24688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5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(step 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A65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A65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5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5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vanilla_all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A65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A65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5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flat, as reported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5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vanilla_targetwords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A65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A65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5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flat, as reported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1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rsr_all (templates)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1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1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1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helps â€” confirmed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1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rsr_targetwords (real)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1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1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1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collapses â€” confirmed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1554480"/>
            <a:ext cx="6949440" cy="384048"/>
          </a:xfrm>
          <a:prstGeom prst="rect">
            <a:avLst/>
          </a:prstGeom>
          <a:solidFill>
            <a:srgbClr val="141B34"/>
          </a:solidFill>
          <a:ln/>
        </p:spPr>
      </p:sp>
      <p:sp>
        <p:nvSpPr>
          <p:cNvPr id="6" name="Text 3"/>
          <p:cNvSpPr/>
          <p:nvPr/>
        </p:nvSpPr>
        <p:spPr>
          <a:xfrm>
            <a:off x="658368" y="15544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926080" y="155448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977640" y="155448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138928" y="15544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425196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Rebuilt from your code on our GPU, data regenerated with your own scripts. All numbers sit ~0.013 higher because our Wikipedia stream collected 405k sentences to your 336k â€” the ordering and every conclusion hold.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863840" y="1554480"/>
            <a:ext cx="3749040" cy="1828800"/>
          </a:xfrm>
          <a:prstGeom prst="roundRect">
            <a:avLst>
              <a:gd name="adj" fmla="val 4000"/>
            </a:avLst>
          </a:prstGeom>
          <a:solidFill>
            <a:srgbClr val="141B34"/>
          </a:solidFill>
          <a:ln w="12700">
            <a:solidFill>
              <a:srgbClr val="141B34"/>
            </a:solidFill>
            <a:prstDash val="solid"/>
          </a:ln>
          <a:effectLst>
            <a:outerShdw sx="100000" sy="100000" kx="0" ky="0" algn="bl" rotWithShape="0" blurRad="127000" dist="25400" dir="5400000">
              <a:srgbClr val="8899BB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092440" y="17373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C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correction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092440" y="21031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report says rsr_targetwords used 4 edge-pairs per batch due to VRAM. The code uses 24 for both RSR modes (train.py:203).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8092440" y="2880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collapse is real â€” not a small-batch artefact.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63840" y="3566160"/>
            <a:ext cx="37490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27000" dist="25400" dir="5400000">
              <a:srgbClr val="8899BB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092440" y="37307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Also worth a look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092440" y="40233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downstream GLUE table looks unconverged â€” roberta-base scores 0.000 on STS-B and CoLA, and all three models land on exactly 0.4729 for RTE (majority class). Happy to take that on.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 QUESTION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Destructive contexts â€” or just unanchored?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2F5FB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27000" dist="25400" dir="5400000">
              <a:srgbClr val="8899BB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6916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RoBERTa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RSR on real Wikipedia sentences collapses (0.57 â†’ 0.48). Conclusion in the report: RSR should only ever be applied to context-free templates.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interleaved RSR steps  Â·  3 MLM : 1 RSR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150876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2F5FB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27000" dist="25400" dir="5400000">
              <a:srgbClr val="8899BB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37960" y="16916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BERT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37960" y="20574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RSR on real Wikipedia sentences works â€” the +0.053 generalisation gain on the previous slide came from exactly this setup.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537960" y="29260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loss  Â·  MLM in every single batch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11064240" cy="1965960"/>
          </a:xfrm>
          <a:prstGeom prst="roundRect">
            <a:avLst>
              <a:gd name="adj" fmla="val 3721"/>
            </a:avLst>
          </a:prstGeom>
          <a:solidFill>
            <a:srgbClr val="141B34"/>
          </a:solidFill>
          <a:ln w="12700">
            <a:solidFill>
              <a:srgbClr val="141B34"/>
            </a:solidFill>
            <a:prstDash val="solid"/>
          </a:ln>
          <a:effectLst>
            <a:outerShdw sx="100000" sy="100000" kx="0" ky="0" algn="bl" rotWithShape="0" blurRad="127000" dist="25400" dir="5400000">
              <a:srgbClr val="8899BB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3858768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Hypothesis: it is the anchor, not the context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68680" y="425196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sentences make the similarity signal noisy â€” "bank" by a river and "bank" for a loan give different vectors. A pure RSR step has nothing holding it in place, so it chases that noise and the geometry drifts. A weighted step has MLM in the same gradient, keeping every update honest. Templates are safe under interleaving precisely because their signal is already clean.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955280" y="397764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1E2A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83880" y="4114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183880" y="440740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your rsr_targetwords with a weighted combine. One run, ~2 hours, and it settles which explanation is right.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PEREIRA 2018 FMRI Â· 3 SUBJECTS SO FAR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methods, opposite brain effects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harness, ported to BERT, run on the same Pereira fMRI data. The two methods improve brain fit in opposite places â€” a clean double dissociation.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83464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27000" dist="25400" dir="5400000">
              <a:srgbClr val="8899BB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48716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RoBERTa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76148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RSR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309067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+0.007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347472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concepts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385876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9C4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âˆ’0.002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8640" y="424281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supervised  (p = 0.69)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45262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token-specific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566160" y="2331720"/>
            <a:ext cx="2834640" cy="2514600"/>
          </a:xfrm>
          <a:prstGeom prst="roundRect">
            <a:avLst>
              <a:gd name="adj" fmla="val 2909"/>
            </a:avLst>
          </a:prstGeom>
          <a:solidFill>
            <a:srgbClr val="141B34"/>
          </a:solidFill>
          <a:ln w="12700">
            <a:solidFill>
              <a:srgbClr val="141B34"/>
            </a:solidFill>
            <a:prstDash val="solid"/>
          </a:ln>
          <a:effectLst>
            <a:outerShdw sx="100000" sy="100000" kx="0" ky="0" algn="bl" rotWithShape="0" blurRad="127000" dist="25400" dir="5400000">
              <a:srgbClr val="8899BB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566160" y="248716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BERT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66160" y="276148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59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RSR, anchored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66160" y="309067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595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âˆ’0.008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566160" y="347472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concepts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66160" y="385876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7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+0.078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566160" y="424281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supervised  (3/3 subjects)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566160" y="45262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generalising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98348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measured against the same matched MLM control, on identical brain data.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675120" y="1481328"/>
            <a:ext cx="49377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27000" dist="25400" dir="5400000">
              <a:srgbClr val="8899BB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949440" y="164592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effect deepens through the stack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49440" y="195681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RSR advantage on never-supervised concepts, by layer: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49440" y="23317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32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+0.034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49440" y="26974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L7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065008" y="23317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32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+0.027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065008" y="26974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L9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180576" y="23317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32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+0.046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180576" y="26974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296144" y="23317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7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+0.078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296144" y="26974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949440" y="303580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upward propagation you found for voxelwise encoding â€” the geometric correction is built on, not merely preserved.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675120" y="3794760"/>
            <a:ext cx="4937760" cy="1508760"/>
          </a:xfrm>
          <a:prstGeom prst="roundRect">
            <a:avLst>
              <a:gd name="adj" fmla="val 4848"/>
            </a:avLst>
          </a:prstGeom>
          <a:solidFill>
            <a:srgbClr val="2E1F14"/>
          </a:solidFill>
          <a:ln w="12700">
            <a:solidFill>
              <a:srgbClr val="E8743B"/>
            </a:solidFill>
            <a:prstDash val="solid"/>
          </a:ln>
          <a:effectLst>
            <a:outerShdw sx="100000" sy="100000" kx="0" ky="0" algn="bl" rotWithShape="0" blurRad="127000" dist="25400" dir="5400000">
              <a:srgbClr val="8899BB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949440" y="39502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this cautiously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949440" y="425196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 subjects â€” Google Drive throttled the remaining downloads. At n = 3 the headline effect is p = 0.068: consistent in every subject, but not yet significant. Seven subjects still to come.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27000" dist="25400" dir="5400000">
              <a:srgbClr val="8899B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47088"/>
            <a:ext cx="402336" cy="402336"/>
          </a:xfrm>
          <a:prstGeom prst="ellipse">
            <a:avLst/>
          </a:prstGeom>
          <a:solidFill>
            <a:srgbClr val="E8743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47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89888" y="18105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Finish the brain evaluation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480560" y="184708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days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89888" y="2267712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subjects remain (Drive quota). At n = 10 the dissociation either holds or it doesn't.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155448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27000" dist="25400" dir="5400000">
              <a:srgbClr val="8899BB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37960" y="1847088"/>
            <a:ext cx="402336" cy="402336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1847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04888" y="18105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Similarity vs association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195560" y="184708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afternoon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104888" y="2267712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SimLex ships both a similarity and an association column. Show RSR widens the gap â€” sharpening similarity, not boosting mere relatedness.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61188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27000" dist="25400" dir="5400000">
              <a:srgbClr val="8899BB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3904488"/>
            <a:ext cx="402336" cy="402336"/>
          </a:xfrm>
          <a:prstGeom prst="ellipse">
            <a:avLst/>
          </a:prstGeom>
          <a:solidFill>
            <a:srgbClr val="24325C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904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89888" y="38679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Downstream competence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480560" y="390448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4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389888" y="4325112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properly converged GLUE/POS check: did we keep a good language model? Parity is the goal.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63640" y="361188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27000" dist="25400" dir="5400000">
              <a:srgbClr val="8899BB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537960" y="3904488"/>
            <a:ext cx="402336" cy="402336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24" name="Text 22"/>
          <p:cNvSpPr/>
          <p:nvPr/>
        </p:nvSpPr>
        <p:spPr>
          <a:xfrm>
            <a:off x="6537960" y="3904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104888" y="38679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the anchoring hypothesis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195560" y="390448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hours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104888" y="4325112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rsr_targetwords with a weighted combine â€” settles the context-vs-anchor question.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1737360"/>
            <a:ext cx="402336" cy="402336"/>
          </a:xfrm>
          <a:prstGeom prst="rect">
            <a:avLst/>
          </a:prstGeom>
          <a:solidFill>
            <a:srgbClr val="24325C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243584" y="1737360"/>
            <a:ext cx="402336" cy="402336"/>
          </a:xfrm>
          <a:prstGeom prst="rect">
            <a:avLst/>
          </a:prstGeom>
          <a:solidFill>
            <a:srgbClr val="24325C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709928" y="1737360"/>
            <a:ext cx="402336" cy="402336"/>
          </a:xfrm>
          <a:prstGeom prst="rect">
            <a:avLst/>
          </a:prstGeom>
          <a:solidFill>
            <a:srgbClr val="5C6F9E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176272" y="1737360"/>
            <a:ext cx="402336" cy="402336"/>
          </a:xfrm>
          <a:prstGeom prst="rect">
            <a:avLst/>
          </a:prstGeom>
          <a:solidFill>
            <a:srgbClr val="5C6F9E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642616" y="1737360"/>
            <a:ext cx="402336" cy="402336"/>
          </a:xfrm>
          <a:prstGeom prst="rect">
            <a:avLst/>
          </a:prstGeom>
          <a:solidFill>
            <a:srgbClr val="2A9D8F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108960" y="1737360"/>
            <a:ext cx="402336" cy="402336"/>
          </a:xfrm>
          <a:prstGeom prst="rect">
            <a:avLst/>
          </a:prstGeom>
          <a:solidFill>
            <a:srgbClr val="35507F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2203704"/>
            <a:ext cx="402336" cy="402336"/>
          </a:xfrm>
          <a:prstGeom prst="rect">
            <a:avLst/>
          </a:prstGeom>
          <a:solidFill>
            <a:srgbClr val="E8743B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243584" y="2203704"/>
            <a:ext cx="402336" cy="402336"/>
          </a:xfrm>
          <a:prstGeom prst="rect">
            <a:avLst/>
          </a:prstGeom>
          <a:solidFill>
            <a:srgbClr val="24325C">
              <a:alpha val="4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709928" y="2203704"/>
            <a:ext cx="402336" cy="402336"/>
          </a:xfrm>
          <a:prstGeom prst="rect">
            <a:avLst/>
          </a:prstGeom>
          <a:solidFill>
            <a:srgbClr val="2A9D8F">
              <a:alpha val="4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176272" y="2203704"/>
            <a:ext cx="402336" cy="402336"/>
          </a:xfrm>
          <a:prstGeom prst="rect">
            <a:avLst/>
          </a:prstGeom>
          <a:solidFill>
            <a:srgbClr val="2A9D8F">
              <a:alpha val="4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642616" y="2203704"/>
            <a:ext cx="402336" cy="402336"/>
          </a:xfrm>
          <a:prstGeom prst="rect">
            <a:avLst/>
          </a:prstGeom>
          <a:solidFill>
            <a:srgbClr val="5C6F9E">
              <a:alpha val="4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108960" y="2203704"/>
            <a:ext cx="402336" cy="402336"/>
          </a:xfrm>
          <a:prstGeom prst="rect">
            <a:avLst/>
          </a:prstGeom>
          <a:solidFill>
            <a:srgbClr val="35507F">
              <a:alpha val="4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2670048"/>
            <a:ext cx="402336" cy="402336"/>
          </a:xfrm>
          <a:prstGeom prst="rect">
            <a:avLst/>
          </a:prstGeom>
          <a:solidFill>
            <a:srgbClr val="F2C14E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243584" y="2670048"/>
            <a:ext cx="402336" cy="402336"/>
          </a:xfrm>
          <a:prstGeom prst="rect">
            <a:avLst/>
          </a:prstGeom>
          <a:solidFill>
            <a:srgbClr val="35507F">
              <a:alpha val="4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709928" y="2670048"/>
            <a:ext cx="402336" cy="402336"/>
          </a:xfrm>
          <a:prstGeom prst="rect">
            <a:avLst/>
          </a:prstGeom>
          <a:solidFill>
            <a:srgbClr val="24325C">
              <a:alpha val="4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2176272" y="2670048"/>
            <a:ext cx="402336" cy="402336"/>
          </a:xfrm>
          <a:prstGeom prst="rect">
            <a:avLst/>
          </a:prstGeom>
          <a:solidFill>
            <a:srgbClr val="35507F">
              <a:alpha val="4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642616" y="2670048"/>
            <a:ext cx="402336" cy="402336"/>
          </a:xfrm>
          <a:prstGeom prst="rect">
            <a:avLst/>
          </a:prstGeom>
          <a:solidFill>
            <a:srgbClr val="F2C14E">
              <a:alpha val="4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108960" y="2670048"/>
            <a:ext cx="402336" cy="402336"/>
          </a:xfrm>
          <a:prstGeom prst="rect">
            <a:avLst/>
          </a:prstGeom>
          <a:solidFill>
            <a:srgbClr val="24325C">
              <a:alpha val="4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3136392"/>
            <a:ext cx="402336" cy="402336"/>
          </a:xfrm>
          <a:prstGeom prst="rect">
            <a:avLst/>
          </a:prstGeom>
          <a:solidFill>
            <a:srgbClr val="35507F">
              <a:alpha val="4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243584" y="3136392"/>
            <a:ext cx="402336" cy="402336"/>
          </a:xfrm>
          <a:prstGeom prst="rect">
            <a:avLst/>
          </a:prstGeom>
          <a:solidFill>
            <a:srgbClr val="F2C14E">
              <a:alpha val="4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709928" y="3136392"/>
            <a:ext cx="402336" cy="402336"/>
          </a:xfrm>
          <a:prstGeom prst="rect">
            <a:avLst/>
          </a:prstGeom>
          <a:solidFill>
            <a:srgbClr val="F2C14E">
              <a:alpha val="4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176272" y="3136392"/>
            <a:ext cx="402336" cy="402336"/>
          </a:xfrm>
          <a:prstGeom prst="rect">
            <a:avLst/>
          </a:prstGeom>
          <a:solidFill>
            <a:srgbClr val="24325C">
              <a:alpha val="4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642616" y="3136392"/>
            <a:ext cx="402336" cy="402336"/>
          </a:xfrm>
          <a:prstGeom prst="rect">
            <a:avLst/>
          </a:prstGeom>
          <a:solidFill>
            <a:srgbClr val="F2C14E">
              <a:alpha val="4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108960" y="3136392"/>
            <a:ext cx="402336" cy="402336"/>
          </a:xfrm>
          <a:prstGeom prst="rect">
            <a:avLst/>
          </a:prstGeom>
          <a:solidFill>
            <a:srgbClr val="24325C">
              <a:alpha val="4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777240" y="3602736"/>
            <a:ext cx="402336" cy="402336"/>
          </a:xfrm>
          <a:prstGeom prst="rect">
            <a:avLst/>
          </a:prstGeom>
          <a:solidFill>
            <a:srgbClr val="5C6F9E">
              <a:alpha val="4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243584" y="3602736"/>
            <a:ext cx="402336" cy="402336"/>
          </a:xfrm>
          <a:prstGeom prst="rect">
            <a:avLst/>
          </a:prstGeom>
          <a:solidFill>
            <a:srgbClr val="5C6F9E">
              <a:alpha val="4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709928" y="3602736"/>
            <a:ext cx="402336" cy="402336"/>
          </a:xfrm>
          <a:prstGeom prst="rect">
            <a:avLst/>
          </a:prstGeom>
          <a:solidFill>
            <a:srgbClr val="24325C">
              <a:alpha val="4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176272" y="3602736"/>
            <a:ext cx="402336" cy="402336"/>
          </a:xfrm>
          <a:prstGeom prst="rect">
            <a:avLst/>
          </a:prstGeom>
          <a:solidFill>
            <a:srgbClr val="2A9D8F">
              <a:alpha val="4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642616" y="3602736"/>
            <a:ext cx="402336" cy="402336"/>
          </a:xfrm>
          <a:prstGeom prst="rect">
            <a:avLst/>
          </a:prstGeom>
          <a:solidFill>
            <a:srgbClr val="24325C">
              <a:alpha val="4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108960" y="3602736"/>
            <a:ext cx="402336" cy="402336"/>
          </a:xfrm>
          <a:prstGeom prst="rect">
            <a:avLst/>
          </a:prstGeom>
          <a:solidFill>
            <a:srgbClr val="F2C14E">
              <a:alpha val="4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777240" y="4069080"/>
            <a:ext cx="402336" cy="402336"/>
          </a:xfrm>
          <a:prstGeom prst="rect">
            <a:avLst/>
          </a:prstGeom>
          <a:solidFill>
            <a:srgbClr val="35507F">
              <a:alpha val="4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243584" y="4069080"/>
            <a:ext cx="402336" cy="402336"/>
          </a:xfrm>
          <a:prstGeom prst="rect">
            <a:avLst/>
          </a:prstGeom>
          <a:solidFill>
            <a:srgbClr val="35507F">
              <a:alpha val="4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709928" y="4069080"/>
            <a:ext cx="402336" cy="402336"/>
          </a:xfrm>
          <a:prstGeom prst="rect">
            <a:avLst/>
          </a:prstGeom>
          <a:solidFill>
            <a:srgbClr val="35507F">
              <a:alpha val="4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176272" y="4069080"/>
            <a:ext cx="402336" cy="402336"/>
          </a:xfrm>
          <a:prstGeom prst="rect">
            <a:avLst/>
          </a:prstGeom>
          <a:solidFill>
            <a:srgbClr val="E8743B">
              <a:alpha val="4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642616" y="4069080"/>
            <a:ext cx="402336" cy="402336"/>
          </a:xfrm>
          <a:prstGeom prst="rect">
            <a:avLst/>
          </a:prstGeom>
          <a:solidFill>
            <a:srgbClr val="35507F">
              <a:alpha val="4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108960" y="4069080"/>
            <a:ext cx="402336" cy="402336"/>
          </a:xfrm>
          <a:prstGeom prst="rect">
            <a:avLst/>
          </a:prstGeom>
          <a:solidFill>
            <a:srgbClr val="24325C">
              <a:alpha val="4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5120640" y="16002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stand</a:t>
            </a:r>
            <a:endParaRPr lang="en-US" sz="3400" dirty="0"/>
          </a:p>
        </p:txBody>
      </p:sp>
      <p:sp>
        <p:nvSpPr>
          <p:cNvPr id="39" name="Shape 37"/>
          <p:cNvSpPr/>
          <p:nvPr/>
        </p:nvSpPr>
        <p:spPr>
          <a:xfrm>
            <a:off x="5120640" y="2478024"/>
            <a:ext cx="146304" cy="146304"/>
          </a:xfrm>
          <a:prstGeom prst="ellipse">
            <a:avLst/>
          </a:prstGeom>
          <a:solidFill>
            <a:srgbClr val="E8743B"/>
          </a:solidFill>
          <a:ln/>
        </p:spPr>
      </p:sp>
      <p:sp>
        <p:nvSpPr>
          <p:cNvPr id="40" name="Text 38"/>
          <p:cNvSpPr/>
          <p:nvPr/>
        </p:nvSpPr>
        <p:spPr>
          <a:xfrm>
            <a:off x="5440680" y="2395728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RSR generalises.  </a:t>
            </a:r>
            <a:pPr indent="0" marL="0">
              <a:buNone/>
            </a:pPr>
            <a:r>
              <a:rPr lang="en-US" sz="1250" dirty="0">
                <a:solidFill>
                  <a:srgbClr val="AE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BERT, the gain concentrates on words never supervised â€” +0.053 over a matched control, every seed.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5120640" y="3255264"/>
            <a:ext cx="146304" cy="146304"/>
          </a:xfrm>
          <a:prstGeom prst="ellipse">
            <a:avLst/>
          </a:prstGeom>
          <a:solidFill>
            <a:srgbClr val="E8743B"/>
          </a:solidFill>
          <a:ln/>
        </p:spPr>
      </p:sp>
      <p:sp>
        <p:nvSpPr>
          <p:cNvPr id="42" name="Text 40"/>
          <p:cNvSpPr/>
          <p:nvPr/>
        </p:nvSpPr>
        <p:spPr>
          <a:xfrm>
            <a:off x="5440680" y="3172968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results replicate.  </a:t>
            </a:r>
            <a:pPr indent="0" marL="0">
              <a:buNone/>
            </a:pPr>
            <a:r>
              <a:rPr lang="en-US" sz="1250" dirty="0">
                <a:solidFill>
                  <a:srgbClr val="AE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RoBERTa modes reproduce independently, including the context collapse.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5120640" y="4032504"/>
            <a:ext cx="146304" cy="146304"/>
          </a:xfrm>
          <a:prstGeom prst="ellipse">
            <a:avLst/>
          </a:prstGeom>
          <a:solidFill>
            <a:srgbClr val="E8743B"/>
          </a:solidFill>
          <a:ln/>
        </p:spPr>
      </p:sp>
      <p:sp>
        <p:nvSpPr>
          <p:cNvPr id="44" name="Text 42"/>
          <p:cNvSpPr/>
          <p:nvPr/>
        </p:nvSpPr>
        <p:spPr>
          <a:xfrm>
            <a:off x="5440680" y="3950208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collapse may be fixable.  </a:t>
            </a:r>
            <a:pPr indent="0" marL="0">
              <a:buNone/>
            </a:pPr>
            <a:r>
              <a:rPr lang="en-US" sz="1250" dirty="0">
                <a:solidFill>
                  <a:srgbClr val="AE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Anchoring, not contexts, is the likely cause â€” one run tests it.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5120640" y="4809744"/>
            <a:ext cx="146304" cy="146304"/>
          </a:xfrm>
          <a:prstGeom prst="ellipse">
            <a:avLst/>
          </a:prstGeom>
          <a:solidFill>
            <a:srgbClr val="E8743B"/>
          </a:solidFill>
          <a:ln/>
        </p:spPr>
      </p:sp>
      <p:sp>
        <p:nvSpPr>
          <p:cNvPr id="46" name="Text 44"/>
          <p:cNvSpPr/>
          <p:nvPr/>
        </p:nvSpPr>
        <p:spPr>
          <a:xfrm>
            <a:off x="5440680" y="4727448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double dissociation on brain data.  </a:t>
            </a:r>
            <a:pPr indent="0" marL="0">
              <a:buNone/>
            </a:pPr>
            <a:r>
              <a:rPr lang="en-US" sz="1250" dirty="0">
                <a:solidFill>
                  <a:srgbClr val="AE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template RSR helps supervised concepts; ours helps unsupervised ones. 3 subjects so far â€” 7 to go.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5120640" y="5669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for you: priority order Â· which brain dataset next Â· one write-up or two?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Representational Similarity Regularisation</dc:title>
  <dc:subject>PptxGenJS Presentation</dc:subject>
  <dc:creator>Jack McMenamin</dc:creator>
  <cp:lastModifiedBy>Jack McMenamin</cp:lastModifiedBy>
  <cp:revision>1</cp:revision>
  <dcterms:created xsi:type="dcterms:W3CDTF">2026-07-27T10:58:59Z</dcterms:created>
  <dcterms:modified xsi:type="dcterms:W3CDTF">2026-07-27T10:58:59Z</dcterms:modified>
</cp:coreProperties>
</file>