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parts: how the weighted mixing actually works, then the GLUE results showing general language ability is intact.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very fair question - it follows naturally if you assume one training step means one batch of data. The next slide is the whole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point to land: two independent fetches feeding one update. Everything else follows from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visual argument: the green MLM blocks are present in both rows and always labelled 'any sentences'. Weighting is additive, not restrictive.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call fetches its own batch from its own pool. Nothing is shared but the model. If we wanted general Wikipedia for MLM and target-word sentences for RSR, that composes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Parity is the pass mark - nobody expects a similarity objective to improve sentiment classification. CoLA being highest is a genuine bonus and the strongest form of 'we did not break it'.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mentioning because it explains why these numbers look different from earlier runs - it is a very common fine-tuning gotcha on the small GLUE sets, nothing to do with RSR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settled points. Happy to go deeper on any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two losses mix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whether it costs us a working language model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520440"/>
            <a:ext cx="2011680" cy="0"/>
          </a:xfrm>
          <a:prstGeom prst="line">
            <a:avLst/>
          </a:prstGeom>
          <a:noFill/>
          <a:ln w="25400">
            <a:solidFill>
              <a:srgbClr val="E874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McMenamin</a:t>
            </a:r>
            <a:pPr indent="0" marL="0">
              <a:buNone/>
            </a:pPr>
            <a:r>
              <a:rPr lang="en-US" sz="130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Experiment 3      Supervisor: Barry Devereux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725912" cy="137160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 w="12700">
            <a:solidFill>
              <a:srgbClr val="D6D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737360"/>
            <a:ext cx="9811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 alternating, the MLM step can use any random sentences. Does weighted mixing mean MLM can only use the RSR target words?"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schemes leave the MLM data completely free.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is only how the two numbers are combined before the model is updated.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update. Two separate fetches.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81328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 step is not limited to one batch. We fetch twice, get two numbers, add them, update once.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768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football, cooking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2496312"/>
            <a:ext cx="274320" cy="219456"/>
          </a:xfrm>
          <a:prstGeom prst="rightArrow">
            <a:avLst/>
          </a:prstGeom>
          <a:solidFill>
            <a:srgbClr val="AAB6D0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21488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2768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loss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606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2.3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CEEE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570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with ratings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8862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cat, dog, spoon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69080" y="3776472"/>
            <a:ext cx="274320" cy="219456"/>
          </a:xfrm>
          <a:prstGeom prst="rightArrow">
            <a:avLst/>
          </a:prstGeom>
          <a:solidFill>
            <a:srgbClr val="AAB6D0"/>
          </a:solidFill>
          <a:ln/>
        </p:spPr>
      </p:sp>
      <p:sp>
        <p:nvSpPr>
          <p:cNvPr id="16" name="Shape 14"/>
          <p:cNvSpPr/>
          <p:nvPr/>
        </p:nvSpPr>
        <p:spPr>
          <a:xfrm>
            <a:off x="4526280" y="34290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CEEE5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35570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loss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3886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2606040"/>
            <a:ext cx="457200" cy="0"/>
          </a:xfrm>
          <a:prstGeom prst="line">
            <a:avLst/>
          </a:prstGeom>
          <a:noFill/>
          <a:ln w="25400">
            <a:solidFill>
              <a:srgbClr val="AAB6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3886200"/>
            <a:ext cx="457200" cy="0"/>
          </a:xfrm>
          <a:prstGeom prst="line">
            <a:avLst/>
          </a:prstGeom>
          <a:noFill/>
          <a:ln w="25400">
            <a:solidFill>
              <a:srgbClr val="AAB6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2606040"/>
            <a:ext cx="0" cy="1280160"/>
          </a:xfrm>
          <a:prstGeom prst="line">
            <a:avLst/>
          </a:prstGeom>
          <a:noFill/>
          <a:ln w="25400">
            <a:solidFill>
              <a:srgbClr val="AAB6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3136392"/>
            <a:ext cx="274320" cy="219456"/>
          </a:xfrm>
          <a:prstGeom prst="rightArrow">
            <a:avLst/>
          </a:prstGeom>
          <a:solidFill>
            <a:srgbClr val="AAB6D0"/>
          </a:solidFill>
          <a:ln/>
        </p:spPr>
      </p:sp>
      <p:sp>
        <p:nvSpPr>
          <p:cNvPr id="23" name="Shape 21"/>
          <p:cNvSpPr/>
          <p:nvPr/>
        </p:nvSpPr>
        <p:spPr>
          <a:xfrm>
            <a:off x="8366760" y="2148840"/>
            <a:ext cx="3090672" cy="2194560"/>
          </a:xfrm>
          <a:prstGeom prst="roundRect">
            <a:avLst>
              <a:gd name="adj" fmla="val 4167"/>
            </a:avLst>
          </a:prstGeom>
          <a:solidFill>
            <a:srgbClr val="141B34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 x 2.3  +  0.7 x 0.5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69680" y="3108960"/>
            <a:ext cx="2103120" cy="0"/>
          </a:xfrm>
          <a:prstGeom prst="line">
            <a:avLst/>
          </a:prstGeom>
          <a:noFill/>
          <a:ln w="12700">
            <a:solidFill>
              <a:srgbClr val="F2C1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1.04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59536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one update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89204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lanes never touch.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31520" y="53492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sentences in the top lane do not need to contain cat, dog or spoon. Adding two numbers together does not require them to come from the same data.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difference is when they arrive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E8F5F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75688" y="196596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E8F5F2"/>
          </a:solidFill>
          <a:ln/>
        </p:spPr>
      </p:sp>
      <p:sp>
        <p:nvSpPr>
          <p:cNvPr id="9" name="Text 7"/>
          <p:cNvSpPr/>
          <p:nvPr/>
        </p:nvSpPr>
        <p:spPr>
          <a:xfrm>
            <a:off x="2075688" y="1965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75688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9856" y="196596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E8F5F2"/>
          </a:solidFill>
          <a:ln/>
        </p:spPr>
      </p:sp>
      <p:sp>
        <p:nvSpPr>
          <p:cNvPr id="12" name="Text 10"/>
          <p:cNvSpPr/>
          <p:nvPr/>
        </p:nvSpPr>
        <p:spPr>
          <a:xfrm>
            <a:off x="3419856" y="1965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9856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64024" y="196596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FCEE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64024" y="1965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4024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08192" y="196596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E8F5F2"/>
          </a:solidFill>
          <a:ln/>
        </p:spPr>
      </p:sp>
      <p:sp>
        <p:nvSpPr>
          <p:cNvPr id="18" name="Text 16"/>
          <p:cNvSpPr/>
          <p:nvPr/>
        </p:nvSpPr>
        <p:spPr>
          <a:xfrm>
            <a:off x="6108192" y="1965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08192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52360" y="196596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E8F5F2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1965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52360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796528" y="196596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E8F5F2"/>
          </a:solidFill>
          <a:ln/>
        </p:spPr>
      </p:sp>
      <p:sp>
        <p:nvSpPr>
          <p:cNvPr id="24" name="Text 22"/>
          <p:cNvSpPr/>
          <p:nvPr/>
        </p:nvSpPr>
        <p:spPr>
          <a:xfrm>
            <a:off x="8796528" y="1965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96528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140696" y="196596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FCEEE5"/>
          </a:solidFill>
          <a:ln/>
        </p:spPr>
      </p:sp>
      <p:sp>
        <p:nvSpPr>
          <p:cNvPr id="27" name="Text 25"/>
          <p:cNvSpPr/>
          <p:nvPr/>
        </p:nvSpPr>
        <p:spPr>
          <a:xfrm>
            <a:off x="10140696" y="1965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40696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297180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draws from any pool, on 3 steps in 4.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402336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433425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8743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4681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+ targets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75688" y="402336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37" name="Text 35"/>
          <p:cNvSpPr/>
          <p:nvPr/>
        </p:nvSpPr>
        <p:spPr>
          <a:xfrm>
            <a:off x="2075688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433425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8743B"/>
          </a:solidFill>
          <a:ln/>
        </p:spPr>
      </p:sp>
      <p:sp>
        <p:nvSpPr>
          <p:cNvPr id="39" name="Text 37"/>
          <p:cNvSpPr/>
          <p:nvPr/>
        </p:nvSpPr>
        <p:spPr>
          <a:xfrm>
            <a:off x="2075688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075688" y="4681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+ targets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19856" y="402336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42" name="Text 40"/>
          <p:cNvSpPr/>
          <p:nvPr/>
        </p:nvSpPr>
        <p:spPr>
          <a:xfrm>
            <a:off x="3419856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19856" y="433425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8743B"/>
          </a:solidFill>
          <a:ln/>
        </p:spPr>
      </p:sp>
      <p:sp>
        <p:nvSpPr>
          <p:cNvPr id="44" name="Text 42"/>
          <p:cNvSpPr/>
          <p:nvPr/>
        </p:nvSpPr>
        <p:spPr>
          <a:xfrm>
            <a:off x="3419856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19856" y="4681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+ targets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64024" y="402336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47" name="Text 45"/>
          <p:cNvSpPr/>
          <p:nvPr/>
        </p:nvSpPr>
        <p:spPr>
          <a:xfrm>
            <a:off x="4764024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64024" y="433425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8743B"/>
          </a:solidFill>
          <a:ln/>
        </p:spPr>
      </p:sp>
      <p:sp>
        <p:nvSpPr>
          <p:cNvPr id="49" name="Text 47"/>
          <p:cNvSpPr/>
          <p:nvPr/>
        </p:nvSpPr>
        <p:spPr>
          <a:xfrm>
            <a:off x="4764024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64024" y="4681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+ targets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08192" y="402336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52" name="Text 50"/>
          <p:cNvSpPr/>
          <p:nvPr/>
        </p:nvSpPr>
        <p:spPr>
          <a:xfrm>
            <a:off x="6108192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08192" y="433425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8743B"/>
          </a:solidFill>
          <a:ln/>
        </p:spPr>
      </p:sp>
      <p:sp>
        <p:nvSpPr>
          <p:cNvPr id="54" name="Text 52"/>
          <p:cNvSpPr/>
          <p:nvPr/>
        </p:nvSpPr>
        <p:spPr>
          <a:xfrm>
            <a:off x="6108192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108192" y="4681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+ targets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452360" y="402336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57" name="Text 55"/>
          <p:cNvSpPr/>
          <p:nvPr/>
        </p:nvSpPr>
        <p:spPr>
          <a:xfrm>
            <a:off x="7452360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452360" y="433425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8743B"/>
          </a:solidFill>
          <a:ln/>
        </p:spPr>
      </p:sp>
      <p:sp>
        <p:nvSpPr>
          <p:cNvPr id="59" name="Text 57"/>
          <p:cNvSpPr/>
          <p:nvPr/>
        </p:nvSpPr>
        <p:spPr>
          <a:xfrm>
            <a:off x="7452360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452360" y="4681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+ targets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796528" y="402336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62" name="Text 60"/>
          <p:cNvSpPr/>
          <p:nvPr/>
        </p:nvSpPr>
        <p:spPr>
          <a:xfrm>
            <a:off x="8796528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796528" y="433425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8743B"/>
          </a:solidFill>
          <a:ln/>
        </p:spPr>
      </p:sp>
      <p:sp>
        <p:nvSpPr>
          <p:cNvPr id="64" name="Text 62"/>
          <p:cNvSpPr/>
          <p:nvPr/>
        </p:nvSpPr>
        <p:spPr>
          <a:xfrm>
            <a:off x="8796528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796528" y="4681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+ targets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0140696" y="402336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67" name="Text 65"/>
          <p:cNvSpPr/>
          <p:nvPr/>
        </p:nvSpPr>
        <p:spPr>
          <a:xfrm>
            <a:off x="10140696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0140696" y="433425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8743B"/>
          </a:solidFill>
          <a:ln/>
        </p:spPr>
      </p:sp>
      <p:sp>
        <p:nvSpPr>
          <p:cNvPr id="69" name="Text 67"/>
          <p:cNvSpPr/>
          <p:nvPr/>
        </p:nvSpPr>
        <p:spPr>
          <a:xfrm>
            <a:off x="10140696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0140696" y="4681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+ targets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31520" y="5047488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draws from any pool, on every step. RSR simply sits alongside it.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31520" y="56692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appears in both. Weighting adds RSR alongside - it never takes MLM's data away.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thing, in three 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725912" cy="1783080"/>
          </a:xfrm>
          <a:prstGeom prst="roundRect">
            <a:avLst>
              <a:gd name="adj" fmla="val 5128"/>
            </a:avLst>
          </a:prstGeom>
          <a:solidFill>
            <a:srgbClr val="141B34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965960"/>
            <a:ext cx="9811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mlm_loss = do_mlm_loss()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395728"/>
            <a:ext cx="9811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rsr_loss = do_rsr_loss()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825496"/>
            <a:ext cx="9811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(1 - L) * mlm_loss  +  L * rsr_loss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3154680"/>
            <a:ext cx="9811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calls, two numbers, one update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886200"/>
            <a:ext cx="3474720" cy="411480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3886200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3886200"/>
            <a:ext cx="2560320" cy="411480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12" name="Text 10"/>
          <p:cNvSpPr/>
          <p:nvPr/>
        </p:nvSpPr>
        <p:spPr>
          <a:xfrm>
            <a:off x="4352544" y="388620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3886200"/>
            <a:ext cx="2560320" cy="411480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14" name="Text 12"/>
          <p:cNvSpPr/>
          <p:nvPr/>
        </p:nvSpPr>
        <p:spPr>
          <a:xfrm>
            <a:off x="6912864" y="388620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326880" y="3886200"/>
            <a:ext cx="2130552" cy="411480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16" name="Text 14"/>
          <p:cNvSpPr/>
          <p:nvPr/>
        </p:nvSpPr>
        <p:spPr>
          <a:xfrm>
            <a:off x="9473184" y="388620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3474720" cy="566928"/>
          </a:xfrm>
          <a:prstGeom prst="rect">
            <a:avLst/>
          </a:prstGeom>
          <a:solidFill>
            <a:srgbClr val="E8F5F2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4297680"/>
            <a:ext cx="2560320" cy="566928"/>
          </a:xfrm>
          <a:prstGeom prst="rect">
            <a:avLst/>
          </a:prstGeom>
          <a:solidFill>
            <a:srgbClr val="E8F5F2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4297680"/>
            <a:ext cx="2560320" cy="566928"/>
          </a:xfrm>
          <a:prstGeom prst="rect">
            <a:avLst/>
          </a:prstGeom>
          <a:solidFill>
            <a:srgbClr val="E8F5F2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4297680"/>
            <a:ext cx="2130552" cy="566928"/>
          </a:xfrm>
          <a:prstGeom prst="rect">
            <a:avLst/>
          </a:prstGeom>
          <a:solidFill>
            <a:srgbClr val="E8F5F2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429768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MLM may use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52544" y="42976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12864" y="42976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73184" y="429768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4864608"/>
            <a:ext cx="3474720" cy="566928"/>
          </a:xfrm>
          <a:prstGeom prst="rect">
            <a:avLst/>
          </a:prstGeom>
          <a:solidFill>
            <a:srgbClr val="E8F5F2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4864608"/>
            <a:ext cx="2560320" cy="566928"/>
          </a:xfrm>
          <a:prstGeom prst="rect">
            <a:avLst/>
          </a:prstGeom>
          <a:solidFill>
            <a:srgbClr val="E8F5F2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4864608"/>
            <a:ext cx="2560320" cy="566928"/>
          </a:xfrm>
          <a:prstGeom prst="rect">
            <a:avLst/>
          </a:prstGeom>
          <a:solidFill>
            <a:srgbClr val="E8F5F2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26880" y="4864608"/>
            <a:ext cx="2130552" cy="566928"/>
          </a:xfrm>
          <a:prstGeom prst="rect">
            <a:avLst/>
          </a:prstGeom>
          <a:solidFill>
            <a:srgbClr val="E8F5F2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4864608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RSR may use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52544" y="4864608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with ratings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12864" y="4864608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with ratings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73184" y="486460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" y="5431536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0" y="5431536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5431536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26880" y="5431536"/>
            <a:ext cx="21305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" y="543153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passes per step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52544" y="543153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12864" y="543153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473184" y="5431536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the compute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 |  5 GLUE TASKS, 3 SEEDS EACH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language ability is intact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81328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deliberately rewires the model's geometry, so the fair question is what that cost. Parity is the target here, not a win.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4114800" cy="438912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103120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2103120"/>
            <a:ext cx="2194560" cy="438912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8" name="Text 6"/>
          <p:cNvSpPr/>
          <p:nvPr/>
        </p:nvSpPr>
        <p:spPr>
          <a:xfrm>
            <a:off x="4992624" y="210312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0" y="2103120"/>
            <a:ext cx="2194560" cy="438912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10" name="Text 8"/>
          <p:cNvSpPr/>
          <p:nvPr/>
        </p:nvSpPr>
        <p:spPr>
          <a:xfrm>
            <a:off x="7187184" y="210312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+MLM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35440" y="2103120"/>
            <a:ext cx="2221992" cy="438912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12" name="Text 10"/>
          <p:cNvSpPr/>
          <p:nvPr/>
        </p:nvSpPr>
        <p:spPr>
          <a:xfrm>
            <a:off x="9381744" y="2103120"/>
            <a:ext cx="1929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54203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2542032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2542032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5440" y="2542032"/>
            <a:ext cx="22219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2542032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MRPC        paraphrase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92624" y="2542032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0.865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87184" y="2542032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81744" y="2542032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0.854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3108960"/>
            <a:ext cx="4114800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108960"/>
            <a:ext cx="2194560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3108960"/>
            <a:ext cx="2194560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0" y="3108960"/>
            <a:ext cx="2221992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310896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RTE          entailment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92624" y="310896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0.668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87184" y="310896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381744" y="3108960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0.659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31520" y="3675888"/>
            <a:ext cx="4114800" cy="566928"/>
          </a:xfrm>
          <a:prstGeom prst="rect">
            <a:avLst/>
          </a:prstGeom>
          <a:solidFill>
            <a:srgbClr val="E8F5F2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675888"/>
            <a:ext cx="2194560" cy="566928"/>
          </a:xfrm>
          <a:prstGeom prst="rect">
            <a:avLst/>
          </a:prstGeom>
          <a:solidFill>
            <a:srgbClr val="E8F5F2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0" y="3675888"/>
            <a:ext cx="2194560" cy="566928"/>
          </a:xfrm>
          <a:prstGeom prst="rect">
            <a:avLst/>
          </a:prstGeom>
          <a:solidFill>
            <a:srgbClr val="E8F5F2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35440" y="3675888"/>
            <a:ext cx="2221992" cy="566928"/>
          </a:xfrm>
          <a:prstGeom prst="rect">
            <a:avLst/>
          </a:prstGeom>
          <a:solidFill>
            <a:srgbClr val="E8F5F2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3675888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       grammaticality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92624" y="367588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0.575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187184" y="367588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0.581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381744" y="3675888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31520" y="4242816"/>
            <a:ext cx="4114800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4242816"/>
            <a:ext cx="2194560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40880" y="4242816"/>
            <a:ext cx="2194560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35440" y="4242816"/>
            <a:ext cx="2221992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" y="4242816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STS-B      sentence similarity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92624" y="4242816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0.893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187184" y="4242816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0.896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381744" y="4242816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0.888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31520" y="480974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4809744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40880" y="4809744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35440" y="4809744"/>
            <a:ext cx="22219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7824" y="4809744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SST-2      sentiment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92624" y="4809744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0.928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7187184" y="4809744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0.927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9381744" y="4809744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0.926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731520" y="54864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is within noise of both baselines on every task - the largest gap is 0.013.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31520" y="58521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best of the three on CoLA, which tests grammar rather than meaning - exactly where damage would show first.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NOTE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those numbers were produced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81328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GLUE sets - RTE, CoLA, STS-B, MRPC - are known to be unstable when fine-tuning BERT-family models. Some runs collapse to predicting one class.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459736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31343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warmup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60604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the learning rate up gently, so the first updates cannot wreck the pretrained weights.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3081528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3300984"/>
            <a:ext cx="274320" cy="274320"/>
          </a:xfrm>
          <a:prstGeom prst="ellipse">
            <a:avLst/>
          </a:prstGeom>
          <a:solidFill>
            <a:srgbClr val="24325C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31546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epochs on small tasks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4472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rather than 3, giving them room to converge.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922776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4142232"/>
            <a:ext cx="274320" cy="27432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399592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seeds per cell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28853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unlucky run cannot become the headline number.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4764024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" y="4983480"/>
            <a:ext cx="274320" cy="27432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483717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collapse detector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51297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run predicting one class for over 95% of items is flagged, not quietly averaged in.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69680" y="2240280"/>
            <a:ext cx="2587752" cy="2971800"/>
          </a:xfrm>
          <a:prstGeom prst="roundRect">
            <a:avLst>
              <a:gd name="adj" fmla="val 3534"/>
            </a:avLst>
          </a:prstGeom>
          <a:solidFill>
            <a:srgbClr val="141B34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0" y="2743200"/>
            <a:ext cx="2221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9052560" y="376732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runs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52560" y="405993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45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56692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above sits in the range published for BERT-base.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short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2011680" cy="0"/>
          </a:xfrm>
          <a:prstGeom prst="line">
            <a:avLst/>
          </a:prstGeom>
          <a:noFill/>
          <a:ln w="25400">
            <a:solidFill>
              <a:srgbClr val="E874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34056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6060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mixing puts no constraint on the MLM data.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99008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fetch an MLM batch and an RSR batch separately every step, add the two numbers, and update once. MLM can use any sentences in either scheme.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877056"/>
            <a:ext cx="182880" cy="18288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7490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 of weighting is compute.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413308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 passes per step instead of one. That is a practical trade-off, not a restriction on what either loss may train 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20056"/>
            <a:ext cx="182880" cy="18288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8920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language ability is intact.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527608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across five GLUE tasks, best of three on CoLA, and zero collapsed runs in 45.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Loss mixing and downstream results</dc:title>
  <dc:subject>PptxGenJS Presentation</dc:subject>
  <dc:creator>Jack McMenamin</dc:creator>
  <cp:lastModifiedBy>Jack McMenamin</cp:lastModifiedBy>
  <cp:revision>1</cp:revision>
  <dcterms:created xsi:type="dcterms:W3CDTF">2026-08-03T20:13:25Z</dcterms:created>
  <dcterms:modified xsi:type="dcterms:W3CDTF">2026-08-03T20:13:25Z</dcterms:modified>
</cp:coreProperties>
</file>