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Vanilla BERT</c:v>
                </c:pt>
              </c:strCache>
            </c:strRef>
          </c:tx>
          <c:spPr>
            <a:solidFill>
              <a:srgbClr val="B9C4DC"/>
            </a:solidFill>
            <a:effectLst/>
          </c:spPr>
          <c:invertIfNegative val="0"/>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pairs</c:v>
                  </c:pt>
                  <c:pt idx="1">
                    <c:v>Both supervised</c:v>
                  </c:pt>
                  <c:pt idx="2">
                    <c:v>One supervised</c:v>
                  </c:pt>
                  <c:pt idx="3">
                    <c:v>Neither supervised</c:v>
                  </c:pt>
                </c:lvl>
              </c:multiLvlStrCache>
            </c:multiLvlStrRef>
          </c:cat>
          <c:val>
            <c:numRef>
              <c:f>Sheet1!$B$2:$B$5</c:f>
              <c:numCache>
                <c:formatCode>General</c:formatCode>
                <c:ptCount val="4"/>
                <c:pt idx="0">
                  <c:v>0.492</c:v>
                </c:pt>
                <c:pt idx="1">
                  <c:v>0.336</c:v>
                </c:pt>
                <c:pt idx="2">
                  <c:v>0.617</c:v>
                </c:pt>
                <c:pt idx="3">
                  <c:v>0.55</c:v>
                </c:pt>
              </c:numCache>
            </c:numRef>
          </c:val>
        </c:ser>
        <c:ser>
          <c:idx val="1"/>
          <c:order val="1"/>
          <c:tx>
            <c:strRef>
              <c:f>Sheet1!$C$1</c:f>
              <c:strCache>
                <c:ptCount val="1"/>
                <c:pt idx="0">
                  <c:v>+MLM control</c:v>
                </c:pt>
              </c:strCache>
            </c:strRef>
          </c:tx>
          <c:spPr>
            <a:solidFill>
              <a:srgbClr val="5C6F9E"/>
            </a:solidFill>
            <a:effectLst/>
          </c:spPr>
          <c:invertIfNegative val="0"/>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pairs</c:v>
                  </c:pt>
                  <c:pt idx="1">
                    <c:v>Both supervised</c:v>
                  </c:pt>
                  <c:pt idx="2">
                    <c:v>One supervised</c:v>
                  </c:pt>
                  <c:pt idx="3">
                    <c:v>Neither supervised</c:v>
                  </c:pt>
                </c:lvl>
              </c:multiLvlStrCache>
            </c:multiLvlStrRef>
          </c:cat>
          <c:val>
            <c:numRef>
              <c:f>Sheet1!$C$2:$C$5</c:f>
              <c:numCache>
                <c:formatCode>General</c:formatCode>
                <c:ptCount val="4"/>
                <c:pt idx="0">
                  <c:v>0.51</c:v>
                </c:pt>
                <c:pt idx="1">
                  <c:v>0.333</c:v>
                </c:pt>
                <c:pt idx="2">
                  <c:v>0.645</c:v>
                </c:pt>
                <c:pt idx="3">
                  <c:v>0.561</c:v>
                </c:pt>
              </c:numCache>
            </c:numRef>
          </c:val>
        </c:ser>
        <c:ser>
          <c:idx val="2"/>
          <c:order val="2"/>
          <c:tx>
            <c:strRef>
              <c:f>Sheet1!$D$1</c:f>
              <c:strCache>
                <c:ptCount val="1"/>
                <c:pt idx="0">
                  <c:v>RSR</c:v>
                </c:pt>
              </c:strCache>
            </c:strRef>
          </c:tx>
          <c:spPr>
            <a:solidFill>
              <a:srgbClr val="E8743B"/>
            </a:solidFill>
            <a:effectLst/>
          </c:spPr>
          <c:invertIfNegative val="0"/>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pairs</c:v>
                  </c:pt>
                  <c:pt idx="1">
                    <c:v>Both supervised</c:v>
                  </c:pt>
                  <c:pt idx="2">
                    <c:v>One supervised</c:v>
                  </c:pt>
                  <c:pt idx="3">
                    <c:v>Neither supervised</c:v>
                  </c:pt>
                </c:lvl>
              </c:multiLvlStrCache>
            </c:multiLvlStrRef>
          </c:cat>
          <c:val>
            <c:numRef>
              <c:f>Sheet1!$D$2:$D$5</c:f>
              <c:numCache>
                <c:formatCode>General</c:formatCode>
                <c:ptCount val="4"/>
                <c:pt idx="0">
                  <c:v>0.528</c:v>
                </c:pt>
                <c:pt idx="1">
                  <c:v>0.34</c:v>
                </c:pt>
                <c:pt idx="2">
                  <c:v>0.648</c:v>
                </c:pt>
                <c:pt idx="3">
                  <c:v>0.614</c:v>
                </c:pt>
              </c:numCache>
            </c:numRef>
          </c:val>
        </c:ser>
        <c:dLbls>
          <c:numFmt formatCode="0.000" sourceLinked="0"/>
          <c:txPr>
            <a:bodyPr/>
            <a:lstStyle/>
            <a:p>
              <a:pPr>
                <a:defRPr b="0" i="0" strike="noStrike" sz="900" u="none">
                  <a:solidFill>
                    <a:srgbClr val="141B34"/>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588"/>
                </a:solidFill>
                <a:latin typeface="Calibri"/>
              </a:defRPr>
            </a:pPr>
            <a:endParaRPr lang="en-US"/>
          </a:p>
        </c:txPr>
        <c:crossAx val="2094734552"/>
        <c:crosses val="autoZero"/>
        <c:auto val="1"/>
        <c:lblAlgn val="ctr"/>
        <c:noMultiLvlLbl val="1"/>
      </c:catAx>
      <c:valAx>
        <c:axId val="2094734552"/>
        <c:scaling>
          <c:orientation val="minMax"/>
          <c:max val="0.75"/>
          <c:min val="0"/>
        </c:scaling>
        <c:delete val="0"/>
        <c:axPos val="l"/>
        <c:majorGridlines>
          <c:spPr>
            <a:ln w="12700" cap="flat">
              <a:solidFill>
                <a:srgbClr val="E8ECF5"/>
              </a:solidFill>
              <a:prstDash val="solid"/>
              <a:round/>
            </a:ln>
          </c:spPr>
        </c:majorGridlines>
        <c:title>
          <c:tx>
            <c:rich>
              <a:bodyPr/>
              <a:lstStyle/>
              <a:p>
                <a:pPr>
                  <a:defRPr sz="1100" b="0" i="0" u="none" strike="noStrike">
                    <a:solidFill>
                      <a:srgbClr val="5A6588"/>
                    </a:solidFill>
                    <a:latin typeface="Calibri"/>
                  </a:defRPr>
                </a:pPr>
                <a:r>
                  <a:rPr sz="1100" b="0" i="0" u="none" strike="noStrike">
                    <a:solidFill>
                      <a:srgbClr val="5A6588"/>
                    </a:solidFill>
                    <a:latin typeface="Calibri"/>
                  </a:rPr>
                  <a:t>SimLex-999 Spearman rho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8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All pairs</c:v>
                </c:pt>
              </c:strCache>
            </c:strRef>
          </c:tx>
          <c:spPr>
            <a:solidFill>
              <a:srgbClr val="24325C"/>
            </a:solidFill>
            <a:ln w="38100" cap="flat">
              <a:solidFill>
                <a:srgbClr val="2432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4325C"/>
              </a:solidFill>
              <a:ln w="9525" cap="flat">
                <a:solidFill>
                  <a:srgbClr val="24325C"/>
                </a:solidFill>
                <a:prstDash val="solid"/>
                <a:round/>
              </a:ln>
              <a:effectLst/>
            </c:spPr>
          </c:marker>
          <c:cat>
            <c:multiLvlStrRef>
              <c:f>Sheet1!$A$2:$A$14</c:f>
              <c:multiLvlStrCache>
                <c:ptCount val="13"/>
                <c:lvl>
                  <c:pt idx="0">
                    <c:v>0</c:v>
                  </c:pt>
                  <c:pt idx="1">
                    <c:v>1</c:v>
                  </c:pt>
                  <c:pt idx="2">
                    <c:v>2</c:v>
                  </c:pt>
                  <c:pt idx="3">
                    <c:v>3</c:v>
                  </c:pt>
                  <c:pt idx="4">
                    <c:v>4</c:v>
                  </c:pt>
                  <c:pt idx="5">
                    <c:v>5</c:v>
                  </c:pt>
                  <c:pt idx="6">
                    <c:v>6</c:v>
                  </c:pt>
                  <c:pt idx="7">
                    <c:v>7</c:v>
                  </c:pt>
                  <c:pt idx="8">
                    <c:v>8</c:v>
                  </c:pt>
                  <c:pt idx="9">
                    <c:v>9</c:v>
                  </c:pt>
                  <c:pt idx="10">
                    <c:v>10</c:v>
                  </c:pt>
                  <c:pt idx="11">
                    <c:v>11</c:v>
                  </c:pt>
                  <c:pt idx="12">
                    <c:v>12</c:v>
                  </c:pt>
                </c:lvl>
              </c:multiLvlStrCache>
            </c:multiLvlStrRef>
          </c:cat>
          <c:val>
            <c:numRef>
              <c:f>Sheet1!$B$2:$B$14</c:f>
              <c:numCache>
                <c:formatCode>General</c:formatCode>
                <c:ptCount val="13"/>
                <c:pt idx="0">
                  <c:v>0.5181</c:v>
                </c:pt>
                <c:pt idx="1">
                  <c:v>0.5096</c:v>
                </c:pt>
                <c:pt idx="2">
                  <c:v>0.5112</c:v>
                </c:pt>
                <c:pt idx="3">
                  <c:v>0.5181</c:v>
                </c:pt>
                <c:pt idx="4">
                  <c:v>0.515</c:v>
                </c:pt>
                <c:pt idx="5">
                  <c:v>0.5164</c:v>
                </c:pt>
                <c:pt idx="6">
                  <c:v>0.5204</c:v>
                </c:pt>
                <c:pt idx="7">
                  <c:v>0.5227</c:v>
                </c:pt>
                <c:pt idx="8">
                  <c:v>0.5218</c:v>
                </c:pt>
                <c:pt idx="9">
                  <c:v>0.5122</c:v>
                </c:pt>
                <c:pt idx="10">
                  <c:v>0.4867</c:v>
                </c:pt>
                <c:pt idx="11">
                  <c:v>0.4695</c:v>
                </c:pt>
                <c:pt idx="12">
                  <c:v>0.4921</c:v>
                </c:pt>
              </c:numCache>
            </c:numRef>
          </c:val>
          <c:smooth val="0"/>
        </c:ser>
        <c:ser>
          <c:idx val="1"/>
          <c:order val="1"/>
          <c:tx>
            <c:strRef>
              <c:f>Sheet1!$C$1</c:f>
              <c:strCache>
                <c:ptCount val="1"/>
                <c:pt idx="0">
                  <c:v>Neither supervised</c:v>
                </c:pt>
              </c:strCache>
            </c:strRef>
          </c:tx>
          <c:spPr>
            <a:solidFill>
              <a:srgbClr val="E8743B"/>
            </a:solidFill>
            <a:ln w="3810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743B"/>
              </a:solidFill>
              <a:ln w="9525" cap="flat">
                <a:solidFill>
                  <a:srgbClr val="E8743B"/>
                </a:solidFill>
                <a:prstDash val="solid"/>
                <a:round/>
              </a:ln>
              <a:effectLst/>
            </c:spPr>
          </c:marker>
          <c:cat>
            <c:multiLvlStrRef>
              <c:f>Sheet1!$A$2:$A$14</c:f>
              <c:multiLvlStrCache>
                <c:ptCount val="13"/>
                <c:lvl>
                  <c:pt idx="0">
                    <c:v>0</c:v>
                  </c:pt>
                  <c:pt idx="1">
                    <c:v>1</c:v>
                  </c:pt>
                  <c:pt idx="2">
                    <c:v>2</c:v>
                  </c:pt>
                  <c:pt idx="3">
                    <c:v>3</c:v>
                  </c:pt>
                  <c:pt idx="4">
                    <c:v>4</c:v>
                  </c:pt>
                  <c:pt idx="5">
                    <c:v>5</c:v>
                  </c:pt>
                  <c:pt idx="6">
                    <c:v>6</c:v>
                  </c:pt>
                  <c:pt idx="7">
                    <c:v>7</c:v>
                  </c:pt>
                  <c:pt idx="8">
                    <c:v>8</c:v>
                  </c:pt>
                  <c:pt idx="9">
                    <c:v>9</c:v>
                  </c:pt>
                  <c:pt idx="10">
                    <c:v>10</c:v>
                  </c:pt>
                  <c:pt idx="11">
                    <c:v>11</c:v>
                  </c:pt>
                  <c:pt idx="12">
                    <c:v>12</c:v>
                  </c:pt>
                </c:lvl>
              </c:multiLvlStrCache>
            </c:multiLvlStrRef>
          </c:cat>
          <c:val>
            <c:numRef>
              <c:f>Sheet1!$C$2:$C$14</c:f>
              <c:numCache>
                <c:formatCode>General</c:formatCode>
                <c:ptCount val="13"/>
                <c:pt idx="0">
                  <c:v>0.5283</c:v>
                </c:pt>
                <c:pt idx="1">
                  <c:v>0.5222</c:v>
                </c:pt>
                <c:pt idx="2">
                  <c:v>0.5333</c:v>
                </c:pt>
                <c:pt idx="3">
                  <c:v>0.5333</c:v>
                </c:pt>
                <c:pt idx="4">
                  <c:v>0.5439</c:v>
                </c:pt>
                <c:pt idx="5">
                  <c:v>0.5418</c:v>
                </c:pt>
                <c:pt idx="6">
                  <c:v>0.553</c:v>
                </c:pt>
                <c:pt idx="7">
                  <c:v>0.5677</c:v>
                </c:pt>
                <c:pt idx="8">
                  <c:v>0.5813</c:v>
                </c:pt>
                <c:pt idx="9">
                  <c:v>0.585</c:v>
                </c:pt>
                <c:pt idx="10">
                  <c:v>0.5636</c:v>
                </c:pt>
                <c:pt idx="11">
                  <c:v>0.5438</c:v>
                </c:pt>
                <c:pt idx="12">
                  <c:v>0.5498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588"/>
                    </a:solidFill>
                    <a:latin typeface="Calibri"/>
                  </a:defRPr>
                </a:pPr>
                <a:r>
                  <a:rPr sz="1100" b="0" i="0" u="none" strike="noStrike">
                    <a:solidFill>
                      <a:srgbClr val="5A6588"/>
                    </a:solidFill>
                    <a:latin typeface="Calibri"/>
                  </a:rPr>
                  <a:t>hidden layer (0 = embeddings)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88"/>
                </a:solidFill>
                <a:latin typeface="Calibri"/>
              </a:defRPr>
            </a:pPr>
            <a:endParaRPr lang="en-US"/>
          </a:p>
        </c:txPr>
        <c:crossAx val="2094734552"/>
        <c:crosses val="autoZero"/>
        <c:auto val="1"/>
        <c:lblAlgn val="ctr"/>
        <c:noMultiLvlLbl val="1"/>
      </c:catAx>
      <c:valAx>
        <c:axId val="2094734552"/>
        <c:scaling>
          <c:orientation val="minMax"/>
          <c:max val="0.62"/>
          <c:min val="0.44"/>
        </c:scaling>
        <c:delete val="0"/>
        <c:axPos val="l"/>
        <c:majorGridlines>
          <c:spPr>
            <a:ln w="12700" cap="flat">
              <a:solidFill>
                <a:srgbClr val="E8EC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8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update. Three things: our BERT result, an independent replication of your RoBERTa experiments, and where the brain evaluation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slide. The old-new example is the whole thesis in one row: models track association, we want similarity. SimLex ships both columns so we can measure the difference directly — that's a planned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 was dropped on your advice — it rates relatedness rather than strict similarity. The anchoring in step 4 is the part that differs from your setup and it turns out to matter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slide. Neither-supervised is the generalisation test: those words got no human score, so there is nothing to memorise. The effect is small in absolute terms but extremely consistent — every seed, tiny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came from a colleague's RoBERTa plot. One evening's work replicated it on BERT and it changed where we attach the loss. Note the two curves peak at different layers — 7 for all pairs, 9 for 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confirmation — his work stands up. The two notes are offered as help, not criticism. The batch-size one matters because it rules out the easy explanation for the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 framing: not 'you were wrong', but 'your conclusion may be about the anchoring rather than the contexts'. Our own BERT interleave runs also decayed — that's the within-model evidence for the hypothesis. He only tried K-averaging as a fix, never the weighted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 one subject, no statistics, and M01 is specifically one he flagged as noisy. The point of the slide is that the pipeline works and the early sign points the right way. Full 10-subject table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order is up for discussion — that's one of the things I want your steer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 priority order, whether to consolidate the BERT and RoBERTa lines into one paper, and which brain dataset to target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4"/>
        </a:solidFill>
      </p:bgPr>
    </p:bg>
    <p:spTree>
      <p:nvGrpSpPr>
        <p:cNvPr id="1" name=""/>
        <p:cNvGrpSpPr/>
        <p:nvPr/>
      </p:nvGrpSpPr>
      <p:grpSpPr>
        <a:xfrm>
          <a:off x="0" y="0"/>
          <a:ext cx="0" cy="0"/>
          <a:chOff x="0" y="0"/>
          <a:chExt cx="0" cy="0"/>
        </a:xfrm>
      </p:grpSpPr>
      <p:sp>
        <p:nvSpPr>
          <p:cNvPr id="2" name="Shape 0"/>
          <p:cNvSpPr/>
          <p:nvPr/>
        </p:nvSpPr>
        <p:spPr>
          <a:xfrm>
            <a:off x="8138160" y="1417320"/>
            <a:ext cx="384048" cy="384048"/>
          </a:xfrm>
          <a:prstGeom prst="rect">
            <a:avLst/>
          </a:prstGeom>
          <a:solidFill>
            <a:srgbClr val="24325C">
              <a:alpha val="45000"/>
            </a:srgbClr>
          </a:solidFill>
          <a:ln/>
        </p:spPr>
      </p:sp>
      <p:sp>
        <p:nvSpPr>
          <p:cNvPr id="3" name="Shape 1"/>
          <p:cNvSpPr/>
          <p:nvPr/>
        </p:nvSpPr>
        <p:spPr>
          <a:xfrm>
            <a:off x="8577072" y="1417320"/>
            <a:ext cx="384048" cy="384048"/>
          </a:xfrm>
          <a:prstGeom prst="rect">
            <a:avLst/>
          </a:prstGeom>
          <a:solidFill>
            <a:srgbClr val="24325C">
              <a:alpha val="45000"/>
            </a:srgbClr>
          </a:solidFill>
          <a:ln/>
        </p:spPr>
      </p:sp>
      <p:sp>
        <p:nvSpPr>
          <p:cNvPr id="4" name="Shape 2"/>
          <p:cNvSpPr/>
          <p:nvPr/>
        </p:nvSpPr>
        <p:spPr>
          <a:xfrm>
            <a:off x="9015984" y="1417320"/>
            <a:ext cx="384048" cy="384048"/>
          </a:xfrm>
          <a:prstGeom prst="rect">
            <a:avLst/>
          </a:prstGeom>
          <a:solidFill>
            <a:srgbClr val="5C6F9E">
              <a:alpha val="45000"/>
            </a:srgbClr>
          </a:solidFill>
          <a:ln/>
        </p:spPr>
      </p:sp>
      <p:sp>
        <p:nvSpPr>
          <p:cNvPr id="5" name="Shape 3"/>
          <p:cNvSpPr/>
          <p:nvPr/>
        </p:nvSpPr>
        <p:spPr>
          <a:xfrm>
            <a:off x="9454896" y="1417320"/>
            <a:ext cx="384048" cy="384048"/>
          </a:xfrm>
          <a:prstGeom prst="rect">
            <a:avLst/>
          </a:prstGeom>
          <a:solidFill>
            <a:srgbClr val="5C6F9E">
              <a:alpha val="45000"/>
            </a:srgbClr>
          </a:solidFill>
          <a:ln/>
        </p:spPr>
      </p:sp>
      <p:sp>
        <p:nvSpPr>
          <p:cNvPr id="6" name="Shape 4"/>
          <p:cNvSpPr/>
          <p:nvPr/>
        </p:nvSpPr>
        <p:spPr>
          <a:xfrm>
            <a:off x="9893808" y="1417320"/>
            <a:ext cx="384048" cy="384048"/>
          </a:xfrm>
          <a:prstGeom prst="rect">
            <a:avLst/>
          </a:prstGeom>
          <a:solidFill>
            <a:srgbClr val="2A9D8F">
              <a:alpha val="45000"/>
            </a:srgbClr>
          </a:solidFill>
          <a:ln/>
        </p:spPr>
      </p:sp>
      <p:sp>
        <p:nvSpPr>
          <p:cNvPr id="7" name="Shape 5"/>
          <p:cNvSpPr/>
          <p:nvPr/>
        </p:nvSpPr>
        <p:spPr>
          <a:xfrm>
            <a:off x="10332720" y="1417320"/>
            <a:ext cx="384048" cy="384048"/>
          </a:xfrm>
          <a:prstGeom prst="rect">
            <a:avLst/>
          </a:prstGeom>
          <a:solidFill>
            <a:srgbClr val="35507F">
              <a:alpha val="45000"/>
            </a:srgbClr>
          </a:solidFill>
          <a:ln/>
        </p:spPr>
      </p:sp>
      <p:sp>
        <p:nvSpPr>
          <p:cNvPr id="8" name="Shape 6"/>
          <p:cNvSpPr/>
          <p:nvPr/>
        </p:nvSpPr>
        <p:spPr>
          <a:xfrm>
            <a:off x="10771632" y="1417320"/>
            <a:ext cx="384048" cy="384048"/>
          </a:xfrm>
          <a:prstGeom prst="rect">
            <a:avLst/>
          </a:prstGeom>
          <a:solidFill>
            <a:srgbClr val="35507F">
              <a:alpha val="45000"/>
            </a:srgbClr>
          </a:solidFill>
          <a:ln/>
        </p:spPr>
      </p:sp>
      <p:sp>
        <p:nvSpPr>
          <p:cNvPr id="9" name="Shape 7"/>
          <p:cNvSpPr/>
          <p:nvPr/>
        </p:nvSpPr>
        <p:spPr>
          <a:xfrm>
            <a:off x="11210544" y="1417320"/>
            <a:ext cx="384048" cy="384048"/>
          </a:xfrm>
          <a:prstGeom prst="rect">
            <a:avLst/>
          </a:prstGeom>
          <a:solidFill>
            <a:srgbClr val="5C6F9E">
              <a:alpha val="45000"/>
            </a:srgbClr>
          </a:solidFill>
          <a:ln/>
        </p:spPr>
      </p:sp>
      <p:sp>
        <p:nvSpPr>
          <p:cNvPr id="10" name="Shape 8"/>
          <p:cNvSpPr/>
          <p:nvPr/>
        </p:nvSpPr>
        <p:spPr>
          <a:xfrm>
            <a:off x="8138160" y="1856232"/>
            <a:ext cx="384048" cy="384048"/>
          </a:xfrm>
          <a:prstGeom prst="rect">
            <a:avLst/>
          </a:prstGeom>
          <a:solidFill>
            <a:srgbClr val="E8743B">
              <a:alpha val="45000"/>
            </a:srgbClr>
          </a:solidFill>
          <a:ln/>
        </p:spPr>
      </p:sp>
      <p:sp>
        <p:nvSpPr>
          <p:cNvPr id="11" name="Shape 9"/>
          <p:cNvSpPr/>
          <p:nvPr/>
        </p:nvSpPr>
        <p:spPr>
          <a:xfrm>
            <a:off x="8577072" y="1856232"/>
            <a:ext cx="384048" cy="384048"/>
          </a:xfrm>
          <a:prstGeom prst="rect">
            <a:avLst/>
          </a:prstGeom>
          <a:solidFill>
            <a:srgbClr val="24325C">
              <a:alpha val="45000"/>
            </a:srgbClr>
          </a:solidFill>
          <a:ln/>
        </p:spPr>
      </p:sp>
      <p:sp>
        <p:nvSpPr>
          <p:cNvPr id="12" name="Shape 10"/>
          <p:cNvSpPr/>
          <p:nvPr/>
        </p:nvSpPr>
        <p:spPr>
          <a:xfrm>
            <a:off x="9015984" y="1856232"/>
            <a:ext cx="384048" cy="384048"/>
          </a:xfrm>
          <a:prstGeom prst="rect">
            <a:avLst/>
          </a:prstGeom>
          <a:solidFill>
            <a:srgbClr val="2A9D8F">
              <a:alpha val="45000"/>
            </a:srgbClr>
          </a:solidFill>
          <a:ln/>
        </p:spPr>
      </p:sp>
      <p:sp>
        <p:nvSpPr>
          <p:cNvPr id="13" name="Shape 11"/>
          <p:cNvSpPr/>
          <p:nvPr/>
        </p:nvSpPr>
        <p:spPr>
          <a:xfrm>
            <a:off x="9454896" y="1856232"/>
            <a:ext cx="384048" cy="384048"/>
          </a:xfrm>
          <a:prstGeom prst="rect">
            <a:avLst/>
          </a:prstGeom>
          <a:solidFill>
            <a:srgbClr val="2A9D8F">
              <a:alpha val="45000"/>
            </a:srgbClr>
          </a:solidFill>
          <a:ln/>
        </p:spPr>
      </p:sp>
      <p:sp>
        <p:nvSpPr>
          <p:cNvPr id="14" name="Shape 12"/>
          <p:cNvSpPr/>
          <p:nvPr/>
        </p:nvSpPr>
        <p:spPr>
          <a:xfrm>
            <a:off x="9893808" y="1856232"/>
            <a:ext cx="384048" cy="384048"/>
          </a:xfrm>
          <a:prstGeom prst="rect">
            <a:avLst/>
          </a:prstGeom>
          <a:solidFill>
            <a:srgbClr val="5C6F9E">
              <a:alpha val="45000"/>
            </a:srgbClr>
          </a:solidFill>
          <a:ln/>
        </p:spPr>
      </p:sp>
      <p:sp>
        <p:nvSpPr>
          <p:cNvPr id="15" name="Shape 13"/>
          <p:cNvSpPr/>
          <p:nvPr/>
        </p:nvSpPr>
        <p:spPr>
          <a:xfrm>
            <a:off x="10332720" y="1856232"/>
            <a:ext cx="384048" cy="384048"/>
          </a:xfrm>
          <a:prstGeom prst="rect">
            <a:avLst/>
          </a:prstGeom>
          <a:solidFill>
            <a:srgbClr val="35507F">
              <a:alpha val="45000"/>
            </a:srgbClr>
          </a:solidFill>
          <a:ln/>
        </p:spPr>
      </p:sp>
      <p:sp>
        <p:nvSpPr>
          <p:cNvPr id="16" name="Shape 14"/>
          <p:cNvSpPr/>
          <p:nvPr/>
        </p:nvSpPr>
        <p:spPr>
          <a:xfrm>
            <a:off x="10771632" y="1856232"/>
            <a:ext cx="384048" cy="384048"/>
          </a:xfrm>
          <a:prstGeom prst="rect">
            <a:avLst/>
          </a:prstGeom>
          <a:solidFill>
            <a:srgbClr val="2A9D8F">
              <a:alpha val="45000"/>
            </a:srgbClr>
          </a:solidFill>
          <a:ln/>
        </p:spPr>
      </p:sp>
      <p:sp>
        <p:nvSpPr>
          <p:cNvPr id="17" name="Shape 15"/>
          <p:cNvSpPr/>
          <p:nvPr/>
        </p:nvSpPr>
        <p:spPr>
          <a:xfrm>
            <a:off x="11210544" y="1856232"/>
            <a:ext cx="384048" cy="384048"/>
          </a:xfrm>
          <a:prstGeom prst="rect">
            <a:avLst/>
          </a:prstGeom>
          <a:solidFill>
            <a:srgbClr val="5C6F9E">
              <a:alpha val="45000"/>
            </a:srgbClr>
          </a:solidFill>
          <a:ln/>
        </p:spPr>
      </p:sp>
      <p:sp>
        <p:nvSpPr>
          <p:cNvPr id="18" name="Shape 16"/>
          <p:cNvSpPr/>
          <p:nvPr/>
        </p:nvSpPr>
        <p:spPr>
          <a:xfrm>
            <a:off x="8138160" y="2295144"/>
            <a:ext cx="384048" cy="384048"/>
          </a:xfrm>
          <a:prstGeom prst="rect">
            <a:avLst/>
          </a:prstGeom>
          <a:solidFill>
            <a:srgbClr val="F2C14E">
              <a:alpha val="45000"/>
            </a:srgbClr>
          </a:solidFill>
          <a:ln/>
        </p:spPr>
      </p:sp>
      <p:sp>
        <p:nvSpPr>
          <p:cNvPr id="19" name="Shape 17"/>
          <p:cNvSpPr/>
          <p:nvPr/>
        </p:nvSpPr>
        <p:spPr>
          <a:xfrm>
            <a:off x="8577072" y="2295144"/>
            <a:ext cx="384048" cy="384048"/>
          </a:xfrm>
          <a:prstGeom prst="rect">
            <a:avLst/>
          </a:prstGeom>
          <a:solidFill>
            <a:srgbClr val="35507F">
              <a:alpha val="45000"/>
            </a:srgbClr>
          </a:solidFill>
          <a:ln/>
        </p:spPr>
      </p:sp>
      <p:sp>
        <p:nvSpPr>
          <p:cNvPr id="20" name="Shape 18"/>
          <p:cNvSpPr/>
          <p:nvPr/>
        </p:nvSpPr>
        <p:spPr>
          <a:xfrm>
            <a:off x="9015984" y="2295144"/>
            <a:ext cx="384048" cy="384048"/>
          </a:xfrm>
          <a:prstGeom prst="rect">
            <a:avLst/>
          </a:prstGeom>
          <a:solidFill>
            <a:srgbClr val="24325C">
              <a:alpha val="45000"/>
            </a:srgbClr>
          </a:solidFill>
          <a:ln/>
        </p:spPr>
      </p:sp>
      <p:sp>
        <p:nvSpPr>
          <p:cNvPr id="21" name="Shape 19"/>
          <p:cNvSpPr/>
          <p:nvPr/>
        </p:nvSpPr>
        <p:spPr>
          <a:xfrm>
            <a:off x="9454896" y="2295144"/>
            <a:ext cx="384048" cy="384048"/>
          </a:xfrm>
          <a:prstGeom prst="rect">
            <a:avLst/>
          </a:prstGeom>
          <a:solidFill>
            <a:srgbClr val="35507F">
              <a:alpha val="45000"/>
            </a:srgbClr>
          </a:solidFill>
          <a:ln/>
        </p:spPr>
      </p:sp>
      <p:sp>
        <p:nvSpPr>
          <p:cNvPr id="22" name="Shape 20"/>
          <p:cNvSpPr/>
          <p:nvPr/>
        </p:nvSpPr>
        <p:spPr>
          <a:xfrm>
            <a:off x="9893808" y="2295144"/>
            <a:ext cx="384048" cy="384048"/>
          </a:xfrm>
          <a:prstGeom prst="rect">
            <a:avLst/>
          </a:prstGeom>
          <a:solidFill>
            <a:srgbClr val="F2C14E">
              <a:alpha val="45000"/>
            </a:srgbClr>
          </a:solidFill>
          <a:ln/>
        </p:spPr>
      </p:sp>
      <p:sp>
        <p:nvSpPr>
          <p:cNvPr id="23" name="Shape 21"/>
          <p:cNvSpPr/>
          <p:nvPr/>
        </p:nvSpPr>
        <p:spPr>
          <a:xfrm>
            <a:off x="10332720" y="2295144"/>
            <a:ext cx="384048" cy="384048"/>
          </a:xfrm>
          <a:prstGeom prst="rect">
            <a:avLst/>
          </a:prstGeom>
          <a:solidFill>
            <a:srgbClr val="24325C">
              <a:alpha val="45000"/>
            </a:srgbClr>
          </a:solidFill>
          <a:ln/>
        </p:spPr>
      </p:sp>
      <p:sp>
        <p:nvSpPr>
          <p:cNvPr id="24" name="Shape 22"/>
          <p:cNvSpPr/>
          <p:nvPr/>
        </p:nvSpPr>
        <p:spPr>
          <a:xfrm>
            <a:off x="10771632" y="2295144"/>
            <a:ext cx="384048" cy="384048"/>
          </a:xfrm>
          <a:prstGeom prst="rect">
            <a:avLst/>
          </a:prstGeom>
          <a:solidFill>
            <a:srgbClr val="5C6F9E">
              <a:alpha val="45000"/>
            </a:srgbClr>
          </a:solidFill>
          <a:ln/>
        </p:spPr>
      </p:sp>
      <p:sp>
        <p:nvSpPr>
          <p:cNvPr id="25" name="Shape 23"/>
          <p:cNvSpPr/>
          <p:nvPr/>
        </p:nvSpPr>
        <p:spPr>
          <a:xfrm>
            <a:off x="11210544" y="2295144"/>
            <a:ext cx="384048" cy="384048"/>
          </a:xfrm>
          <a:prstGeom prst="rect">
            <a:avLst/>
          </a:prstGeom>
          <a:solidFill>
            <a:srgbClr val="24325C">
              <a:alpha val="45000"/>
            </a:srgbClr>
          </a:solidFill>
          <a:ln/>
        </p:spPr>
      </p:sp>
      <p:sp>
        <p:nvSpPr>
          <p:cNvPr id="26" name="Shape 24"/>
          <p:cNvSpPr/>
          <p:nvPr/>
        </p:nvSpPr>
        <p:spPr>
          <a:xfrm>
            <a:off x="8138160" y="2734056"/>
            <a:ext cx="384048" cy="384048"/>
          </a:xfrm>
          <a:prstGeom prst="rect">
            <a:avLst/>
          </a:prstGeom>
          <a:solidFill>
            <a:srgbClr val="35507F">
              <a:alpha val="45000"/>
            </a:srgbClr>
          </a:solidFill>
          <a:ln/>
        </p:spPr>
      </p:sp>
      <p:sp>
        <p:nvSpPr>
          <p:cNvPr id="27" name="Shape 25"/>
          <p:cNvSpPr/>
          <p:nvPr/>
        </p:nvSpPr>
        <p:spPr>
          <a:xfrm>
            <a:off x="8577072" y="2734056"/>
            <a:ext cx="384048" cy="384048"/>
          </a:xfrm>
          <a:prstGeom prst="rect">
            <a:avLst/>
          </a:prstGeom>
          <a:solidFill>
            <a:srgbClr val="F2C14E">
              <a:alpha val="45000"/>
            </a:srgbClr>
          </a:solidFill>
          <a:ln/>
        </p:spPr>
      </p:sp>
      <p:sp>
        <p:nvSpPr>
          <p:cNvPr id="28" name="Shape 26"/>
          <p:cNvSpPr/>
          <p:nvPr/>
        </p:nvSpPr>
        <p:spPr>
          <a:xfrm>
            <a:off x="9015984" y="2734056"/>
            <a:ext cx="384048" cy="384048"/>
          </a:xfrm>
          <a:prstGeom prst="rect">
            <a:avLst/>
          </a:prstGeom>
          <a:solidFill>
            <a:srgbClr val="F2C14E">
              <a:alpha val="45000"/>
            </a:srgbClr>
          </a:solidFill>
          <a:ln/>
        </p:spPr>
      </p:sp>
      <p:sp>
        <p:nvSpPr>
          <p:cNvPr id="29" name="Shape 27"/>
          <p:cNvSpPr/>
          <p:nvPr/>
        </p:nvSpPr>
        <p:spPr>
          <a:xfrm>
            <a:off x="9454896" y="2734056"/>
            <a:ext cx="384048" cy="384048"/>
          </a:xfrm>
          <a:prstGeom prst="rect">
            <a:avLst/>
          </a:prstGeom>
          <a:solidFill>
            <a:srgbClr val="24325C">
              <a:alpha val="45000"/>
            </a:srgbClr>
          </a:solidFill>
          <a:ln/>
        </p:spPr>
      </p:sp>
      <p:sp>
        <p:nvSpPr>
          <p:cNvPr id="30" name="Shape 28"/>
          <p:cNvSpPr/>
          <p:nvPr/>
        </p:nvSpPr>
        <p:spPr>
          <a:xfrm>
            <a:off x="9893808" y="2734056"/>
            <a:ext cx="384048" cy="384048"/>
          </a:xfrm>
          <a:prstGeom prst="rect">
            <a:avLst/>
          </a:prstGeom>
          <a:solidFill>
            <a:srgbClr val="F2C14E">
              <a:alpha val="45000"/>
            </a:srgbClr>
          </a:solidFill>
          <a:ln/>
        </p:spPr>
      </p:sp>
      <p:sp>
        <p:nvSpPr>
          <p:cNvPr id="31" name="Shape 29"/>
          <p:cNvSpPr/>
          <p:nvPr/>
        </p:nvSpPr>
        <p:spPr>
          <a:xfrm>
            <a:off x="10332720" y="2734056"/>
            <a:ext cx="384048" cy="384048"/>
          </a:xfrm>
          <a:prstGeom prst="rect">
            <a:avLst/>
          </a:prstGeom>
          <a:solidFill>
            <a:srgbClr val="24325C">
              <a:alpha val="45000"/>
            </a:srgbClr>
          </a:solidFill>
          <a:ln/>
        </p:spPr>
      </p:sp>
      <p:sp>
        <p:nvSpPr>
          <p:cNvPr id="32" name="Shape 30"/>
          <p:cNvSpPr/>
          <p:nvPr/>
        </p:nvSpPr>
        <p:spPr>
          <a:xfrm>
            <a:off x="10771632" y="2734056"/>
            <a:ext cx="384048" cy="384048"/>
          </a:xfrm>
          <a:prstGeom prst="rect">
            <a:avLst/>
          </a:prstGeom>
          <a:solidFill>
            <a:srgbClr val="24325C">
              <a:alpha val="45000"/>
            </a:srgbClr>
          </a:solidFill>
          <a:ln/>
        </p:spPr>
      </p:sp>
      <p:sp>
        <p:nvSpPr>
          <p:cNvPr id="33" name="Shape 31"/>
          <p:cNvSpPr/>
          <p:nvPr/>
        </p:nvSpPr>
        <p:spPr>
          <a:xfrm>
            <a:off x="11210544" y="2734056"/>
            <a:ext cx="384048" cy="384048"/>
          </a:xfrm>
          <a:prstGeom prst="rect">
            <a:avLst/>
          </a:prstGeom>
          <a:solidFill>
            <a:srgbClr val="2A9D8F">
              <a:alpha val="45000"/>
            </a:srgbClr>
          </a:solidFill>
          <a:ln/>
        </p:spPr>
      </p:sp>
      <p:sp>
        <p:nvSpPr>
          <p:cNvPr id="34" name="Shape 32"/>
          <p:cNvSpPr/>
          <p:nvPr/>
        </p:nvSpPr>
        <p:spPr>
          <a:xfrm>
            <a:off x="8138160" y="3172968"/>
            <a:ext cx="384048" cy="384048"/>
          </a:xfrm>
          <a:prstGeom prst="rect">
            <a:avLst/>
          </a:prstGeom>
          <a:solidFill>
            <a:srgbClr val="5C6F9E">
              <a:alpha val="45000"/>
            </a:srgbClr>
          </a:solidFill>
          <a:ln/>
        </p:spPr>
      </p:sp>
      <p:sp>
        <p:nvSpPr>
          <p:cNvPr id="35" name="Shape 33"/>
          <p:cNvSpPr/>
          <p:nvPr/>
        </p:nvSpPr>
        <p:spPr>
          <a:xfrm>
            <a:off x="8577072" y="3172968"/>
            <a:ext cx="384048" cy="384048"/>
          </a:xfrm>
          <a:prstGeom prst="rect">
            <a:avLst/>
          </a:prstGeom>
          <a:solidFill>
            <a:srgbClr val="5C6F9E">
              <a:alpha val="45000"/>
            </a:srgbClr>
          </a:solidFill>
          <a:ln/>
        </p:spPr>
      </p:sp>
      <p:sp>
        <p:nvSpPr>
          <p:cNvPr id="36" name="Shape 34"/>
          <p:cNvSpPr/>
          <p:nvPr/>
        </p:nvSpPr>
        <p:spPr>
          <a:xfrm>
            <a:off x="9015984" y="3172968"/>
            <a:ext cx="384048" cy="384048"/>
          </a:xfrm>
          <a:prstGeom prst="rect">
            <a:avLst/>
          </a:prstGeom>
          <a:solidFill>
            <a:srgbClr val="24325C">
              <a:alpha val="45000"/>
            </a:srgbClr>
          </a:solidFill>
          <a:ln/>
        </p:spPr>
      </p:sp>
      <p:sp>
        <p:nvSpPr>
          <p:cNvPr id="37" name="Shape 35"/>
          <p:cNvSpPr/>
          <p:nvPr/>
        </p:nvSpPr>
        <p:spPr>
          <a:xfrm>
            <a:off x="9454896" y="3172968"/>
            <a:ext cx="384048" cy="384048"/>
          </a:xfrm>
          <a:prstGeom prst="rect">
            <a:avLst/>
          </a:prstGeom>
          <a:solidFill>
            <a:srgbClr val="2A9D8F">
              <a:alpha val="45000"/>
            </a:srgbClr>
          </a:solidFill>
          <a:ln/>
        </p:spPr>
      </p:sp>
      <p:sp>
        <p:nvSpPr>
          <p:cNvPr id="38" name="Shape 36"/>
          <p:cNvSpPr/>
          <p:nvPr/>
        </p:nvSpPr>
        <p:spPr>
          <a:xfrm>
            <a:off x="9893808" y="3172968"/>
            <a:ext cx="384048" cy="384048"/>
          </a:xfrm>
          <a:prstGeom prst="rect">
            <a:avLst/>
          </a:prstGeom>
          <a:solidFill>
            <a:srgbClr val="24325C">
              <a:alpha val="45000"/>
            </a:srgbClr>
          </a:solidFill>
          <a:ln/>
        </p:spPr>
      </p:sp>
      <p:sp>
        <p:nvSpPr>
          <p:cNvPr id="39" name="Shape 37"/>
          <p:cNvSpPr/>
          <p:nvPr/>
        </p:nvSpPr>
        <p:spPr>
          <a:xfrm>
            <a:off x="10332720" y="3172968"/>
            <a:ext cx="384048" cy="384048"/>
          </a:xfrm>
          <a:prstGeom prst="rect">
            <a:avLst/>
          </a:prstGeom>
          <a:solidFill>
            <a:srgbClr val="F2C14E">
              <a:alpha val="45000"/>
            </a:srgbClr>
          </a:solidFill>
          <a:ln/>
        </p:spPr>
      </p:sp>
      <p:sp>
        <p:nvSpPr>
          <p:cNvPr id="40" name="Shape 38"/>
          <p:cNvSpPr/>
          <p:nvPr/>
        </p:nvSpPr>
        <p:spPr>
          <a:xfrm>
            <a:off x="10771632" y="3172968"/>
            <a:ext cx="384048" cy="384048"/>
          </a:xfrm>
          <a:prstGeom prst="rect">
            <a:avLst/>
          </a:prstGeom>
          <a:solidFill>
            <a:srgbClr val="5C6F9E">
              <a:alpha val="45000"/>
            </a:srgbClr>
          </a:solidFill>
          <a:ln/>
        </p:spPr>
      </p:sp>
      <p:sp>
        <p:nvSpPr>
          <p:cNvPr id="41" name="Shape 39"/>
          <p:cNvSpPr/>
          <p:nvPr/>
        </p:nvSpPr>
        <p:spPr>
          <a:xfrm>
            <a:off x="11210544" y="3172968"/>
            <a:ext cx="384048" cy="384048"/>
          </a:xfrm>
          <a:prstGeom prst="rect">
            <a:avLst/>
          </a:prstGeom>
          <a:solidFill>
            <a:srgbClr val="5C6F9E">
              <a:alpha val="45000"/>
            </a:srgbClr>
          </a:solidFill>
          <a:ln/>
        </p:spPr>
      </p:sp>
      <p:sp>
        <p:nvSpPr>
          <p:cNvPr id="42" name="Shape 40"/>
          <p:cNvSpPr/>
          <p:nvPr/>
        </p:nvSpPr>
        <p:spPr>
          <a:xfrm>
            <a:off x="8138160" y="3611880"/>
            <a:ext cx="384048" cy="384048"/>
          </a:xfrm>
          <a:prstGeom prst="rect">
            <a:avLst/>
          </a:prstGeom>
          <a:solidFill>
            <a:srgbClr val="35507F">
              <a:alpha val="45000"/>
            </a:srgbClr>
          </a:solidFill>
          <a:ln/>
        </p:spPr>
      </p:sp>
      <p:sp>
        <p:nvSpPr>
          <p:cNvPr id="43" name="Shape 41"/>
          <p:cNvSpPr/>
          <p:nvPr/>
        </p:nvSpPr>
        <p:spPr>
          <a:xfrm>
            <a:off x="8577072" y="3611880"/>
            <a:ext cx="384048" cy="384048"/>
          </a:xfrm>
          <a:prstGeom prst="rect">
            <a:avLst/>
          </a:prstGeom>
          <a:solidFill>
            <a:srgbClr val="35507F">
              <a:alpha val="45000"/>
            </a:srgbClr>
          </a:solidFill>
          <a:ln/>
        </p:spPr>
      </p:sp>
      <p:sp>
        <p:nvSpPr>
          <p:cNvPr id="44" name="Shape 42"/>
          <p:cNvSpPr/>
          <p:nvPr/>
        </p:nvSpPr>
        <p:spPr>
          <a:xfrm>
            <a:off x="9015984" y="3611880"/>
            <a:ext cx="384048" cy="384048"/>
          </a:xfrm>
          <a:prstGeom prst="rect">
            <a:avLst/>
          </a:prstGeom>
          <a:solidFill>
            <a:srgbClr val="35507F">
              <a:alpha val="45000"/>
            </a:srgbClr>
          </a:solidFill>
          <a:ln/>
        </p:spPr>
      </p:sp>
      <p:sp>
        <p:nvSpPr>
          <p:cNvPr id="45" name="Shape 43"/>
          <p:cNvSpPr/>
          <p:nvPr/>
        </p:nvSpPr>
        <p:spPr>
          <a:xfrm>
            <a:off x="9454896" y="3611880"/>
            <a:ext cx="384048" cy="384048"/>
          </a:xfrm>
          <a:prstGeom prst="rect">
            <a:avLst/>
          </a:prstGeom>
          <a:solidFill>
            <a:srgbClr val="E8743B">
              <a:alpha val="45000"/>
            </a:srgbClr>
          </a:solidFill>
          <a:ln/>
        </p:spPr>
      </p:sp>
      <p:sp>
        <p:nvSpPr>
          <p:cNvPr id="46" name="Shape 44"/>
          <p:cNvSpPr/>
          <p:nvPr/>
        </p:nvSpPr>
        <p:spPr>
          <a:xfrm>
            <a:off x="9893808" y="3611880"/>
            <a:ext cx="384048" cy="384048"/>
          </a:xfrm>
          <a:prstGeom prst="rect">
            <a:avLst/>
          </a:prstGeom>
          <a:solidFill>
            <a:srgbClr val="35507F">
              <a:alpha val="45000"/>
            </a:srgbClr>
          </a:solidFill>
          <a:ln/>
        </p:spPr>
      </p:sp>
      <p:sp>
        <p:nvSpPr>
          <p:cNvPr id="47" name="Shape 45"/>
          <p:cNvSpPr/>
          <p:nvPr/>
        </p:nvSpPr>
        <p:spPr>
          <a:xfrm>
            <a:off x="10332720" y="3611880"/>
            <a:ext cx="384048" cy="384048"/>
          </a:xfrm>
          <a:prstGeom prst="rect">
            <a:avLst/>
          </a:prstGeom>
          <a:solidFill>
            <a:srgbClr val="24325C">
              <a:alpha val="45000"/>
            </a:srgbClr>
          </a:solidFill>
          <a:ln/>
        </p:spPr>
      </p:sp>
      <p:sp>
        <p:nvSpPr>
          <p:cNvPr id="48" name="Shape 46"/>
          <p:cNvSpPr/>
          <p:nvPr/>
        </p:nvSpPr>
        <p:spPr>
          <a:xfrm>
            <a:off x="10771632" y="3611880"/>
            <a:ext cx="384048" cy="384048"/>
          </a:xfrm>
          <a:prstGeom prst="rect">
            <a:avLst/>
          </a:prstGeom>
          <a:solidFill>
            <a:srgbClr val="35507F">
              <a:alpha val="45000"/>
            </a:srgbClr>
          </a:solidFill>
          <a:ln/>
        </p:spPr>
      </p:sp>
      <p:sp>
        <p:nvSpPr>
          <p:cNvPr id="49" name="Shape 47"/>
          <p:cNvSpPr/>
          <p:nvPr/>
        </p:nvSpPr>
        <p:spPr>
          <a:xfrm>
            <a:off x="11210544" y="3611880"/>
            <a:ext cx="384048" cy="384048"/>
          </a:xfrm>
          <a:prstGeom prst="rect">
            <a:avLst/>
          </a:prstGeom>
          <a:solidFill>
            <a:srgbClr val="5C6F9E">
              <a:alpha val="45000"/>
            </a:srgbClr>
          </a:solidFill>
          <a:ln/>
        </p:spPr>
      </p:sp>
      <p:sp>
        <p:nvSpPr>
          <p:cNvPr id="50" name="Shape 48"/>
          <p:cNvSpPr/>
          <p:nvPr/>
        </p:nvSpPr>
        <p:spPr>
          <a:xfrm>
            <a:off x="8138160" y="4050792"/>
            <a:ext cx="384048" cy="384048"/>
          </a:xfrm>
          <a:prstGeom prst="rect">
            <a:avLst/>
          </a:prstGeom>
          <a:solidFill>
            <a:srgbClr val="35507F">
              <a:alpha val="45000"/>
            </a:srgbClr>
          </a:solidFill>
          <a:ln/>
        </p:spPr>
      </p:sp>
      <p:sp>
        <p:nvSpPr>
          <p:cNvPr id="51" name="Shape 49"/>
          <p:cNvSpPr/>
          <p:nvPr/>
        </p:nvSpPr>
        <p:spPr>
          <a:xfrm>
            <a:off x="8577072" y="4050792"/>
            <a:ext cx="384048" cy="384048"/>
          </a:xfrm>
          <a:prstGeom prst="rect">
            <a:avLst/>
          </a:prstGeom>
          <a:solidFill>
            <a:srgbClr val="2A9D8F">
              <a:alpha val="45000"/>
            </a:srgbClr>
          </a:solidFill>
          <a:ln/>
        </p:spPr>
      </p:sp>
      <p:sp>
        <p:nvSpPr>
          <p:cNvPr id="52" name="Shape 50"/>
          <p:cNvSpPr/>
          <p:nvPr/>
        </p:nvSpPr>
        <p:spPr>
          <a:xfrm>
            <a:off x="9015984" y="4050792"/>
            <a:ext cx="384048" cy="384048"/>
          </a:xfrm>
          <a:prstGeom prst="rect">
            <a:avLst/>
          </a:prstGeom>
          <a:solidFill>
            <a:srgbClr val="24325C">
              <a:alpha val="45000"/>
            </a:srgbClr>
          </a:solidFill>
          <a:ln/>
        </p:spPr>
      </p:sp>
      <p:sp>
        <p:nvSpPr>
          <p:cNvPr id="53" name="Shape 51"/>
          <p:cNvSpPr/>
          <p:nvPr/>
        </p:nvSpPr>
        <p:spPr>
          <a:xfrm>
            <a:off x="9454896" y="4050792"/>
            <a:ext cx="384048" cy="384048"/>
          </a:xfrm>
          <a:prstGeom prst="rect">
            <a:avLst/>
          </a:prstGeom>
          <a:solidFill>
            <a:srgbClr val="5C6F9E">
              <a:alpha val="45000"/>
            </a:srgbClr>
          </a:solidFill>
          <a:ln/>
        </p:spPr>
      </p:sp>
      <p:sp>
        <p:nvSpPr>
          <p:cNvPr id="54" name="Shape 52"/>
          <p:cNvSpPr/>
          <p:nvPr/>
        </p:nvSpPr>
        <p:spPr>
          <a:xfrm>
            <a:off x="9893808" y="4050792"/>
            <a:ext cx="384048" cy="384048"/>
          </a:xfrm>
          <a:prstGeom prst="rect">
            <a:avLst/>
          </a:prstGeom>
          <a:solidFill>
            <a:srgbClr val="2A9D8F">
              <a:alpha val="45000"/>
            </a:srgbClr>
          </a:solidFill>
          <a:ln/>
        </p:spPr>
      </p:sp>
      <p:sp>
        <p:nvSpPr>
          <p:cNvPr id="55" name="Shape 53"/>
          <p:cNvSpPr/>
          <p:nvPr/>
        </p:nvSpPr>
        <p:spPr>
          <a:xfrm>
            <a:off x="10332720" y="4050792"/>
            <a:ext cx="384048" cy="384048"/>
          </a:xfrm>
          <a:prstGeom prst="rect">
            <a:avLst/>
          </a:prstGeom>
          <a:solidFill>
            <a:srgbClr val="35507F">
              <a:alpha val="45000"/>
            </a:srgbClr>
          </a:solidFill>
          <a:ln/>
        </p:spPr>
      </p:sp>
      <p:sp>
        <p:nvSpPr>
          <p:cNvPr id="56" name="Shape 54"/>
          <p:cNvSpPr/>
          <p:nvPr/>
        </p:nvSpPr>
        <p:spPr>
          <a:xfrm>
            <a:off x="10771632" y="4050792"/>
            <a:ext cx="384048" cy="384048"/>
          </a:xfrm>
          <a:prstGeom prst="rect">
            <a:avLst/>
          </a:prstGeom>
          <a:solidFill>
            <a:srgbClr val="24325C">
              <a:alpha val="45000"/>
            </a:srgbClr>
          </a:solidFill>
          <a:ln/>
        </p:spPr>
      </p:sp>
      <p:sp>
        <p:nvSpPr>
          <p:cNvPr id="57" name="Shape 55"/>
          <p:cNvSpPr/>
          <p:nvPr/>
        </p:nvSpPr>
        <p:spPr>
          <a:xfrm>
            <a:off x="11210544" y="4050792"/>
            <a:ext cx="384048" cy="384048"/>
          </a:xfrm>
          <a:prstGeom prst="rect">
            <a:avLst/>
          </a:prstGeom>
          <a:solidFill>
            <a:srgbClr val="E8743B">
              <a:alpha val="45000"/>
            </a:srgbClr>
          </a:solidFill>
          <a:ln/>
        </p:spPr>
      </p:sp>
      <p:sp>
        <p:nvSpPr>
          <p:cNvPr id="58" name="Shape 56"/>
          <p:cNvSpPr/>
          <p:nvPr/>
        </p:nvSpPr>
        <p:spPr>
          <a:xfrm>
            <a:off x="8138160" y="4489704"/>
            <a:ext cx="384048" cy="384048"/>
          </a:xfrm>
          <a:prstGeom prst="rect">
            <a:avLst/>
          </a:prstGeom>
          <a:solidFill>
            <a:srgbClr val="24325C">
              <a:alpha val="45000"/>
            </a:srgbClr>
          </a:solidFill>
          <a:ln/>
        </p:spPr>
      </p:sp>
      <p:sp>
        <p:nvSpPr>
          <p:cNvPr id="59" name="Shape 57"/>
          <p:cNvSpPr/>
          <p:nvPr/>
        </p:nvSpPr>
        <p:spPr>
          <a:xfrm>
            <a:off x="8577072" y="4489704"/>
            <a:ext cx="384048" cy="384048"/>
          </a:xfrm>
          <a:prstGeom prst="rect">
            <a:avLst/>
          </a:prstGeom>
          <a:solidFill>
            <a:srgbClr val="35507F">
              <a:alpha val="45000"/>
            </a:srgbClr>
          </a:solidFill>
          <a:ln/>
        </p:spPr>
      </p:sp>
      <p:sp>
        <p:nvSpPr>
          <p:cNvPr id="60" name="Shape 58"/>
          <p:cNvSpPr/>
          <p:nvPr/>
        </p:nvSpPr>
        <p:spPr>
          <a:xfrm>
            <a:off x="9015984" y="4489704"/>
            <a:ext cx="384048" cy="384048"/>
          </a:xfrm>
          <a:prstGeom prst="rect">
            <a:avLst/>
          </a:prstGeom>
          <a:solidFill>
            <a:srgbClr val="24325C">
              <a:alpha val="45000"/>
            </a:srgbClr>
          </a:solidFill>
          <a:ln/>
        </p:spPr>
      </p:sp>
      <p:sp>
        <p:nvSpPr>
          <p:cNvPr id="61" name="Shape 59"/>
          <p:cNvSpPr/>
          <p:nvPr/>
        </p:nvSpPr>
        <p:spPr>
          <a:xfrm>
            <a:off x="9454896" y="4489704"/>
            <a:ext cx="384048" cy="384048"/>
          </a:xfrm>
          <a:prstGeom prst="rect">
            <a:avLst/>
          </a:prstGeom>
          <a:solidFill>
            <a:srgbClr val="35507F">
              <a:alpha val="45000"/>
            </a:srgbClr>
          </a:solidFill>
          <a:ln/>
        </p:spPr>
      </p:sp>
      <p:sp>
        <p:nvSpPr>
          <p:cNvPr id="62" name="Shape 60"/>
          <p:cNvSpPr/>
          <p:nvPr/>
        </p:nvSpPr>
        <p:spPr>
          <a:xfrm>
            <a:off x="9893808" y="4489704"/>
            <a:ext cx="384048" cy="384048"/>
          </a:xfrm>
          <a:prstGeom prst="rect">
            <a:avLst/>
          </a:prstGeom>
          <a:solidFill>
            <a:srgbClr val="F2C14E">
              <a:alpha val="45000"/>
            </a:srgbClr>
          </a:solidFill>
          <a:ln/>
        </p:spPr>
      </p:sp>
      <p:sp>
        <p:nvSpPr>
          <p:cNvPr id="63" name="Shape 61"/>
          <p:cNvSpPr/>
          <p:nvPr/>
        </p:nvSpPr>
        <p:spPr>
          <a:xfrm>
            <a:off x="10332720" y="4489704"/>
            <a:ext cx="384048" cy="384048"/>
          </a:xfrm>
          <a:prstGeom prst="rect">
            <a:avLst/>
          </a:prstGeom>
          <a:solidFill>
            <a:srgbClr val="5C6F9E">
              <a:alpha val="45000"/>
            </a:srgbClr>
          </a:solidFill>
          <a:ln/>
        </p:spPr>
      </p:sp>
      <p:sp>
        <p:nvSpPr>
          <p:cNvPr id="64" name="Shape 62"/>
          <p:cNvSpPr/>
          <p:nvPr/>
        </p:nvSpPr>
        <p:spPr>
          <a:xfrm>
            <a:off x="10771632" y="4489704"/>
            <a:ext cx="384048" cy="384048"/>
          </a:xfrm>
          <a:prstGeom prst="rect">
            <a:avLst/>
          </a:prstGeom>
          <a:solidFill>
            <a:srgbClr val="5C6F9E">
              <a:alpha val="45000"/>
            </a:srgbClr>
          </a:solidFill>
          <a:ln/>
        </p:spPr>
      </p:sp>
      <p:sp>
        <p:nvSpPr>
          <p:cNvPr id="65" name="Shape 63"/>
          <p:cNvSpPr/>
          <p:nvPr/>
        </p:nvSpPr>
        <p:spPr>
          <a:xfrm>
            <a:off x="11210544" y="4489704"/>
            <a:ext cx="384048" cy="384048"/>
          </a:xfrm>
          <a:prstGeom prst="rect">
            <a:avLst/>
          </a:prstGeom>
          <a:solidFill>
            <a:srgbClr val="24325C">
              <a:alpha val="45000"/>
            </a:srgbClr>
          </a:solidFill>
          <a:ln/>
        </p:spPr>
      </p:sp>
      <p:sp>
        <p:nvSpPr>
          <p:cNvPr id="66" name="Text 64"/>
          <p:cNvSpPr/>
          <p:nvPr/>
        </p:nvSpPr>
        <p:spPr>
          <a:xfrm>
            <a:off x="777240" y="1417320"/>
            <a:ext cx="7315200" cy="685800"/>
          </a:xfrm>
          <a:prstGeom prst="rect">
            <a:avLst/>
          </a:prstGeom>
          <a:noFill/>
          <a:ln/>
        </p:spPr>
        <p:txBody>
          <a:bodyPr wrap="square" lIns="0" tIns="0" rIns="0" bIns="0" rtlCol="0" anchor="ctr"/>
          <a:lstStyle/>
          <a:p>
            <a:pPr indent="0" marL="0">
              <a:buNone/>
            </a:pPr>
            <a:r>
              <a:rPr lang="en-US" sz="4400" dirty="0">
                <a:solidFill>
                  <a:srgbClr val="FFFFFF"/>
                </a:solidFill>
                <a:latin typeface="Cambria" pitchFamily="34" charset="0"/>
                <a:ea typeface="Cambria" pitchFamily="34" charset="-122"/>
                <a:cs typeface="Cambria" pitchFamily="34" charset="-120"/>
              </a:rPr>
              <a:t>Representational</a:t>
            </a:r>
            <a:endParaRPr lang="en-US" sz="4400" dirty="0"/>
          </a:p>
        </p:txBody>
      </p:sp>
      <p:sp>
        <p:nvSpPr>
          <p:cNvPr id="67" name="Text 65"/>
          <p:cNvSpPr/>
          <p:nvPr/>
        </p:nvSpPr>
        <p:spPr>
          <a:xfrm>
            <a:off x="777240" y="2057400"/>
            <a:ext cx="731520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Similarity Regularisation</a:t>
            </a:r>
            <a:endParaRPr lang="en-US" sz="4400" dirty="0"/>
          </a:p>
        </p:txBody>
      </p:sp>
      <p:sp>
        <p:nvSpPr>
          <p:cNvPr id="68" name="Text 66"/>
          <p:cNvSpPr/>
          <p:nvPr/>
        </p:nvSpPr>
        <p:spPr>
          <a:xfrm>
            <a:off x="777240" y="3017520"/>
            <a:ext cx="6949440" cy="822960"/>
          </a:xfrm>
          <a:prstGeom prst="rect">
            <a:avLst/>
          </a:prstGeom>
          <a:noFill/>
          <a:ln/>
        </p:spPr>
        <p:txBody>
          <a:bodyPr wrap="square" lIns="0" tIns="0" rIns="0" bIns="0" rtlCol="0" anchor="ctr"/>
          <a:lstStyle/>
          <a:p>
            <a:pPr indent="0" marL="0">
              <a:buNone/>
            </a:pPr>
            <a:r>
              <a:rPr lang="en-US" sz="1500" dirty="0">
                <a:solidFill>
                  <a:srgbClr val="AEBBD8"/>
                </a:solidFill>
                <a:latin typeface="Calibri" pitchFamily="34" charset="0"/>
                <a:ea typeface="Calibri" pitchFamily="34" charset="-122"/>
                <a:cs typeface="Calibri" pitchFamily="34" charset="-120"/>
              </a:rPr>
              <a:t>Teaching a language model to judge word similarity the way people do — and testing whether that makes it more brain-like.</a:t>
            </a:r>
            <a:endParaRPr lang="en-US" sz="1500" dirty="0"/>
          </a:p>
        </p:txBody>
      </p:sp>
      <p:sp>
        <p:nvSpPr>
          <p:cNvPr id="69" name="Text 67"/>
          <p:cNvSpPr/>
          <p:nvPr/>
        </p:nvSpPr>
        <p:spPr>
          <a:xfrm>
            <a:off x="777240" y="416052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Jack McMenamin</a:t>
            </a:r>
            <a:pPr indent="0" marL="0">
              <a:buNone/>
            </a:pPr>
            <a:r>
              <a:rPr lang="en-US" sz="1300" dirty="0">
                <a:solidFill>
                  <a:srgbClr val="8595BC"/>
                </a:solidFill>
                <a:latin typeface="Calibri" pitchFamily="34" charset="0"/>
                <a:ea typeface="Calibri" pitchFamily="34" charset="-122"/>
                <a:cs typeface="Calibri" pitchFamily="34" charset="-120"/>
              </a:rPr>
              <a:t>   ·   Experiment 3   ·   Supervisor: Barry Devereux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Models confuse similarity with association</a:t>
            </a:r>
            <a:endParaRPr lang="en-US" sz="3400" dirty="0"/>
          </a:p>
        </p:txBody>
      </p:sp>
      <p:sp>
        <p:nvSpPr>
          <p:cNvPr id="4" name="Text 2"/>
          <p:cNvSpPr/>
          <p:nvPr/>
        </p:nvSpPr>
        <p:spPr>
          <a:xfrm>
            <a:off x="548640" y="1463040"/>
            <a:ext cx="5577840" cy="914400"/>
          </a:xfrm>
          <a:prstGeom prst="rect">
            <a:avLst/>
          </a:prstGeom>
          <a:noFill/>
          <a:ln/>
        </p:spPr>
        <p:txBody>
          <a:bodyPr wrap="square" lIns="0" tIns="0" rIns="0" bIns="0" rtlCol="0" anchor="ctr"/>
          <a:lstStyle/>
          <a:p>
            <a:pPr indent="0" marL="0">
              <a:buNone/>
            </a:pPr>
            <a:r>
              <a:rPr lang="en-US" sz="1500" dirty="0">
                <a:solidFill>
                  <a:srgbClr val="5A6588"/>
                </a:solidFill>
                <a:latin typeface="Calibri" pitchFamily="34" charset="0"/>
                <a:ea typeface="Calibri" pitchFamily="34" charset="-122"/>
                <a:cs typeface="Calibri" pitchFamily="34" charset="-120"/>
              </a:rPr>
              <a:t>Distributional training teaches a model what words appear near each other. That is association, not similarity — and the two come apart exactly where meaning matters.</a:t>
            </a:r>
            <a:endParaRPr lang="en-US" sz="1500" dirty="0"/>
          </a:p>
        </p:txBody>
      </p:sp>
      <p:sp>
        <p:nvSpPr>
          <p:cNvPr id="5" name="Shape 3"/>
          <p:cNvSpPr/>
          <p:nvPr/>
        </p:nvSpPr>
        <p:spPr>
          <a:xfrm>
            <a:off x="548640" y="2514600"/>
            <a:ext cx="2651760" cy="1371600"/>
          </a:xfrm>
          <a:prstGeom prst="roundRect">
            <a:avLst>
              <a:gd name="adj" fmla="val 5333"/>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6" name="Text 4"/>
          <p:cNvSpPr/>
          <p:nvPr/>
        </p:nvSpPr>
        <p:spPr>
          <a:xfrm>
            <a:off x="548640" y="2697480"/>
            <a:ext cx="2651760" cy="365760"/>
          </a:xfrm>
          <a:prstGeom prst="rect">
            <a:avLst/>
          </a:prstGeom>
          <a:noFill/>
          <a:ln/>
        </p:spPr>
        <p:txBody>
          <a:bodyPr wrap="square" lIns="0" tIns="0" rIns="0" bIns="0" rtlCol="0" anchor="ctr"/>
          <a:lstStyle/>
          <a:p>
            <a:pPr algn="ctr" indent="0" marL="0">
              <a:buNone/>
            </a:pPr>
            <a:r>
              <a:rPr lang="en-US" sz="1900" b="1" dirty="0">
                <a:solidFill>
                  <a:srgbClr val="141B34"/>
                </a:solidFill>
                <a:latin typeface="Cambria" pitchFamily="34" charset="0"/>
                <a:ea typeface="Cambria" pitchFamily="34" charset="-122"/>
                <a:cs typeface="Cambria" pitchFamily="34" charset="-120"/>
              </a:rPr>
              <a:t>cup — mug</a:t>
            </a:r>
            <a:endParaRPr lang="en-US" sz="1900" dirty="0"/>
          </a:p>
        </p:txBody>
      </p:sp>
      <p:sp>
        <p:nvSpPr>
          <p:cNvPr id="7" name="Text 5"/>
          <p:cNvSpPr/>
          <p:nvPr/>
        </p:nvSpPr>
        <p:spPr>
          <a:xfrm>
            <a:off x="548640" y="3127248"/>
            <a:ext cx="2651760" cy="320040"/>
          </a:xfrm>
          <a:prstGeom prst="rect">
            <a:avLst/>
          </a:prstGeom>
          <a:noFill/>
          <a:ln/>
        </p:spPr>
        <p:txBody>
          <a:bodyPr wrap="square" lIns="0" tIns="0" rIns="0" bIns="0" rtlCol="0" anchor="ctr"/>
          <a:lstStyle/>
          <a:p>
            <a:pPr algn="ctr" indent="0" marL="0">
              <a:buNone/>
            </a:pPr>
            <a:r>
              <a:rPr lang="en-US" sz="1200" dirty="0">
                <a:solidFill>
                  <a:srgbClr val="2A9D8F"/>
                </a:solidFill>
                <a:latin typeface="Calibri" pitchFamily="34" charset="0"/>
                <a:ea typeface="Calibri" pitchFamily="34" charset="-122"/>
                <a:cs typeface="Calibri" pitchFamily="34" charset="-120"/>
              </a:rPr>
              <a:t>similar AND related</a:t>
            </a:r>
            <a:endParaRPr lang="en-US" sz="1200" dirty="0"/>
          </a:p>
        </p:txBody>
      </p:sp>
      <p:sp>
        <p:nvSpPr>
          <p:cNvPr id="8" name="Text 6"/>
          <p:cNvSpPr/>
          <p:nvPr/>
        </p:nvSpPr>
        <p:spPr>
          <a:xfrm>
            <a:off x="548640" y="3401568"/>
            <a:ext cx="265176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the easy case</a:t>
            </a:r>
            <a:endParaRPr lang="en-US" sz="1000" dirty="0"/>
          </a:p>
        </p:txBody>
      </p:sp>
      <p:sp>
        <p:nvSpPr>
          <p:cNvPr id="9" name="Shape 7"/>
          <p:cNvSpPr/>
          <p:nvPr/>
        </p:nvSpPr>
        <p:spPr>
          <a:xfrm>
            <a:off x="3474720" y="2514600"/>
            <a:ext cx="2651760" cy="1371600"/>
          </a:xfrm>
          <a:prstGeom prst="roundRect">
            <a:avLst>
              <a:gd name="adj" fmla="val 5333"/>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0" name="Text 8"/>
          <p:cNvSpPr/>
          <p:nvPr/>
        </p:nvSpPr>
        <p:spPr>
          <a:xfrm>
            <a:off x="3474720" y="2697480"/>
            <a:ext cx="2651760" cy="365760"/>
          </a:xfrm>
          <a:prstGeom prst="rect">
            <a:avLst/>
          </a:prstGeom>
          <a:noFill/>
          <a:ln/>
        </p:spPr>
        <p:txBody>
          <a:bodyPr wrap="square" lIns="0" tIns="0" rIns="0" bIns="0" rtlCol="0" anchor="ctr"/>
          <a:lstStyle/>
          <a:p>
            <a:pPr algn="ctr" indent="0" marL="0">
              <a:buNone/>
            </a:pPr>
            <a:r>
              <a:rPr lang="en-US" sz="1900" b="1" dirty="0">
                <a:solidFill>
                  <a:srgbClr val="141B34"/>
                </a:solidFill>
                <a:latin typeface="Cambria" pitchFamily="34" charset="0"/>
                <a:ea typeface="Cambria" pitchFamily="34" charset="-122"/>
                <a:cs typeface="Cambria" pitchFamily="34" charset="-120"/>
              </a:rPr>
              <a:t>cup — coffee</a:t>
            </a:r>
            <a:endParaRPr lang="en-US" sz="1900" dirty="0"/>
          </a:p>
        </p:txBody>
      </p:sp>
      <p:sp>
        <p:nvSpPr>
          <p:cNvPr id="11" name="Text 9"/>
          <p:cNvSpPr/>
          <p:nvPr/>
        </p:nvSpPr>
        <p:spPr>
          <a:xfrm>
            <a:off x="3474720" y="3127248"/>
            <a:ext cx="2651760" cy="320040"/>
          </a:xfrm>
          <a:prstGeom prst="rect">
            <a:avLst/>
          </a:prstGeom>
          <a:noFill/>
          <a:ln/>
        </p:spPr>
        <p:txBody>
          <a:bodyPr wrap="square" lIns="0" tIns="0" rIns="0" bIns="0" rtlCol="0" anchor="ctr"/>
          <a:lstStyle/>
          <a:p>
            <a:pPr algn="ctr" indent="0" marL="0">
              <a:buNone/>
            </a:pPr>
            <a:r>
              <a:rPr lang="en-US" sz="1200" b="1" dirty="0">
                <a:solidFill>
                  <a:srgbClr val="E8743B"/>
                </a:solidFill>
                <a:latin typeface="Calibri" pitchFamily="34" charset="0"/>
                <a:ea typeface="Calibri" pitchFamily="34" charset="-122"/>
                <a:cs typeface="Calibri" pitchFamily="34" charset="-120"/>
              </a:rPr>
              <a:t>related, NOT similar</a:t>
            </a:r>
            <a:endParaRPr lang="en-US" sz="1200" dirty="0"/>
          </a:p>
        </p:txBody>
      </p:sp>
      <p:sp>
        <p:nvSpPr>
          <p:cNvPr id="12" name="Text 10"/>
          <p:cNvSpPr/>
          <p:nvPr/>
        </p:nvSpPr>
        <p:spPr>
          <a:xfrm>
            <a:off x="3474720" y="3401568"/>
            <a:ext cx="265176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where models fail</a:t>
            </a:r>
            <a:endParaRPr lang="en-US" sz="1000" dirty="0"/>
          </a:p>
        </p:txBody>
      </p:sp>
      <p:sp>
        <p:nvSpPr>
          <p:cNvPr id="13" name="Shape 11"/>
          <p:cNvSpPr/>
          <p:nvPr/>
        </p:nvSpPr>
        <p:spPr>
          <a:xfrm>
            <a:off x="6583680" y="1417320"/>
            <a:ext cx="5029200" cy="3749040"/>
          </a:xfrm>
          <a:prstGeom prst="roundRect">
            <a:avLst>
              <a:gd name="adj" fmla="val 1951"/>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4" name="Text 12"/>
          <p:cNvSpPr/>
          <p:nvPr/>
        </p:nvSpPr>
        <p:spPr>
          <a:xfrm>
            <a:off x="6858000" y="1645920"/>
            <a:ext cx="44805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SimLex-999 rates both</a:t>
            </a:r>
            <a:endParaRPr lang="en-US" sz="1700" dirty="0"/>
          </a:p>
        </p:txBody>
      </p:sp>
      <p:sp>
        <p:nvSpPr>
          <p:cNvPr id="15" name="Text 13"/>
          <p:cNvSpPr/>
          <p:nvPr/>
        </p:nvSpPr>
        <p:spPr>
          <a:xfrm>
            <a:off x="6858000" y="2057400"/>
            <a:ext cx="4480560" cy="685800"/>
          </a:xfrm>
          <a:prstGeom prst="rect">
            <a:avLst/>
          </a:prstGeom>
          <a:noFill/>
          <a:ln/>
        </p:spPr>
        <p:txBody>
          <a:bodyPr wrap="square" lIns="0" tIns="0" rIns="0" bIns="0" rtlCol="0" anchor="ctr"/>
          <a:lstStyle/>
          <a:p>
            <a:pPr indent="0" marL="0">
              <a:buNone/>
            </a:pPr>
            <a:r>
              <a:rPr lang="en-US" sz="1200" dirty="0">
                <a:solidFill>
                  <a:srgbClr val="AEBBD8"/>
                </a:solidFill>
                <a:latin typeface="Calibri" pitchFamily="34" charset="0"/>
                <a:ea typeface="Calibri" pitchFamily="34" charset="-122"/>
                <a:cs typeface="Calibri" pitchFamily="34" charset="-120"/>
              </a:rPr>
              <a:t>The same 999 pairs carry a similarity score and an association score. For antonyms they point in opposite directions:</a:t>
            </a:r>
            <a:endParaRPr lang="en-US" sz="1200" dirty="0"/>
          </a:p>
        </p:txBody>
      </p:sp>
      <p:sp>
        <p:nvSpPr>
          <p:cNvPr id="16" name="Text 14"/>
          <p:cNvSpPr/>
          <p:nvPr/>
        </p:nvSpPr>
        <p:spPr>
          <a:xfrm>
            <a:off x="6858000" y="2834640"/>
            <a:ext cx="448056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old — new</a:t>
            </a:r>
            <a:endParaRPr lang="en-US" sz="2400" dirty="0"/>
          </a:p>
        </p:txBody>
      </p:sp>
      <p:sp>
        <p:nvSpPr>
          <p:cNvPr id="17" name="Text 15"/>
          <p:cNvSpPr/>
          <p:nvPr/>
        </p:nvSpPr>
        <p:spPr>
          <a:xfrm>
            <a:off x="6766560" y="3383280"/>
            <a:ext cx="2194560" cy="685800"/>
          </a:xfrm>
          <a:prstGeom prst="rect">
            <a:avLst/>
          </a:prstGeom>
          <a:noFill/>
          <a:ln/>
        </p:spPr>
        <p:txBody>
          <a:bodyPr wrap="square" lIns="0" tIns="0" rIns="0" bIns="0" rtlCol="0" anchor="ctr"/>
          <a:lstStyle/>
          <a:p>
            <a:pPr algn="ctr" indent="0" marL="0">
              <a:buNone/>
            </a:pPr>
            <a:r>
              <a:rPr lang="en-US" sz="4000" b="1" dirty="0">
                <a:solidFill>
                  <a:srgbClr val="F2C14E"/>
                </a:solidFill>
                <a:latin typeface="Cambria" pitchFamily="34" charset="0"/>
                <a:ea typeface="Cambria" pitchFamily="34" charset="-122"/>
                <a:cs typeface="Cambria" pitchFamily="34" charset="-120"/>
              </a:rPr>
              <a:t>1.58</a:t>
            </a:r>
            <a:endParaRPr lang="en-US" sz="4000" dirty="0"/>
          </a:p>
        </p:txBody>
      </p:sp>
      <p:sp>
        <p:nvSpPr>
          <p:cNvPr id="18" name="Text 16"/>
          <p:cNvSpPr/>
          <p:nvPr/>
        </p:nvSpPr>
        <p:spPr>
          <a:xfrm>
            <a:off x="6766560" y="4041648"/>
            <a:ext cx="2194560" cy="457200"/>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similarity (out of 10)</a:t>
            </a:r>
            <a:endParaRPr lang="en-US" sz="1100" dirty="0"/>
          </a:p>
        </p:txBody>
      </p:sp>
      <p:sp>
        <p:nvSpPr>
          <p:cNvPr id="19" name="Text 17"/>
          <p:cNvSpPr/>
          <p:nvPr/>
        </p:nvSpPr>
        <p:spPr>
          <a:xfrm>
            <a:off x="9144000" y="3383280"/>
            <a:ext cx="2194560" cy="685800"/>
          </a:xfrm>
          <a:prstGeom prst="rect">
            <a:avLst/>
          </a:prstGeom>
          <a:noFill/>
          <a:ln/>
        </p:spPr>
        <p:txBody>
          <a:bodyPr wrap="square" lIns="0" tIns="0" rIns="0" bIns="0" rtlCol="0" anchor="ctr"/>
          <a:lstStyle/>
          <a:p>
            <a:pPr algn="ctr" indent="0" marL="0">
              <a:buNone/>
            </a:pPr>
            <a:r>
              <a:rPr lang="en-US" sz="4000" b="1" dirty="0">
                <a:solidFill>
                  <a:srgbClr val="E8743B"/>
                </a:solidFill>
                <a:latin typeface="Cambria" pitchFamily="34" charset="0"/>
                <a:ea typeface="Cambria" pitchFamily="34" charset="-122"/>
                <a:cs typeface="Cambria" pitchFamily="34" charset="-120"/>
              </a:rPr>
              <a:t>7.25</a:t>
            </a:r>
            <a:endParaRPr lang="en-US" sz="4000" dirty="0"/>
          </a:p>
        </p:txBody>
      </p:sp>
      <p:sp>
        <p:nvSpPr>
          <p:cNvPr id="20" name="Text 18"/>
          <p:cNvSpPr/>
          <p:nvPr/>
        </p:nvSpPr>
        <p:spPr>
          <a:xfrm>
            <a:off x="9144000" y="4041648"/>
            <a:ext cx="2194560" cy="457200"/>
          </a:xfrm>
          <a:prstGeom prst="rect">
            <a:avLst/>
          </a:prstGeom>
          <a:noFill/>
          <a:ln/>
        </p:spPr>
        <p:txBody>
          <a:bodyPr wrap="square" lIns="0" tIns="0" rIns="0" bIns="0" rtlCol="0" anchor="ctr"/>
          <a:lstStyle/>
          <a:p>
            <a:pPr algn="ctr" indent="0" marL="0">
              <a:buNone/>
            </a:pPr>
            <a:r>
              <a:rPr lang="en-US" sz="1100" dirty="0">
                <a:solidFill>
                  <a:srgbClr val="5A6588"/>
                </a:solidFill>
                <a:latin typeface="Calibri" pitchFamily="34" charset="0"/>
                <a:ea typeface="Calibri" pitchFamily="34" charset="-122"/>
                <a:cs typeface="Calibri" pitchFamily="34" charset="-120"/>
              </a:rPr>
              <a:t>association (out of 10)</a:t>
            </a:r>
            <a:endParaRPr lang="en-US" sz="1100" dirty="0"/>
          </a:p>
        </p:txBody>
      </p:sp>
      <p:sp>
        <p:nvSpPr>
          <p:cNvPr id="21" name="Text 19"/>
          <p:cNvSpPr/>
          <p:nvPr/>
        </p:nvSpPr>
        <p:spPr>
          <a:xfrm>
            <a:off x="6858000" y="4434840"/>
            <a:ext cx="4480560" cy="640080"/>
          </a:xfrm>
          <a:prstGeom prst="rect">
            <a:avLst/>
          </a:prstGeom>
          <a:noFill/>
          <a:ln/>
        </p:spPr>
        <p:txBody>
          <a:bodyPr wrap="square" lIns="0" tIns="0" rIns="0" bIns="0" rtlCol="0" anchor="ctr"/>
          <a:lstStyle/>
          <a:p>
            <a:pPr indent="0" marL="0">
              <a:buNone/>
            </a:pPr>
            <a:r>
              <a:rPr lang="en-US" sz="1100" i="1" dirty="0">
                <a:solidFill>
                  <a:srgbClr val="8595BC"/>
                </a:solidFill>
                <a:latin typeface="Calibri" pitchFamily="34" charset="0"/>
                <a:ea typeface="Calibri" pitchFamily="34" charset="-122"/>
                <a:cs typeface="Calibri" pitchFamily="34" charset="-120"/>
              </a:rPr>
              <a:t>Maximally related. Minimally similar. A distributional model sees them constantly in the same contexts and pulls them together.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THE METHOD</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RSR: constrain the similarity ranking</a:t>
            </a:r>
            <a:endParaRPr lang="en-US" sz="3400" dirty="0"/>
          </a:p>
        </p:txBody>
      </p:sp>
      <p:sp>
        <p:nvSpPr>
          <p:cNvPr id="4" name="Shape 2"/>
          <p:cNvSpPr/>
          <p:nvPr/>
        </p:nvSpPr>
        <p:spPr>
          <a:xfrm>
            <a:off x="548640" y="1508760"/>
            <a:ext cx="6766560" cy="1024128"/>
          </a:xfrm>
          <a:prstGeom prst="roundRect">
            <a:avLst>
              <a:gd name="adj" fmla="val 714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5" name="Shape 3"/>
          <p:cNvSpPr/>
          <p:nvPr/>
        </p:nvSpPr>
        <p:spPr>
          <a:xfrm>
            <a:off x="777240" y="1764792"/>
            <a:ext cx="512064" cy="512064"/>
          </a:xfrm>
          <a:prstGeom prst="ellipse">
            <a:avLst/>
          </a:prstGeom>
          <a:solidFill>
            <a:srgbClr val="2A9D8F"/>
          </a:solidFill>
          <a:ln/>
        </p:spPr>
      </p:sp>
      <p:sp>
        <p:nvSpPr>
          <p:cNvPr id="6" name="Text 4"/>
          <p:cNvSpPr/>
          <p:nvPr/>
        </p:nvSpPr>
        <p:spPr>
          <a:xfrm>
            <a:off x="777240" y="176479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81328" y="1691640"/>
            <a:ext cx="5577840" cy="329184"/>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Embed in context</a:t>
            </a:r>
            <a:endParaRPr lang="en-US" sz="1600" dirty="0"/>
          </a:p>
        </p:txBody>
      </p:sp>
      <p:sp>
        <p:nvSpPr>
          <p:cNvPr id="8" name="Text 6"/>
          <p:cNvSpPr/>
          <p:nvPr/>
        </p:nvSpPr>
        <p:spPr>
          <a:xfrm>
            <a:off x="1481328" y="2020824"/>
            <a:ext cx="5669280" cy="45720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Each target word is run inside real Wikipedia sentences; its sub-word vectors are mean-pooled.</a:t>
            </a:r>
            <a:endParaRPr lang="en-US" sz="1200" dirty="0"/>
          </a:p>
        </p:txBody>
      </p:sp>
      <p:sp>
        <p:nvSpPr>
          <p:cNvPr id="9" name="Shape 7"/>
          <p:cNvSpPr/>
          <p:nvPr/>
        </p:nvSpPr>
        <p:spPr>
          <a:xfrm>
            <a:off x="548640" y="2679192"/>
            <a:ext cx="6766560" cy="1024128"/>
          </a:xfrm>
          <a:prstGeom prst="roundRect">
            <a:avLst>
              <a:gd name="adj" fmla="val 714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0" name="Shape 8"/>
          <p:cNvSpPr/>
          <p:nvPr/>
        </p:nvSpPr>
        <p:spPr>
          <a:xfrm>
            <a:off x="777240" y="2935224"/>
            <a:ext cx="512064" cy="512064"/>
          </a:xfrm>
          <a:prstGeom prst="ellipse">
            <a:avLst/>
          </a:prstGeom>
          <a:solidFill>
            <a:srgbClr val="24325C"/>
          </a:solidFill>
          <a:ln/>
        </p:spPr>
      </p:sp>
      <p:sp>
        <p:nvSpPr>
          <p:cNvPr id="11" name="Text 9"/>
          <p:cNvSpPr/>
          <p:nvPr/>
        </p:nvSpPr>
        <p:spPr>
          <a:xfrm>
            <a:off x="777240" y="293522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481328" y="2862072"/>
            <a:ext cx="5577840" cy="329184"/>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Build the model RDM</a:t>
            </a:r>
            <a:endParaRPr lang="en-US" sz="1600" dirty="0"/>
          </a:p>
        </p:txBody>
      </p:sp>
      <p:sp>
        <p:nvSpPr>
          <p:cNvPr id="13" name="Text 11"/>
          <p:cNvSpPr/>
          <p:nvPr/>
        </p:nvSpPr>
        <p:spPr>
          <a:xfrm>
            <a:off x="1481328" y="3191256"/>
            <a:ext cx="5669280" cy="45720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Cosine similarity for every word pair in the batch — the model's own similarity structure.</a:t>
            </a:r>
            <a:endParaRPr lang="en-US" sz="1200" dirty="0"/>
          </a:p>
        </p:txBody>
      </p:sp>
      <p:sp>
        <p:nvSpPr>
          <p:cNvPr id="14" name="Shape 12"/>
          <p:cNvSpPr/>
          <p:nvPr/>
        </p:nvSpPr>
        <p:spPr>
          <a:xfrm>
            <a:off x="548640" y="3849624"/>
            <a:ext cx="6766560" cy="1024128"/>
          </a:xfrm>
          <a:prstGeom prst="roundRect">
            <a:avLst>
              <a:gd name="adj" fmla="val 714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5" name="Shape 13"/>
          <p:cNvSpPr/>
          <p:nvPr/>
        </p:nvSpPr>
        <p:spPr>
          <a:xfrm>
            <a:off x="777240" y="4105656"/>
            <a:ext cx="512064" cy="512064"/>
          </a:xfrm>
          <a:prstGeom prst="ellipse">
            <a:avLst/>
          </a:prstGeom>
          <a:solidFill>
            <a:srgbClr val="E8743B"/>
          </a:solidFill>
          <a:ln/>
        </p:spPr>
      </p:sp>
      <p:sp>
        <p:nvSpPr>
          <p:cNvPr id="16" name="Text 14"/>
          <p:cNvSpPr/>
          <p:nvPr/>
        </p:nvSpPr>
        <p:spPr>
          <a:xfrm>
            <a:off x="777240" y="410565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481328" y="4032504"/>
            <a:ext cx="5577840" cy="329184"/>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Rank against humans</a:t>
            </a:r>
            <a:endParaRPr lang="en-US" sz="1600" dirty="0"/>
          </a:p>
        </p:txBody>
      </p:sp>
      <p:sp>
        <p:nvSpPr>
          <p:cNvPr id="18" name="Text 16"/>
          <p:cNvSpPr/>
          <p:nvPr/>
        </p:nvSpPr>
        <p:spPr>
          <a:xfrm>
            <a:off x="1481328" y="4361688"/>
            <a:ext cx="5669280" cy="45720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A differentiable (soft) Spearman loss pushes that ranking toward human similarity ratings.</a:t>
            </a:r>
            <a:endParaRPr lang="en-US" sz="1200" dirty="0"/>
          </a:p>
        </p:txBody>
      </p:sp>
      <p:sp>
        <p:nvSpPr>
          <p:cNvPr id="19" name="Shape 17"/>
          <p:cNvSpPr/>
          <p:nvPr/>
        </p:nvSpPr>
        <p:spPr>
          <a:xfrm>
            <a:off x="548640" y="5020056"/>
            <a:ext cx="6766560" cy="1024128"/>
          </a:xfrm>
          <a:prstGeom prst="roundRect">
            <a:avLst>
              <a:gd name="adj" fmla="val 7143"/>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20" name="Shape 18"/>
          <p:cNvSpPr/>
          <p:nvPr/>
        </p:nvSpPr>
        <p:spPr>
          <a:xfrm>
            <a:off x="777240" y="5276088"/>
            <a:ext cx="512064" cy="512064"/>
          </a:xfrm>
          <a:prstGeom prst="ellipse">
            <a:avLst/>
          </a:prstGeom>
          <a:solidFill>
            <a:srgbClr val="F2C14E"/>
          </a:solidFill>
          <a:ln/>
        </p:spPr>
      </p:sp>
      <p:sp>
        <p:nvSpPr>
          <p:cNvPr id="21" name="Text 19"/>
          <p:cNvSpPr/>
          <p:nvPr/>
        </p:nvSpPr>
        <p:spPr>
          <a:xfrm>
            <a:off x="777240" y="527608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481328" y="5202936"/>
            <a:ext cx="5577840" cy="329184"/>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Anchor with MLM</a:t>
            </a:r>
            <a:endParaRPr lang="en-US" sz="1600" dirty="0"/>
          </a:p>
        </p:txBody>
      </p:sp>
      <p:sp>
        <p:nvSpPr>
          <p:cNvPr id="23" name="Text 21"/>
          <p:cNvSpPr/>
          <p:nvPr/>
        </p:nvSpPr>
        <p:spPr>
          <a:xfrm>
            <a:off x="1481328" y="5532120"/>
            <a:ext cx="5669280" cy="45720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Masked language modelling runs in every batch, so the model stays a language model.</a:t>
            </a:r>
            <a:endParaRPr lang="en-US" sz="1200" dirty="0"/>
          </a:p>
        </p:txBody>
      </p:sp>
      <p:sp>
        <p:nvSpPr>
          <p:cNvPr id="24" name="Shape 22"/>
          <p:cNvSpPr/>
          <p:nvPr/>
        </p:nvSpPr>
        <p:spPr>
          <a:xfrm>
            <a:off x="7680960" y="1508760"/>
            <a:ext cx="3931920" cy="2286000"/>
          </a:xfrm>
          <a:prstGeom prst="roundRect">
            <a:avLst>
              <a:gd name="adj" fmla="val 3200"/>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25" name="Text 23"/>
          <p:cNvSpPr/>
          <p:nvPr/>
        </p:nvSpPr>
        <p:spPr>
          <a:xfrm>
            <a:off x="7955280" y="1737360"/>
            <a:ext cx="338328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soft Spearman?</a:t>
            </a:r>
            <a:endParaRPr lang="en-US" sz="1500" dirty="0"/>
          </a:p>
        </p:txBody>
      </p:sp>
      <p:sp>
        <p:nvSpPr>
          <p:cNvPr id="26" name="Text 24"/>
          <p:cNvSpPr/>
          <p:nvPr/>
        </p:nvSpPr>
        <p:spPr>
          <a:xfrm>
            <a:off x="7955280" y="2121408"/>
            <a:ext cx="3383280" cy="1188720"/>
          </a:xfrm>
          <a:prstGeom prst="rect">
            <a:avLst/>
          </a:prstGeom>
          <a:noFill/>
          <a:ln/>
        </p:spPr>
        <p:txBody>
          <a:bodyPr wrap="square" lIns="0" tIns="0" rIns="0" bIns="0" rtlCol="0" anchor="ctr"/>
          <a:lstStyle/>
          <a:p>
            <a:pPr indent="0" marL="0">
              <a:buNone/>
            </a:pPr>
            <a:r>
              <a:rPr lang="en-US" sz="1200" dirty="0">
                <a:solidFill>
                  <a:srgbClr val="AEBBD8"/>
                </a:solidFill>
                <a:latin typeface="Calibri" pitchFamily="34" charset="0"/>
                <a:ea typeface="Calibri" pitchFamily="34" charset="-122"/>
                <a:cs typeface="Calibri" pitchFamily="34" charset="-120"/>
              </a:rPr>
              <a:t>We care about the ORDER of similarities, not absolute values. But ranking means sorting, and sorting has no usable gradient — so we use a smooth, differentiable approximation of rank.</a:t>
            </a:r>
            <a:endParaRPr lang="en-US" sz="1200" dirty="0"/>
          </a:p>
        </p:txBody>
      </p:sp>
      <p:sp>
        <p:nvSpPr>
          <p:cNvPr id="27" name="Text 25"/>
          <p:cNvSpPr/>
          <p:nvPr/>
        </p:nvSpPr>
        <p:spPr>
          <a:xfrm>
            <a:off x="7955280" y="3291840"/>
            <a:ext cx="3383280" cy="365760"/>
          </a:xfrm>
          <a:prstGeom prst="rect">
            <a:avLst/>
          </a:prstGeom>
          <a:noFill/>
          <a:ln/>
        </p:spPr>
        <p:txBody>
          <a:bodyPr wrap="square" lIns="0" tIns="0" rIns="0" bIns="0" rtlCol="0" anchor="ctr"/>
          <a:lstStyle/>
          <a:p>
            <a:pPr indent="0" marL="0">
              <a:buNone/>
            </a:pPr>
            <a:r>
              <a:rPr lang="en-US" sz="1700" b="1" dirty="0">
                <a:solidFill>
                  <a:srgbClr val="F2C14E"/>
                </a:solidFill>
                <a:latin typeface="Cambria" pitchFamily="34" charset="0"/>
                <a:ea typeface="Cambria" pitchFamily="34" charset="-122"/>
                <a:cs typeface="Cambria" pitchFamily="34" charset="-120"/>
              </a:rPr>
              <a:t>L = 1 − ρ_soft</a:t>
            </a:r>
            <a:endParaRPr lang="en-US" sz="1700" dirty="0"/>
          </a:p>
        </p:txBody>
      </p:sp>
      <p:sp>
        <p:nvSpPr>
          <p:cNvPr id="28" name="Shape 26"/>
          <p:cNvSpPr/>
          <p:nvPr/>
        </p:nvSpPr>
        <p:spPr>
          <a:xfrm>
            <a:off x="7680960" y="4023360"/>
            <a:ext cx="3931920" cy="1691640"/>
          </a:xfrm>
          <a:prstGeom prst="roundRect">
            <a:avLst>
              <a:gd name="adj" fmla="val 4324"/>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29" name="Text 27"/>
          <p:cNvSpPr/>
          <p:nvPr/>
        </p:nvSpPr>
        <p:spPr>
          <a:xfrm>
            <a:off x="7955280" y="4206240"/>
            <a:ext cx="3383280" cy="292608"/>
          </a:xfrm>
          <a:prstGeom prst="rect">
            <a:avLst/>
          </a:prstGeom>
          <a:noFill/>
          <a:ln/>
        </p:spPr>
        <p:txBody>
          <a:bodyPr wrap="square" lIns="0" tIns="0" rIns="0" bIns="0" rtlCol="0" anchor="ctr"/>
          <a:lstStyle/>
          <a:p>
            <a:pPr indent="0" marL="0">
              <a:buNone/>
            </a:pPr>
            <a:r>
              <a:rPr lang="en-US" sz="1400" b="1" dirty="0">
                <a:solidFill>
                  <a:srgbClr val="141B34"/>
                </a:solidFill>
                <a:latin typeface="Cambria" pitchFamily="34" charset="0"/>
                <a:ea typeface="Cambria" pitchFamily="34" charset="-122"/>
                <a:cs typeface="Cambria" pitchFamily="34" charset="-120"/>
              </a:rPr>
              <a:t>Train on / test on</a:t>
            </a:r>
            <a:endParaRPr lang="en-US" sz="1400" dirty="0"/>
          </a:p>
        </p:txBody>
      </p:sp>
      <p:sp>
        <p:nvSpPr>
          <p:cNvPr id="30" name="Text 28"/>
          <p:cNvSpPr/>
          <p:nvPr/>
        </p:nvSpPr>
        <p:spPr>
          <a:xfrm>
            <a:off x="7955280" y="4526280"/>
            <a:ext cx="3383280" cy="1005840"/>
          </a:xfrm>
          <a:prstGeom prst="rect">
            <a:avLst/>
          </a:prstGeom>
          <a:noFill/>
          <a:ln/>
        </p:spPr>
        <p:txBody>
          <a:bodyPr wrap="square" lIns="0" tIns="0" rIns="0" bIns="0" rtlCol="0" anchor="ctr"/>
          <a:lstStyle/>
          <a:p>
            <a:pPr indent="0" marL="0">
              <a:lnSpc>
                <a:spcPct val="120000"/>
              </a:lnSpc>
              <a:buNone/>
            </a:pPr>
            <a:r>
              <a:rPr lang="en-US" sz="1200" b="1" dirty="0">
                <a:solidFill>
                  <a:srgbClr val="141B34"/>
                </a:solidFill>
                <a:latin typeface="Calibri" pitchFamily="34" charset="0"/>
                <a:ea typeface="Calibri" pitchFamily="34" charset="-122"/>
                <a:cs typeface="Calibri" pitchFamily="34" charset="-120"/>
              </a:rPr>
              <a:t>Supervision:  </a:t>
            </a:r>
            <a:pPr indent="0" marL="0">
              <a:lnSpc>
                <a:spcPct val="120000"/>
              </a:lnSpc>
              <a:buNone/>
            </a:pPr>
            <a:r>
              <a:rPr lang="en-US" sz="1200" dirty="0">
                <a:solidFill>
                  <a:srgbClr val="5A6588"/>
                </a:solidFill>
                <a:latin typeface="Calibri" pitchFamily="34" charset="0"/>
                <a:ea typeface="Calibri" pitchFamily="34" charset="-122"/>
                <a:cs typeface="Calibri" pitchFamily="34" charset="-120"/>
              </a:rPr>
              <a:t>SimVerb-3500 + THINGS
</a:t>
            </a:r>
            <a:pPr indent="0" marL="0">
              <a:lnSpc>
                <a:spcPct val="120000"/>
              </a:lnSpc>
              <a:buNone/>
            </a:pPr>
            <a:r>
              <a:rPr lang="en-US" sz="1200" b="1" dirty="0">
                <a:solidFill>
                  <a:srgbClr val="141B34"/>
                </a:solidFill>
                <a:latin typeface="Calibri" pitchFamily="34" charset="0"/>
                <a:ea typeface="Calibri" pitchFamily="34" charset="-122"/>
                <a:cs typeface="Calibri" pitchFamily="34" charset="-120"/>
              </a:rPr>
              <a:t>Held out:  </a:t>
            </a:r>
            <a:pPr indent="0" marL="0">
              <a:lnSpc>
                <a:spcPct val="120000"/>
              </a:lnSpc>
              <a:buNone/>
            </a:pPr>
            <a:r>
              <a:rPr lang="en-US" sz="1200" dirty="0">
                <a:solidFill>
                  <a:srgbClr val="5A6588"/>
                </a:solidFill>
                <a:latin typeface="Calibri" pitchFamily="34" charset="0"/>
                <a:ea typeface="Calibri" pitchFamily="34" charset="-122"/>
                <a:cs typeface="Calibri" pitchFamily="34" charset="-120"/>
              </a:rPr>
              <a:t>SimLex-999 — never seen in training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RESULT · BERT · 5 SEEDS</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Biggest gains on words it never supervised</a:t>
            </a:r>
            <a:endParaRPr lang="en-US" sz="3400" dirty="0"/>
          </a:p>
        </p:txBody>
      </p:sp>
      <p:graphicFrame>
        <p:nvGraphicFramePr>
          <p:cNvPr id="4" name="Chart 0" descr=""/>
          <p:cNvGraphicFramePr/>
          <p:nvPr/>
        </p:nvGraphicFramePr>
        <p:xfrm>
          <a:off x="502920" y="1508760"/>
          <a:ext cx="740664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83880" y="1508760"/>
            <a:ext cx="3429000" cy="2148840"/>
          </a:xfrm>
          <a:prstGeom prst="roundRect">
            <a:avLst>
              <a:gd name="adj" fmla="val 3404"/>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6" name="Text 3"/>
          <p:cNvSpPr/>
          <p:nvPr/>
        </p:nvSpPr>
        <p:spPr>
          <a:xfrm>
            <a:off x="8412480" y="1719072"/>
            <a:ext cx="2971800" cy="274320"/>
          </a:xfrm>
          <a:prstGeom prst="rect">
            <a:avLst/>
          </a:prstGeom>
          <a:noFill/>
          <a:ln/>
        </p:spPr>
        <p:txBody>
          <a:bodyPr wrap="square" lIns="0" tIns="0" rIns="0" bIns="0" rtlCol="0" anchor="ctr"/>
          <a:lstStyle/>
          <a:p>
            <a:pPr indent="0" marL="0">
              <a:buNone/>
            </a:pPr>
            <a:r>
              <a:rPr lang="en-US" sz="1100" b="1" spc="100" kern="0" dirty="0">
                <a:solidFill>
                  <a:srgbClr val="E8743B"/>
                </a:solidFill>
                <a:latin typeface="Calibri" pitchFamily="34" charset="0"/>
                <a:ea typeface="Calibri" pitchFamily="34" charset="-122"/>
                <a:cs typeface="Calibri" pitchFamily="34" charset="-120"/>
              </a:rPr>
              <a:t>Neither supervised</a:t>
            </a:r>
            <a:endParaRPr lang="en-US" sz="1100" dirty="0"/>
          </a:p>
        </p:txBody>
      </p:sp>
      <p:sp>
        <p:nvSpPr>
          <p:cNvPr id="7" name="Text 4"/>
          <p:cNvSpPr/>
          <p:nvPr/>
        </p:nvSpPr>
        <p:spPr>
          <a:xfrm>
            <a:off x="8412480" y="2011680"/>
            <a:ext cx="297180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+0.053</a:t>
            </a:r>
            <a:endParaRPr lang="en-US" sz="4600" dirty="0"/>
          </a:p>
        </p:txBody>
      </p:sp>
      <p:sp>
        <p:nvSpPr>
          <p:cNvPr id="8" name="Text 5"/>
          <p:cNvSpPr/>
          <p:nvPr/>
        </p:nvSpPr>
        <p:spPr>
          <a:xfrm>
            <a:off x="8412480" y="2788920"/>
            <a:ext cx="2971800" cy="274320"/>
          </a:xfrm>
          <a:prstGeom prst="rect">
            <a:avLst/>
          </a:prstGeom>
          <a:noFill/>
          <a:ln/>
        </p:spPr>
        <p:txBody>
          <a:bodyPr wrap="square" lIns="0" tIns="0" rIns="0" bIns="0" rtlCol="0" anchor="ctr"/>
          <a:lstStyle/>
          <a:p>
            <a:pPr indent="0" marL="0">
              <a:buNone/>
            </a:pPr>
            <a:r>
              <a:rPr lang="en-US" sz="1200" dirty="0">
                <a:solidFill>
                  <a:srgbClr val="AEBBD8"/>
                </a:solidFill>
                <a:latin typeface="Calibri" pitchFamily="34" charset="0"/>
                <a:ea typeface="Calibri" pitchFamily="34" charset="-122"/>
                <a:cs typeface="Calibri" pitchFamily="34" charset="-120"/>
              </a:rPr>
              <a:t>over the matched MLM control</a:t>
            </a:r>
            <a:endParaRPr lang="en-US" sz="1200" dirty="0"/>
          </a:p>
        </p:txBody>
      </p:sp>
      <p:sp>
        <p:nvSpPr>
          <p:cNvPr id="9" name="Text 6"/>
          <p:cNvSpPr/>
          <p:nvPr/>
        </p:nvSpPr>
        <p:spPr>
          <a:xfrm>
            <a:off x="8412480" y="3127248"/>
            <a:ext cx="2971800" cy="365760"/>
          </a:xfrm>
          <a:prstGeom prst="rect">
            <a:avLst/>
          </a:prstGeom>
          <a:noFill/>
          <a:ln/>
        </p:spPr>
        <p:txBody>
          <a:bodyPr wrap="square" lIns="0" tIns="0" rIns="0" bIns="0" rtlCol="0" anchor="ctr"/>
          <a:lstStyle/>
          <a:p>
            <a:pPr indent="0" marL="0">
              <a:buNone/>
            </a:pPr>
            <a:r>
              <a:rPr lang="en-US" sz="1100" dirty="0">
                <a:solidFill>
                  <a:srgbClr val="F2C14E"/>
                </a:solidFill>
                <a:latin typeface="Calibri" pitchFamily="34" charset="0"/>
                <a:ea typeface="Calibri" pitchFamily="34" charset="-122"/>
                <a:cs typeface="Calibri" pitchFamily="34" charset="-120"/>
              </a:rPr>
              <a:t>t = 22.8   ·   p = 0.00002   ·   positive in all 5 seeds</a:t>
            </a:r>
            <a:endParaRPr lang="en-US" sz="1100" dirty="0"/>
          </a:p>
        </p:txBody>
      </p:sp>
      <p:sp>
        <p:nvSpPr>
          <p:cNvPr id="10" name="Shape 7"/>
          <p:cNvSpPr/>
          <p:nvPr/>
        </p:nvSpPr>
        <p:spPr>
          <a:xfrm>
            <a:off x="8183880" y="3840480"/>
            <a:ext cx="3429000" cy="1691640"/>
          </a:xfrm>
          <a:prstGeom prst="roundRect">
            <a:avLst>
              <a:gd name="adj" fmla="val 4324"/>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1" name="Text 8"/>
          <p:cNvSpPr/>
          <p:nvPr/>
        </p:nvSpPr>
        <p:spPr>
          <a:xfrm>
            <a:off x="8412480" y="4023360"/>
            <a:ext cx="2971800" cy="274320"/>
          </a:xfrm>
          <a:prstGeom prst="rect">
            <a:avLst/>
          </a:prstGeom>
          <a:noFill/>
          <a:ln/>
        </p:spPr>
        <p:txBody>
          <a:bodyPr wrap="square" lIns="0" tIns="0" rIns="0" bIns="0" rtlCol="0" anchor="ctr"/>
          <a:lstStyle/>
          <a:p>
            <a:pPr indent="0" marL="0">
              <a:buNone/>
            </a:pPr>
            <a:r>
              <a:rPr lang="en-US" sz="1400" b="1" dirty="0">
                <a:solidFill>
                  <a:srgbClr val="141B34"/>
                </a:solidFill>
                <a:latin typeface="Cambria" pitchFamily="34" charset="0"/>
                <a:ea typeface="Cambria" pitchFamily="34" charset="-122"/>
                <a:cs typeface="Cambria" pitchFamily="34" charset="-120"/>
              </a:rPr>
              <a:t>Why the control matters</a:t>
            </a:r>
            <a:endParaRPr lang="en-US" sz="1400" dirty="0"/>
          </a:p>
        </p:txBody>
      </p:sp>
      <p:sp>
        <p:nvSpPr>
          <p:cNvPr id="12" name="Text 9"/>
          <p:cNvSpPr/>
          <p:nvPr/>
        </p:nvSpPr>
        <p:spPr>
          <a:xfrm>
            <a:off x="8412480" y="4343400"/>
            <a:ext cx="2971800" cy="1097280"/>
          </a:xfrm>
          <a:prstGeom prst="rect">
            <a:avLst/>
          </a:prstGeom>
          <a:noFill/>
          <a:ln/>
        </p:spPr>
        <p:txBody>
          <a:bodyPr wrap="square" lIns="0" tIns="0" rIns="0" bIns="0" rtlCol="0" anchor="ctr"/>
          <a:lstStyle/>
          <a:p>
            <a:pPr indent="0" marL="0">
              <a:buNone/>
            </a:pPr>
            <a:r>
              <a:rPr lang="en-US" sz="1150" dirty="0">
                <a:solidFill>
                  <a:srgbClr val="5A6588"/>
                </a:solidFill>
                <a:latin typeface="Calibri" pitchFamily="34" charset="0"/>
                <a:ea typeface="Calibri" pitchFamily="34" charset="-122"/>
                <a:cs typeface="Calibri" pitchFamily="34" charset="-120"/>
              </a:rPr>
              <a:t>The +MLM model is trained for exactly the same steps without RSR. So the gain is not "more training" — it is the similarity constraint itself, and it shows up on words that received no human ratings at all.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DIAGNOSTIC · NO TRAINING</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Where should we read meaning from?</a:t>
            </a:r>
            <a:endParaRPr lang="en-US" sz="3400" dirty="0"/>
          </a:p>
        </p:txBody>
      </p:sp>
      <p:sp>
        <p:nvSpPr>
          <p:cNvPr id="4" name="Text 2"/>
          <p:cNvSpPr/>
          <p:nvPr/>
        </p:nvSpPr>
        <p:spPr>
          <a:xfrm>
            <a:off x="548640" y="1463040"/>
            <a:ext cx="4572000" cy="1005840"/>
          </a:xfrm>
          <a:prstGeom prst="rect">
            <a:avLst/>
          </a:prstGeom>
          <a:noFill/>
          <a:ln/>
        </p:spPr>
        <p:txBody>
          <a:bodyPr wrap="square" lIns="0" tIns="0" rIns="0" bIns="0" rtlCol="0" anchor="ctr"/>
          <a:lstStyle/>
          <a:p>
            <a:pPr indent="0" marL="0">
              <a:buNone/>
            </a:pPr>
            <a:r>
              <a:rPr lang="en-US" sz="1400" dirty="0">
                <a:solidFill>
                  <a:srgbClr val="5A6588"/>
                </a:solidFill>
                <a:latin typeface="Calibri" pitchFamily="34" charset="0"/>
                <a:ea typeface="Calibri" pitchFamily="34" charset="-122"/>
                <a:cs typeface="Calibri" pitchFamily="34" charset="-120"/>
              </a:rPr>
              <a:t>Before training anything: score every one of BERT's 13 layers on SimLex. Semantic content peaks mid-stack and degrades toward the top — replicating Vulić et al. (2020).</a:t>
            </a:r>
            <a:endParaRPr lang="en-US" sz="1400" dirty="0"/>
          </a:p>
        </p:txBody>
      </p:sp>
      <p:sp>
        <p:nvSpPr>
          <p:cNvPr id="5" name="Shape 3"/>
          <p:cNvSpPr/>
          <p:nvPr/>
        </p:nvSpPr>
        <p:spPr>
          <a:xfrm>
            <a:off x="548640" y="2606040"/>
            <a:ext cx="2148840" cy="1371600"/>
          </a:xfrm>
          <a:prstGeom prst="roundRect">
            <a:avLst>
              <a:gd name="adj" fmla="val 5333"/>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6" name="Text 4"/>
          <p:cNvSpPr/>
          <p:nvPr/>
        </p:nvSpPr>
        <p:spPr>
          <a:xfrm>
            <a:off x="548640" y="2761488"/>
            <a:ext cx="2148840" cy="548640"/>
          </a:xfrm>
          <a:prstGeom prst="rect">
            <a:avLst/>
          </a:prstGeom>
          <a:noFill/>
          <a:ln/>
        </p:spPr>
        <p:txBody>
          <a:bodyPr wrap="square" lIns="0" tIns="0" rIns="0" bIns="0" rtlCol="0" anchor="ctr"/>
          <a:lstStyle/>
          <a:p>
            <a:pPr algn="ctr" indent="0" marL="0">
              <a:buNone/>
            </a:pPr>
            <a:r>
              <a:rPr lang="en-US" sz="3000" b="1" dirty="0">
                <a:solidFill>
                  <a:srgbClr val="E8743B"/>
                </a:solidFill>
                <a:latin typeface="Cambria" pitchFamily="34" charset="0"/>
                <a:ea typeface="Cambria" pitchFamily="34" charset="-122"/>
                <a:cs typeface="Cambria" pitchFamily="34" charset="-120"/>
              </a:rPr>
              <a:t>0.523</a:t>
            </a:r>
            <a:endParaRPr lang="en-US" sz="3000" dirty="0"/>
          </a:p>
        </p:txBody>
      </p:sp>
      <p:sp>
        <p:nvSpPr>
          <p:cNvPr id="7" name="Text 5"/>
          <p:cNvSpPr/>
          <p:nvPr/>
        </p:nvSpPr>
        <p:spPr>
          <a:xfrm>
            <a:off x="548640" y="3310128"/>
            <a:ext cx="21488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layer 7 — best</a:t>
            </a:r>
            <a:endParaRPr lang="en-US" sz="1100" dirty="0"/>
          </a:p>
        </p:txBody>
      </p:sp>
      <p:sp>
        <p:nvSpPr>
          <p:cNvPr id="8" name="Text 6"/>
          <p:cNvSpPr/>
          <p:nvPr/>
        </p:nvSpPr>
        <p:spPr>
          <a:xfrm>
            <a:off x="548640" y="3566160"/>
            <a:ext cx="2148840" cy="274320"/>
          </a:xfrm>
          <a:prstGeom prst="rect">
            <a:avLst/>
          </a:prstGeom>
          <a:noFill/>
          <a:ln/>
        </p:spPr>
        <p:txBody>
          <a:bodyPr wrap="square" lIns="0" tIns="0" rIns="0" bIns="0" rtlCol="0" anchor="ctr"/>
          <a:lstStyle/>
          <a:p>
            <a:pPr algn="ctr" indent="0" marL="0">
              <a:buNone/>
            </a:pPr>
            <a:r>
              <a:rPr lang="en-US" sz="1000" i="1" dirty="0">
                <a:solidFill>
                  <a:srgbClr val="8595BC"/>
                </a:solidFill>
                <a:latin typeface="Calibri" pitchFamily="34" charset="0"/>
                <a:ea typeface="Calibri" pitchFamily="34" charset="-122"/>
                <a:cs typeface="Calibri" pitchFamily="34" charset="-120"/>
              </a:rPr>
              <a:t>mid-stack peak</a:t>
            </a:r>
            <a:endParaRPr lang="en-US" sz="1000" dirty="0"/>
          </a:p>
        </p:txBody>
      </p:sp>
      <p:sp>
        <p:nvSpPr>
          <p:cNvPr id="9" name="Shape 7"/>
          <p:cNvSpPr/>
          <p:nvPr/>
        </p:nvSpPr>
        <p:spPr>
          <a:xfrm>
            <a:off x="2971800" y="2606040"/>
            <a:ext cx="2148840" cy="1371600"/>
          </a:xfrm>
          <a:prstGeom prst="roundRect">
            <a:avLst>
              <a:gd name="adj" fmla="val 5333"/>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0" name="Text 8"/>
          <p:cNvSpPr/>
          <p:nvPr/>
        </p:nvSpPr>
        <p:spPr>
          <a:xfrm>
            <a:off x="2971800" y="2761488"/>
            <a:ext cx="2148840" cy="548640"/>
          </a:xfrm>
          <a:prstGeom prst="rect">
            <a:avLst/>
          </a:prstGeom>
          <a:noFill/>
          <a:ln/>
        </p:spPr>
        <p:txBody>
          <a:bodyPr wrap="square" lIns="0" tIns="0" rIns="0" bIns="0" rtlCol="0" anchor="ctr"/>
          <a:lstStyle/>
          <a:p>
            <a:pPr algn="ctr" indent="0" marL="0">
              <a:buNone/>
            </a:pPr>
            <a:r>
              <a:rPr lang="en-US" sz="3000" b="1" dirty="0">
                <a:solidFill>
                  <a:srgbClr val="5A6588"/>
                </a:solidFill>
                <a:latin typeface="Cambria" pitchFamily="34" charset="0"/>
                <a:ea typeface="Cambria" pitchFamily="34" charset="-122"/>
                <a:cs typeface="Cambria" pitchFamily="34" charset="-120"/>
              </a:rPr>
              <a:t>0.492</a:t>
            </a:r>
            <a:endParaRPr lang="en-US" sz="3000" dirty="0"/>
          </a:p>
        </p:txBody>
      </p:sp>
      <p:sp>
        <p:nvSpPr>
          <p:cNvPr id="11" name="Text 9"/>
          <p:cNvSpPr/>
          <p:nvPr/>
        </p:nvSpPr>
        <p:spPr>
          <a:xfrm>
            <a:off x="2971800" y="3310128"/>
            <a:ext cx="2148840" cy="274320"/>
          </a:xfrm>
          <a:prstGeom prst="rect">
            <a:avLst/>
          </a:prstGeom>
          <a:noFill/>
          <a:ln/>
        </p:spPr>
        <p:txBody>
          <a:bodyPr wrap="square" lIns="0" tIns="0" rIns="0" bIns="0" rtlCol="0" anchor="ctr"/>
          <a:lstStyle/>
          <a:p>
            <a:pPr algn="ctr" indent="0" marL="0">
              <a:buNone/>
            </a:pPr>
            <a:r>
              <a:rPr lang="en-US" sz="1100" dirty="0">
                <a:solidFill>
                  <a:srgbClr val="141B34"/>
                </a:solidFill>
                <a:latin typeface="Calibri" pitchFamily="34" charset="0"/>
                <a:ea typeface="Calibri" pitchFamily="34" charset="-122"/>
                <a:cs typeface="Calibri" pitchFamily="34" charset="-120"/>
              </a:rPr>
              <a:t>layer 12 — final</a:t>
            </a:r>
            <a:endParaRPr lang="en-US" sz="1100" dirty="0"/>
          </a:p>
        </p:txBody>
      </p:sp>
      <p:sp>
        <p:nvSpPr>
          <p:cNvPr id="12" name="Text 10"/>
          <p:cNvSpPr/>
          <p:nvPr/>
        </p:nvSpPr>
        <p:spPr>
          <a:xfrm>
            <a:off x="2971800" y="3566160"/>
            <a:ext cx="2148840" cy="274320"/>
          </a:xfrm>
          <a:prstGeom prst="rect">
            <a:avLst/>
          </a:prstGeom>
          <a:noFill/>
          <a:ln/>
        </p:spPr>
        <p:txBody>
          <a:bodyPr wrap="square" lIns="0" tIns="0" rIns="0" bIns="0" rtlCol="0" anchor="ctr"/>
          <a:lstStyle/>
          <a:p>
            <a:pPr algn="ctr" indent="0" marL="0">
              <a:buNone/>
            </a:pPr>
            <a:r>
              <a:rPr lang="en-US" sz="1000" i="1" dirty="0">
                <a:solidFill>
                  <a:srgbClr val="5A6588"/>
                </a:solidFill>
                <a:latin typeface="Calibri" pitchFamily="34" charset="0"/>
                <a:ea typeface="Calibri" pitchFamily="34" charset="-122"/>
                <a:cs typeface="Calibri" pitchFamily="34" charset="-120"/>
              </a:rPr>
              <a:t>what we had been using</a:t>
            </a:r>
            <a:endParaRPr lang="en-US" sz="1000" dirty="0"/>
          </a:p>
        </p:txBody>
      </p:sp>
      <p:sp>
        <p:nvSpPr>
          <p:cNvPr id="13" name="Text 11"/>
          <p:cNvSpPr/>
          <p:nvPr/>
        </p:nvSpPr>
        <p:spPr>
          <a:xfrm>
            <a:off x="548640" y="4206240"/>
            <a:ext cx="4572000" cy="914400"/>
          </a:xfrm>
          <a:prstGeom prst="rect">
            <a:avLst/>
          </a:prstGeom>
          <a:noFill/>
          <a:ln/>
        </p:spPr>
        <p:txBody>
          <a:bodyPr wrap="square" lIns="0" tIns="0" rIns="0" bIns="0" rtlCol="0" anchor="ctr"/>
          <a:lstStyle/>
          <a:p>
            <a:pPr indent="0" marL="0">
              <a:buNone/>
            </a:pPr>
            <a:r>
              <a:rPr lang="en-US" sz="1250" i="1" dirty="0">
                <a:solidFill>
                  <a:srgbClr val="5A6588"/>
                </a:solidFill>
                <a:latin typeface="Calibri" pitchFamily="34" charset="0"/>
                <a:ea typeface="Calibri" pitchFamily="34" charset="-122"/>
                <a:cs typeface="Calibri" pitchFamily="34" charset="-120"/>
              </a:rPr>
              <a:t>The top layers specialise for the masked-token objective and lose general lexical structure. Reading from layer 7 raised the baseline for free.</a:t>
            </a:r>
            <a:endParaRPr lang="en-US" sz="1250" dirty="0"/>
          </a:p>
        </p:txBody>
      </p:sp>
      <p:graphicFrame>
        <p:nvGraphicFramePr>
          <p:cNvPr id="14" name="Chart 0" descr=""/>
          <p:cNvGraphicFramePr/>
          <p:nvPr/>
        </p:nvGraphicFramePr>
        <p:xfrm>
          <a:off x="5440680" y="1481328"/>
          <a:ext cx="62179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REPLICATION · 4 MODES × 8000 STEPS × 2 REPLICATES</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Your RoBERTa experiments reproduce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914400"/>
        </p:xfrm>
        <a:graphic>
          <a:graphicData uri="http://schemas.openxmlformats.org/drawingml/2006/table">
            <a:tbl>
              <a:tblPr/>
              <a:tblGrid>
                <a:gridCol w="2377440"/>
                <a:gridCol w="1051560"/>
                <a:gridCol w="1051560"/>
                <a:gridCol w="24688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Ours</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Yours</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5A6588"/>
                          </a:solidFill>
                          <a:latin typeface="Calibri" pitchFamily="34" charset="0"/>
                          <a:ea typeface="Calibri" pitchFamily="34" charset="-122"/>
                          <a:cs typeface="Calibri" pitchFamily="34" charset="-120"/>
                        </a:rPr>
                        <a:t>baseline (step 0)</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588"/>
                          </a:solidFill>
                          <a:latin typeface="Calibri" pitchFamily="34" charset="0"/>
                          <a:ea typeface="Calibri" pitchFamily="34" charset="-122"/>
                          <a:cs typeface="Calibri" pitchFamily="34" charset="-120"/>
                        </a:rPr>
                        <a:t>0.570</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588"/>
                          </a:solidFill>
                          <a:latin typeface="Calibri" pitchFamily="34" charset="0"/>
                          <a:ea typeface="Calibri" pitchFamily="34" charset="-122"/>
                          <a:cs typeface="Calibri" pitchFamily="34" charset="-120"/>
                        </a:rPr>
                        <a:t>0.557</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A6588"/>
                          </a:solidFill>
                          <a:latin typeface="Calibri" pitchFamily="34" charset="0"/>
                          <a:ea typeface="Calibri" pitchFamily="34" charset="-122"/>
                          <a:cs typeface="Calibri" pitchFamily="34" charset="-120"/>
                        </a:rPr>
                        <a:t>matches</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5A6588"/>
                          </a:solidFill>
                          <a:latin typeface="Calibri" pitchFamily="34" charset="0"/>
                          <a:ea typeface="Calibri" pitchFamily="34" charset="-122"/>
                          <a:cs typeface="Calibri" pitchFamily="34" charset="-120"/>
                        </a:rPr>
                        <a:t>vanilla_all</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588"/>
                          </a:solidFill>
                          <a:latin typeface="Calibri" pitchFamily="34" charset="0"/>
                          <a:ea typeface="Calibri" pitchFamily="34" charset="-122"/>
                          <a:cs typeface="Calibri" pitchFamily="34" charset="-120"/>
                        </a:rPr>
                        <a:t>0.560</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588"/>
                          </a:solidFill>
                          <a:latin typeface="Calibri" pitchFamily="34" charset="0"/>
                          <a:ea typeface="Calibri" pitchFamily="34" charset="-122"/>
                          <a:cs typeface="Calibri" pitchFamily="34" charset="-120"/>
                        </a:rPr>
                        <a:t>0.549</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A6588"/>
                          </a:solidFill>
                          <a:latin typeface="Calibri" pitchFamily="34" charset="0"/>
                          <a:ea typeface="Calibri" pitchFamily="34" charset="-122"/>
                          <a:cs typeface="Calibri" pitchFamily="34" charset="-120"/>
                        </a:rPr>
                        <a:t>flat, as reported</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5A6588"/>
                          </a:solidFill>
                          <a:latin typeface="Calibri" pitchFamily="34" charset="0"/>
                          <a:ea typeface="Calibri" pitchFamily="34" charset="-122"/>
                          <a:cs typeface="Calibri" pitchFamily="34" charset="-120"/>
                        </a:rPr>
                        <a:t>vanilla_targetwords</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588"/>
                          </a:solidFill>
                          <a:latin typeface="Calibri" pitchFamily="34" charset="0"/>
                          <a:ea typeface="Calibri" pitchFamily="34" charset="-122"/>
                          <a:cs typeface="Calibri" pitchFamily="34" charset="-120"/>
                        </a:rPr>
                        <a:t>0.571</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A6588"/>
                          </a:solidFill>
                          <a:latin typeface="Calibri" pitchFamily="34" charset="0"/>
                          <a:ea typeface="Calibri" pitchFamily="34" charset="-122"/>
                          <a:cs typeface="Calibri" pitchFamily="34" charset="-120"/>
                        </a:rPr>
                        <a:t>0.558</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A6588"/>
                          </a:solidFill>
                          <a:latin typeface="Calibri" pitchFamily="34" charset="0"/>
                          <a:ea typeface="Calibri" pitchFamily="34" charset="-122"/>
                          <a:cs typeface="Calibri" pitchFamily="34" charset="-120"/>
                        </a:rPr>
                        <a:t>flat, as reported</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41B34"/>
                          </a:solidFill>
                          <a:latin typeface="Calibri" pitchFamily="34" charset="0"/>
                          <a:ea typeface="Calibri" pitchFamily="34" charset="-122"/>
                          <a:cs typeface="Calibri" pitchFamily="34" charset="-120"/>
                        </a:rPr>
                        <a:t>rsr_all (templates)</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B34"/>
                          </a:solidFill>
                          <a:latin typeface="Calibri" pitchFamily="34" charset="0"/>
                          <a:ea typeface="Calibri" pitchFamily="34" charset="-122"/>
                          <a:cs typeface="Calibri" pitchFamily="34" charset="-120"/>
                        </a:rPr>
                        <a:t>0.627</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B34"/>
                          </a:solidFill>
                          <a:latin typeface="Calibri" pitchFamily="34" charset="0"/>
                          <a:ea typeface="Calibri" pitchFamily="34" charset="-122"/>
                          <a:cs typeface="Calibri" pitchFamily="34" charset="-120"/>
                        </a:rPr>
                        <a:t>0.611</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41B34"/>
                          </a:solidFill>
                          <a:latin typeface="Calibri" pitchFamily="34" charset="0"/>
                          <a:ea typeface="Calibri" pitchFamily="34" charset="-122"/>
                          <a:cs typeface="Calibri" pitchFamily="34" charset="-120"/>
                        </a:rPr>
                        <a:t>helps — confirmed</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41B34"/>
                          </a:solidFill>
                          <a:latin typeface="Calibri" pitchFamily="34" charset="0"/>
                          <a:ea typeface="Calibri" pitchFamily="34" charset="-122"/>
                          <a:cs typeface="Calibri" pitchFamily="34" charset="-120"/>
                        </a:rPr>
                        <a:t>rsr_targetwords (real)</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B34"/>
                          </a:solidFill>
                          <a:latin typeface="Calibri" pitchFamily="34" charset="0"/>
                          <a:ea typeface="Calibri" pitchFamily="34" charset="-122"/>
                          <a:cs typeface="Calibri" pitchFamily="34" charset="-120"/>
                        </a:rPr>
                        <a:t>0.477</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1B34"/>
                          </a:solidFill>
                          <a:latin typeface="Calibri" pitchFamily="34" charset="0"/>
                          <a:ea typeface="Calibri" pitchFamily="34" charset="-122"/>
                          <a:cs typeface="Calibri" pitchFamily="34" charset="-120"/>
                        </a:rPr>
                        <a:t>0.486</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41B34"/>
                          </a:solidFill>
                          <a:latin typeface="Calibri" pitchFamily="34" charset="0"/>
                          <a:ea typeface="Calibri" pitchFamily="34" charset="-122"/>
                          <a:cs typeface="Calibri" pitchFamily="34" charset="-120"/>
                        </a:rPr>
                        <a:t>collapses — confirmed</a:t>
                      </a:r>
                      <a:endParaRPr lang="en-US" sz="1200" dirty="0">
                        <a:latin typeface="Calibri" charset="0"/>
                        <a:ea typeface="Calibri" charset="0"/>
                        <a:cs typeface="Calibri" charset="0"/>
                      </a:endParaRPr>
                    </a:p>
                  </a:txBody>
                  <a:tcPr marL="91440" marR="91440" marT="45720" marB="45720"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1554480"/>
            <a:ext cx="6949440" cy="384048"/>
          </a:xfrm>
          <a:prstGeom prst="rect">
            <a:avLst/>
          </a:prstGeom>
          <a:solidFill>
            <a:srgbClr val="141B34"/>
          </a:solidFill>
          <a:ln/>
        </p:spPr>
      </p:sp>
      <p:sp>
        <p:nvSpPr>
          <p:cNvPr id="6" name="Text 3"/>
          <p:cNvSpPr/>
          <p:nvPr/>
        </p:nvSpPr>
        <p:spPr>
          <a:xfrm>
            <a:off x="658368" y="1554480"/>
            <a:ext cx="22860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a:t>
            </a:r>
            <a:endParaRPr lang="en-US" sz="1200" dirty="0"/>
          </a:p>
        </p:txBody>
      </p:sp>
      <p:sp>
        <p:nvSpPr>
          <p:cNvPr id="7" name="Text 4"/>
          <p:cNvSpPr/>
          <p:nvPr/>
        </p:nvSpPr>
        <p:spPr>
          <a:xfrm>
            <a:off x="2926080" y="1554480"/>
            <a:ext cx="1051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Ours</a:t>
            </a:r>
            <a:endParaRPr lang="en-US" sz="1200" dirty="0"/>
          </a:p>
        </p:txBody>
      </p:sp>
      <p:sp>
        <p:nvSpPr>
          <p:cNvPr id="8" name="Text 5"/>
          <p:cNvSpPr/>
          <p:nvPr/>
        </p:nvSpPr>
        <p:spPr>
          <a:xfrm>
            <a:off x="3977640" y="1554480"/>
            <a:ext cx="1051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Yours</a:t>
            </a:r>
            <a:endParaRPr lang="en-US" sz="1200" dirty="0"/>
          </a:p>
        </p:txBody>
      </p:sp>
      <p:sp>
        <p:nvSpPr>
          <p:cNvPr id="9" name="Text 6"/>
          <p:cNvSpPr/>
          <p:nvPr/>
        </p:nvSpPr>
        <p:spPr>
          <a:xfrm>
            <a:off x="5138928" y="1554480"/>
            <a:ext cx="22860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p>
        </p:txBody>
      </p:sp>
      <p:sp>
        <p:nvSpPr>
          <p:cNvPr id="10" name="Text 7"/>
          <p:cNvSpPr/>
          <p:nvPr/>
        </p:nvSpPr>
        <p:spPr>
          <a:xfrm>
            <a:off x="548640" y="4251960"/>
            <a:ext cx="6949440" cy="82296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Rebuilt from your code on our GPU, data regenerated with your own scripts. All numbers sit ~0.013 higher because our Wikipedia stream collected 405k sentences to your 336k — the ordering and every conclusion hold.</a:t>
            </a:r>
            <a:endParaRPr lang="en-US" sz="1200" dirty="0"/>
          </a:p>
        </p:txBody>
      </p:sp>
      <p:sp>
        <p:nvSpPr>
          <p:cNvPr id="11" name="Shape 8"/>
          <p:cNvSpPr/>
          <p:nvPr/>
        </p:nvSpPr>
        <p:spPr>
          <a:xfrm>
            <a:off x="7863840" y="1554480"/>
            <a:ext cx="3749040" cy="1828800"/>
          </a:xfrm>
          <a:prstGeom prst="roundRect">
            <a:avLst>
              <a:gd name="adj" fmla="val 4000"/>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2" name="Text 9"/>
          <p:cNvSpPr/>
          <p:nvPr/>
        </p:nvSpPr>
        <p:spPr>
          <a:xfrm>
            <a:off x="8092440" y="1737360"/>
            <a:ext cx="3291840" cy="292608"/>
          </a:xfrm>
          <a:prstGeom prst="rect">
            <a:avLst/>
          </a:prstGeom>
          <a:noFill/>
          <a:ln/>
        </p:spPr>
        <p:txBody>
          <a:bodyPr wrap="square" lIns="0" tIns="0" rIns="0" bIns="0" rtlCol="0" anchor="ctr"/>
          <a:lstStyle/>
          <a:p>
            <a:pPr indent="0" marL="0">
              <a:buNone/>
            </a:pPr>
            <a:r>
              <a:rPr lang="en-US" sz="1500" b="1" dirty="0">
                <a:solidFill>
                  <a:srgbClr val="F2C14E"/>
                </a:solidFill>
                <a:latin typeface="Cambria" pitchFamily="34" charset="0"/>
                <a:ea typeface="Cambria" pitchFamily="34" charset="-122"/>
                <a:cs typeface="Cambria" pitchFamily="34" charset="-120"/>
              </a:rPr>
              <a:t>One correction</a:t>
            </a:r>
            <a:endParaRPr lang="en-US" sz="1500" dirty="0"/>
          </a:p>
        </p:txBody>
      </p:sp>
      <p:sp>
        <p:nvSpPr>
          <p:cNvPr id="13" name="Text 10"/>
          <p:cNvSpPr/>
          <p:nvPr/>
        </p:nvSpPr>
        <p:spPr>
          <a:xfrm>
            <a:off x="8092440" y="2103120"/>
            <a:ext cx="3291840" cy="822960"/>
          </a:xfrm>
          <a:prstGeom prst="rect">
            <a:avLst/>
          </a:prstGeom>
          <a:noFill/>
          <a:ln/>
        </p:spPr>
        <p:txBody>
          <a:bodyPr wrap="square" lIns="0" tIns="0" rIns="0" bIns="0" rtlCol="0" anchor="ctr"/>
          <a:lstStyle/>
          <a:p>
            <a:pPr indent="0" marL="0">
              <a:buNone/>
            </a:pPr>
            <a:r>
              <a:rPr lang="en-US" sz="1150" dirty="0">
                <a:solidFill>
                  <a:srgbClr val="AEBBD8"/>
                </a:solidFill>
                <a:latin typeface="Calibri" pitchFamily="34" charset="0"/>
                <a:ea typeface="Calibri" pitchFamily="34" charset="-122"/>
                <a:cs typeface="Calibri" pitchFamily="34" charset="-120"/>
              </a:rPr>
              <a:t>The report says rsr_targetwords used 4 edge-pairs per batch due to VRAM. The code uses 24 for both RSR modes (train.py:203).</a:t>
            </a:r>
            <a:endParaRPr lang="en-US" sz="1150" dirty="0"/>
          </a:p>
        </p:txBody>
      </p:sp>
      <p:sp>
        <p:nvSpPr>
          <p:cNvPr id="14" name="Text 11"/>
          <p:cNvSpPr/>
          <p:nvPr/>
        </p:nvSpPr>
        <p:spPr>
          <a:xfrm>
            <a:off x="8092440" y="2880360"/>
            <a:ext cx="329184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So the collapse is real — not a small-batch artefact.</a:t>
            </a:r>
            <a:endParaRPr lang="en-US" sz="1150" dirty="0"/>
          </a:p>
        </p:txBody>
      </p:sp>
      <p:sp>
        <p:nvSpPr>
          <p:cNvPr id="15" name="Shape 12"/>
          <p:cNvSpPr/>
          <p:nvPr/>
        </p:nvSpPr>
        <p:spPr>
          <a:xfrm>
            <a:off x="7863840" y="3566160"/>
            <a:ext cx="3749040" cy="1508760"/>
          </a:xfrm>
          <a:prstGeom prst="roundRect">
            <a:avLst>
              <a:gd name="adj" fmla="val 4848"/>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6" name="Text 13"/>
          <p:cNvSpPr/>
          <p:nvPr/>
        </p:nvSpPr>
        <p:spPr>
          <a:xfrm>
            <a:off x="8092440" y="3730752"/>
            <a:ext cx="3291840" cy="274320"/>
          </a:xfrm>
          <a:prstGeom prst="rect">
            <a:avLst/>
          </a:prstGeom>
          <a:noFill/>
          <a:ln/>
        </p:spPr>
        <p:txBody>
          <a:bodyPr wrap="square" lIns="0" tIns="0" rIns="0" bIns="0" rtlCol="0" anchor="ctr"/>
          <a:lstStyle/>
          <a:p>
            <a:pPr indent="0" marL="0">
              <a:buNone/>
            </a:pPr>
            <a:r>
              <a:rPr lang="en-US" sz="1400" b="1" dirty="0">
                <a:solidFill>
                  <a:srgbClr val="141B34"/>
                </a:solidFill>
                <a:latin typeface="Cambria" pitchFamily="34" charset="0"/>
                <a:ea typeface="Cambria" pitchFamily="34" charset="-122"/>
                <a:cs typeface="Cambria" pitchFamily="34" charset="-120"/>
              </a:rPr>
              <a:t>Also worth a look</a:t>
            </a:r>
            <a:endParaRPr lang="en-US" sz="1400" dirty="0"/>
          </a:p>
        </p:txBody>
      </p:sp>
      <p:sp>
        <p:nvSpPr>
          <p:cNvPr id="17" name="Text 14"/>
          <p:cNvSpPr/>
          <p:nvPr/>
        </p:nvSpPr>
        <p:spPr>
          <a:xfrm>
            <a:off x="8092440" y="4023360"/>
            <a:ext cx="3291840" cy="914400"/>
          </a:xfrm>
          <a:prstGeom prst="rect">
            <a:avLst/>
          </a:prstGeom>
          <a:noFill/>
          <a:ln/>
        </p:spPr>
        <p:txBody>
          <a:bodyPr wrap="square" lIns="0" tIns="0" rIns="0" bIns="0" rtlCol="0" anchor="ctr"/>
          <a:lstStyle/>
          <a:p>
            <a:pPr indent="0" marL="0">
              <a:buNone/>
            </a:pPr>
            <a:r>
              <a:rPr lang="en-US" sz="1100" dirty="0">
                <a:solidFill>
                  <a:srgbClr val="5A6588"/>
                </a:solidFill>
                <a:latin typeface="Calibri" pitchFamily="34" charset="0"/>
                <a:ea typeface="Calibri" pitchFamily="34" charset="-122"/>
                <a:cs typeface="Calibri" pitchFamily="34" charset="-120"/>
              </a:rPr>
              <a:t>The downstream GLUE table looks unconverged — roberta-base scores 0.000 on STS-B and CoLA, and all three models land on exactly 0.4729 for RTE (majority class). Happy to take that 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THE OPEN QUESTION</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Destructive contexts — or just unanchored?</a:t>
            </a:r>
            <a:endParaRPr lang="en-US" sz="3400" dirty="0"/>
          </a:p>
        </p:txBody>
      </p:sp>
      <p:sp>
        <p:nvSpPr>
          <p:cNvPr id="4" name="Shape 2"/>
          <p:cNvSpPr/>
          <p:nvPr/>
        </p:nvSpPr>
        <p:spPr>
          <a:xfrm>
            <a:off x="548640" y="1508760"/>
            <a:ext cx="5349240" cy="1920240"/>
          </a:xfrm>
          <a:prstGeom prst="roundRect">
            <a:avLst>
              <a:gd name="adj" fmla="val 3810"/>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5" name="Text 3"/>
          <p:cNvSpPr/>
          <p:nvPr/>
        </p:nvSpPr>
        <p:spPr>
          <a:xfrm>
            <a:off x="822960" y="1691640"/>
            <a:ext cx="4754880" cy="320040"/>
          </a:xfrm>
          <a:prstGeom prst="rect">
            <a:avLst/>
          </a:prstGeom>
          <a:noFill/>
          <a:ln/>
        </p:spPr>
        <p:txBody>
          <a:bodyPr wrap="square" lIns="0" tIns="0" rIns="0" bIns="0" rtlCol="0" anchor="ctr"/>
          <a:lstStyle/>
          <a:p>
            <a:pPr indent="0" marL="0">
              <a:buNone/>
            </a:pPr>
            <a:r>
              <a:rPr lang="en-US" sz="1700" b="1" dirty="0">
                <a:solidFill>
                  <a:srgbClr val="141B34"/>
                </a:solidFill>
                <a:latin typeface="Cambria" pitchFamily="34" charset="0"/>
                <a:ea typeface="Cambria" pitchFamily="34" charset="-122"/>
                <a:cs typeface="Cambria" pitchFamily="34" charset="-120"/>
              </a:rPr>
              <a:t>Your RoBERTa</a:t>
            </a:r>
            <a:endParaRPr lang="en-US" sz="1700" dirty="0"/>
          </a:p>
        </p:txBody>
      </p:sp>
      <p:sp>
        <p:nvSpPr>
          <p:cNvPr id="6" name="Text 4"/>
          <p:cNvSpPr/>
          <p:nvPr/>
        </p:nvSpPr>
        <p:spPr>
          <a:xfrm>
            <a:off x="822960" y="2057400"/>
            <a:ext cx="4754880" cy="822960"/>
          </a:xfrm>
          <a:prstGeom prst="rect">
            <a:avLst/>
          </a:prstGeom>
          <a:noFill/>
          <a:ln/>
        </p:spPr>
        <p:txBody>
          <a:bodyPr wrap="square" lIns="0" tIns="0" rIns="0" bIns="0" rtlCol="0" anchor="ctr"/>
          <a:lstStyle/>
          <a:p>
            <a:pPr indent="0" marL="0">
              <a:buNone/>
            </a:pPr>
            <a:r>
              <a:rPr lang="en-US" sz="1250" dirty="0">
                <a:solidFill>
                  <a:srgbClr val="5A6588"/>
                </a:solidFill>
                <a:latin typeface="Calibri" pitchFamily="34" charset="0"/>
                <a:ea typeface="Calibri" pitchFamily="34" charset="-122"/>
                <a:cs typeface="Calibri" pitchFamily="34" charset="-120"/>
              </a:rPr>
              <a:t>RSR on real Wikipedia sentences collapses (0.57 → 0.48). Conclusion in the report: RSR should only ever be applied to context-free templates.</a:t>
            </a:r>
            <a:endParaRPr lang="en-US" sz="1250" dirty="0"/>
          </a:p>
        </p:txBody>
      </p:sp>
      <p:sp>
        <p:nvSpPr>
          <p:cNvPr id="7" name="Text 5"/>
          <p:cNvSpPr/>
          <p:nvPr/>
        </p:nvSpPr>
        <p:spPr>
          <a:xfrm>
            <a:off x="822960" y="2926080"/>
            <a:ext cx="4754880" cy="320040"/>
          </a:xfrm>
          <a:prstGeom prst="rect">
            <a:avLst/>
          </a:prstGeom>
          <a:noFill/>
          <a:ln/>
        </p:spPr>
        <p:txBody>
          <a:bodyPr wrap="square" lIns="0" tIns="0" rIns="0" bIns="0" rtlCol="0" anchor="ctr"/>
          <a:lstStyle/>
          <a:p>
            <a:pPr indent="0" marL="0">
              <a:buNone/>
            </a:pPr>
            <a:r>
              <a:rPr lang="en-US" sz="1150" b="1" dirty="0">
                <a:solidFill>
                  <a:srgbClr val="E8743B"/>
                </a:solidFill>
                <a:latin typeface="Calibri" pitchFamily="34" charset="0"/>
                <a:ea typeface="Calibri" pitchFamily="34" charset="-122"/>
                <a:cs typeface="Calibri" pitchFamily="34" charset="-120"/>
              </a:rPr>
              <a:t>Pure interleaved RSR steps  ·  3 MLM : 1 RSR</a:t>
            </a:r>
            <a:endParaRPr lang="en-US" sz="1150" dirty="0"/>
          </a:p>
        </p:txBody>
      </p:sp>
      <p:sp>
        <p:nvSpPr>
          <p:cNvPr id="8" name="Shape 6"/>
          <p:cNvSpPr/>
          <p:nvPr/>
        </p:nvSpPr>
        <p:spPr>
          <a:xfrm>
            <a:off x="6263640" y="1508760"/>
            <a:ext cx="5349240" cy="1920240"/>
          </a:xfrm>
          <a:prstGeom prst="roundRect">
            <a:avLst>
              <a:gd name="adj" fmla="val 3810"/>
            </a:avLst>
          </a:prstGeom>
          <a:solidFill>
            <a:srgbClr val="F2F5FB"/>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9" name="Text 7"/>
          <p:cNvSpPr/>
          <p:nvPr/>
        </p:nvSpPr>
        <p:spPr>
          <a:xfrm>
            <a:off x="6537960" y="1691640"/>
            <a:ext cx="4754880" cy="320040"/>
          </a:xfrm>
          <a:prstGeom prst="rect">
            <a:avLst/>
          </a:prstGeom>
          <a:noFill/>
          <a:ln/>
        </p:spPr>
        <p:txBody>
          <a:bodyPr wrap="square" lIns="0" tIns="0" rIns="0" bIns="0" rtlCol="0" anchor="ctr"/>
          <a:lstStyle/>
          <a:p>
            <a:pPr indent="0" marL="0">
              <a:buNone/>
            </a:pPr>
            <a:r>
              <a:rPr lang="en-US" sz="1700" b="1" dirty="0">
                <a:solidFill>
                  <a:srgbClr val="141B34"/>
                </a:solidFill>
                <a:latin typeface="Cambria" pitchFamily="34" charset="0"/>
                <a:ea typeface="Cambria" pitchFamily="34" charset="-122"/>
                <a:cs typeface="Cambria" pitchFamily="34" charset="-120"/>
              </a:rPr>
              <a:t>Our BERT</a:t>
            </a:r>
            <a:endParaRPr lang="en-US" sz="1700" dirty="0"/>
          </a:p>
        </p:txBody>
      </p:sp>
      <p:sp>
        <p:nvSpPr>
          <p:cNvPr id="10" name="Text 8"/>
          <p:cNvSpPr/>
          <p:nvPr/>
        </p:nvSpPr>
        <p:spPr>
          <a:xfrm>
            <a:off x="6537960" y="2057400"/>
            <a:ext cx="4754880" cy="822960"/>
          </a:xfrm>
          <a:prstGeom prst="rect">
            <a:avLst/>
          </a:prstGeom>
          <a:noFill/>
          <a:ln/>
        </p:spPr>
        <p:txBody>
          <a:bodyPr wrap="square" lIns="0" tIns="0" rIns="0" bIns="0" rtlCol="0" anchor="ctr"/>
          <a:lstStyle/>
          <a:p>
            <a:pPr indent="0" marL="0">
              <a:buNone/>
            </a:pPr>
            <a:r>
              <a:rPr lang="en-US" sz="1250" dirty="0">
                <a:solidFill>
                  <a:srgbClr val="5A6588"/>
                </a:solidFill>
                <a:latin typeface="Calibri" pitchFamily="34" charset="0"/>
                <a:ea typeface="Calibri" pitchFamily="34" charset="-122"/>
                <a:cs typeface="Calibri" pitchFamily="34" charset="-120"/>
              </a:rPr>
              <a:t>RSR on real Wikipedia sentences works — the +0.053 generalisation gain on the previous slide came from exactly this setup.</a:t>
            </a:r>
            <a:endParaRPr lang="en-US" sz="1250" dirty="0"/>
          </a:p>
        </p:txBody>
      </p:sp>
      <p:sp>
        <p:nvSpPr>
          <p:cNvPr id="11" name="Text 9"/>
          <p:cNvSpPr/>
          <p:nvPr/>
        </p:nvSpPr>
        <p:spPr>
          <a:xfrm>
            <a:off x="6537960" y="2926080"/>
            <a:ext cx="4754880" cy="320040"/>
          </a:xfrm>
          <a:prstGeom prst="rect">
            <a:avLst/>
          </a:prstGeom>
          <a:noFill/>
          <a:ln/>
        </p:spPr>
        <p:txBody>
          <a:bodyPr wrap="square" lIns="0" tIns="0" rIns="0" bIns="0" rtlCol="0" anchor="ctr"/>
          <a:lstStyle/>
          <a:p>
            <a:pPr indent="0" marL="0">
              <a:buNone/>
            </a:pPr>
            <a:r>
              <a:rPr lang="en-US" sz="1150" b="1" dirty="0">
                <a:solidFill>
                  <a:srgbClr val="2A9D8F"/>
                </a:solidFill>
                <a:latin typeface="Calibri" pitchFamily="34" charset="0"/>
                <a:ea typeface="Calibri" pitchFamily="34" charset="-122"/>
                <a:cs typeface="Calibri" pitchFamily="34" charset="-120"/>
              </a:rPr>
              <a:t>Weighted loss  ·  MLM in every single batch</a:t>
            </a:r>
            <a:endParaRPr lang="en-US" sz="1150" dirty="0"/>
          </a:p>
        </p:txBody>
      </p:sp>
      <p:sp>
        <p:nvSpPr>
          <p:cNvPr id="12" name="Shape 10"/>
          <p:cNvSpPr/>
          <p:nvPr/>
        </p:nvSpPr>
        <p:spPr>
          <a:xfrm>
            <a:off x="548640" y="3657600"/>
            <a:ext cx="11064240" cy="1965960"/>
          </a:xfrm>
          <a:prstGeom prst="roundRect">
            <a:avLst>
              <a:gd name="adj" fmla="val 3721"/>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3" name="Text 11"/>
          <p:cNvSpPr/>
          <p:nvPr/>
        </p:nvSpPr>
        <p:spPr>
          <a:xfrm>
            <a:off x="868680" y="3858768"/>
            <a:ext cx="667512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Hypothesis: it is the anchor, not the context</a:t>
            </a:r>
            <a:endParaRPr lang="en-US" sz="1800" dirty="0"/>
          </a:p>
        </p:txBody>
      </p:sp>
      <p:sp>
        <p:nvSpPr>
          <p:cNvPr id="14" name="Text 12"/>
          <p:cNvSpPr/>
          <p:nvPr/>
        </p:nvSpPr>
        <p:spPr>
          <a:xfrm>
            <a:off x="868680" y="4251960"/>
            <a:ext cx="6766560" cy="1188720"/>
          </a:xfrm>
          <a:prstGeom prst="rect">
            <a:avLst/>
          </a:prstGeom>
          <a:noFill/>
          <a:ln/>
        </p:spPr>
        <p:txBody>
          <a:bodyPr wrap="square" lIns="0" tIns="0" rIns="0" bIns="0" rtlCol="0" anchor="ctr"/>
          <a:lstStyle/>
          <a:p>
            <a:pPr indent="0" marL="0">
              <a:buNone/>
            </a:pPr>
            <a:r>
              <a:rPr lang="en-US" sz="1250" dirty="0">
                <a:solidFill>
                  <a:srgbClr val="AEBBD8"/>
                </a:solidFill>
                <a:latin typeface="Calibri" pitchFamily="34" charset="0"/>
                <a:ea typeface="Calibri" pitchFamily="34" charset="-122"/>
                <a:cs typeface="Calibri" pitchFamily="34" charset="-120"/>
              </a:rPr>
              <a:t>Real sentences make the similarity signal noisy — "bank" by a river and "bank" for a loan give different vectors. A pure RSR step has nothing holding it in place, so it chases that noise and the geometry drifts. A weighted step has MLM in the same gradient, keeping every update honest. Templates are safe under interleaving precisely because their signal is already clean.</a:t>
            </a:r>
            <a:endParaRPr lang="en-US" sz="1250" dirty="0"/>
          </a:p>
        </p:txBody>
      </p:sp>
      <p:sp>
        <p:nvSpPr>
          <p:cNvPr id="15" name="Shape 13"/>
          <p:cNvSpPr/>
          <p:nvPr/>
        </p:nvSpPr>
        <p:spPr>
          <a:xfrm>
            <a:off x="7955280" y="3977640"/>
            <a:ext cx="3383280" cy="1325880"/>
          </a:xfrm>
          <a:prstGeom prst="roundRect">
            <a:avLst>
              <a:gd name="adj" fmla="val 5517"/>
            </a:avLst>
          </a:prstGeom>
          <a:solidFill>
            <a:srgbClr val="1E2A4E"/>
          </a:solidFill>
          <a:ln w="12700">
            <a:solidFill>
              <a:srgbClr val="F2C14E"/>
            </a:solidFill>
            <a:prstDash val="solid"/>
          </a:ln>
        </p:spPr>
      </p:sp>
      <p:sp>
        <p:nvSpPr>
          <p:cNvPr id="16" name="Text 14"/>
          <p:cNvSpPr/>
          <p:nvPr/>
        </p:nvSpPr>
        <p:spPr>
          <a:xfrm>
            <a:off x="8183880" y="4114800"/>
            <a:ext cx="2926080" cy="274320"/>
          </a:xfrm>
          <a:prstGeom prst="rect">
            <a:avLst/>
          </a:prstGeom>
          <a:noFill/>
          <a:ln/>
        </p:spPr>
        <p:txBody>
          <a:bodyPr wrap="square" lIns="0" tIns="0" rIns="0" bIns="0" rtlCol="0" anchor="ctr"/>
          <a:lstStyle/>
          <a:p>
            <a:pPr indent="0" marL="0">
              <a:buNone/>
            </a:pPr>
            <a:r>
              <a:rPr lang="en-US" sz="1100" b="1" spc="100" kern="0" dirty="0">
                <a:solidFill>
                  <a:srgbClr val="F2C14E"/>
                </a:solidFill>
                <a:latin typeface="Calibri" pitchFamily="34" charset="0"/>
                <a:ea typeface="Calibri" pitchFamily="34" charset="-122"/>
                <a:cs typeface="Calibri" pitchFamily="34" charset="-120"/>
              </a:rPr>
              <a:t>The test</a:t>
            </a:r>
            <a:endParaRPr lang="en-US" sz="1100" dirty="0"/>
          </a:p>
        </p:txBody>
      </p:sp>
      <p:sp>
        <p:nvSpPr>
          <p:cNvPr id="17" name="Text 15"/>
          <p:cNvSpPr/>
          <p:nvPr/>
        </p:nvSpPr>
        <p:spPr>
          <a:xfrm>
            <a:off x="8183880" y="4407408"/>
            <a:ext cx="2926080" cy="8229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Run your rsr_targetwords with a weighted combine. One run, ~2 hours, and it settles which explanation is right.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B"/>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IN PROGRESS · PEREIRA 2018 FMRI</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Does RSR make the model more brain-like?</a:t>
            </a:r>
            <a:endParaRPr lang="en-US" sz="3400" dirty="0"/>
          </a:p>
        </p:txBody>
      </p:sp>
      <p:sp>
        <p:nvSpPr>
          <p:cNvPr id="4" name="Text 2"/>
          <p:cNvSpPr/>
          <p:nvPr/>
        </p:nvSpPr>
        <p:spPr>
          <a:xfrm>
            <a:off x="548640" y="1481328"/>
            <a:ext cx="5943600" cy="1234440"/>
          </a:xfrm>
          <a:prstGeom prst="rect">
            <a:avLst/>
          </a:prstGeom>
          <a:noFill/>
          <a:ln/>
        </p:spPr>
        <p:txBody>
          <a:bodyPr wrap="square" lIns="0" tIns="0" rIns="0" bIns="0" rtlCol="0" anchor="ctr"/>
          <a:lstStyle/>
          <a:p>
            <a:pPr indent="0" marL="0">
              <a:buNone/>
            </a:pPr>
            <a:r>
              <a:rPr lang="en-US" sz="1400" dirty="0">
                <a:solidFill>
                  <a:srgbClr val="5A6588"/>
                </a:solidFill>
                <a:latin typeface="Calibri" pitchFamily="34" charset="0"/>
                <a:ea typeface="Calibri" pitchFamily="34" charset="-122"/>
                <a:cs typeface="Calibri" pitchFamily="34" charset="-120"/>
              </a:rPr>
              <a:t>Your RoBERTa result: RSR improves fit to brain data — but only for concepts it was trained on. The "neither supervised" category showed nothing (−0.0017, p = 0.69). Our SimLex effect lives exactly there. So we ported your harness to BERT and asked the same question.</a:t>
            </a:r>
            <a:endParaRPr lang="en-US" sz="1400" dirty="0"/>
          </a:p>
        </p:txBody>
      </p:sp>
      <p:sp>
        <p:nvSpPr>
          <p:cNvPr id="5" name="Shape 3"/>
          <p:cNvSpPr/>
          <p:nvPr/>
        </p:nvSpPr>
        <p:spPr>
          <a:xfrm>
            <a:off x="548640" y="2880360"/>
            <a:ext cx="1828800" cy="1600200"/>
          </a:xfrm>
          <a:prstGeom prst="roundRect">
            <a:avLst>
              <a:gd name="adj" fmla="val 4571"/>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6" name="Text 4"/>
          <p:cNvSpPr/>
          <p:nvPr/>
        </p:nvSpPr>
        <p:spPr>
          <a:xfrm>
            <a:off x="548640" y="3035808"/>
            <a:ext cx="1828800" cy="502920"/>
          </a:xfrm>
          <a:prstGeom prst="rect">
            <a:avLst/>
          </a:prstGeom>
          <a:noFill/>
          <a:ln/>
        </p:spPr>
        <p:txBody>
          <a:bodyPr wrap="square" lIns="0" tIns="0" rIns="0" bIns="0" rtlCol="0" anchor="ctr"/>
          <a:lstStyle/>
          <a:p>
            <a:pPr algn="ctr" indent="0" marL="0">
              <a:buNone/>
            </a:pPr>
            <a:r>
              <a:rPr lang="en-US" sz="2600" b="1" dirty="0">
                <a:solidFill>
                  <a:srgbClr val="2A9D8F"/>
                </a:solidFill>
                <a:latin typeface="Cambria" pitchFamily="34" charset="0"/>
                <a:ea typeface="Cambria" pitchFamily="34" charset="-122"/>
                <a:cs typeface="Cambria" pitchFamily="34" charset="-120"/>
              </a:rPr>
              <a:t>180</a:t>
            </a:r>
            <a:endParaRPr lang="en-US" sz="2600" dirty="0"/>
          </a:p>
        </p:txBody>
      </p:sp>
      <p:sp>
        <p:nvSpPr>
          <p:cNvPr id="7" name="Text 5"/>
          <p:cNvSpPr/>
          <p:nvPr/>
        </p:nvSpPr>
        <p:spPr>
          <a:xfrm>
            <a:off x="548640" y="3584448"/>
            <a:ext cx="1828800" cy="777240"/>
          </a:xfrm>
          <a:prstGeom prst="rect">
            <a:avLst/>
          </a:prstGeom>
          <a:noFill/>
          <a:ln/>
        </p:spPr>
        <p:txBody>
          <a:bodyPr wrap="square" lIns="0" tIns="0" rIns="0" bIns="0" rtlCol="0" anchor="ctr"/>
          <a:lstStyle/>
          <a:p>
            <a:pPr algn="ctr" indent="0" marL="0">
              <a:buNone/>
            </a:pPr>
            <a:r>
              <a:rPr lang="en-US" sz="1050" dirty="0">
                <a:solidFill>
                  <a:srgbClr val="5A6588"/>
                </a:solidFill>
                <a:latin typeface="Calibri" pitchFamily="34" charset="0"/>
                <a:ea typeface="Calibri" pitchFamily="34" charset="-122"/>
                <a:cs typeface="Calibri" pitchFamily="34" charset="-120"/>
              </a:rPr>
              <a:t>concepts, all with</a:t>
            </a:r>
            <a:endParaRPr lang="en-US" sz="1050" dirty="0"/>
          </a:p>
          <a:p>
            <a:pPr algn="ctr" indent="0" marL="0">
              <a:buNone/>
            </a:pPr>
            <a:r>
              <a:rPr lang="en-US" sz="1050" dirty="0">
                <a:solidFill>
                  <a:srgbClr val="5A6588"/>
                </a:solidFill>
                <a:latin typeface="Calibri" pitchFamily="34" charset="0"/>
                <a:ea typeface="Calibri" pitchFamily="34" charset="-122"/>
                <a:cs typeface="Calibri" pitchFamily="34" charset="-120"/>
              </a:rPr>
              <a:t>Wikipedia contexts</a:t>
            </a:r>
            <a:endParaRPr lang="en-US" sz="1050" dirty="0"/>
          </a:p>
        </p:txBody>
      </p:sp>
      <p:sp>
        <p:nvSpPr>
          <p:cNvPr id="8" name="Shape 6"/>
          <p:cNvSpPr/>
          <p:nvPr/>
        </p:nvSpPr>
        <p:spPr>
          <a:xfrm>
            <a:off x="2560320" y="2880360"/>
            <a:ext cx="1828800" cy="1600200"/>
          </a:xfrm>
          <a:prstGeom prst="roundRect">
            <a:avLst>
              <a:gd name="adj" fmla="val 4571"/>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9" name="Text 7"/>
          <p:cNvSpPr/>
          <p:nvPr/>
        </p:nvSpPr>
        <p:spPr>
          <a:xfrm>
            <a:off x="2560320" y="3035808"/>
            <a:ext cx="1828800" cy="502920"/>
          </a:xfrm>
          <a:prstGeom prst="rect">
            <a:avLst/>
          </a:prstGeom>
          <a:noFill/>
          <a:ln/>
        </p:spPr>
        <p:txBody>
          <a:bodyPr wrap="square" lIns="0" tIns="0" rIns="0" bIns="0" rtlCol="0" anchor="ctr"/>
          <a:lstStyle/>
          <a:p>
            <a:pPr algn="ctr" indent="0" marL="0">
              <a:buNone/>
            </a:pPr>
            <a:r>
              <a:rPr lang="en-US" sz="2600" b="1" dirty="0">
                <a:solidFill>
                  <a:srgbClr val="24325C"/>
                </a:solidFill>
                <a:latin typeface="Cambria" pitchFamily="34" charset="0"/>
                <a:ea typeface="Cambria" pitchFamily="34" charset="-122"/>
                <a:cs typeface="Cambria" pitchFamily="34" charset="-120"/>
              </a:rPr>
              <a:t>2,296</a:t>
            </a:r>
            <a:endParaRPr lang="en-US" sz="2600" dirty="0"/>
          </a:p>
        </p:txBody>
      </p:sp>
      <p:sp>
        <p:nvSpPr>
          <p:cNvPr id="10" name="Text 8"/>
          <p:cNvSpPr/>
          <p:nvPr/>
        </p:nvSpPr>
        <p:spPr>
          <a:xfrm>
            <a:off x="2560320" y="3584448"/>
            <a:ext cx="1828800" cy="777240"/>
          </a:xfrm>
          <a:prstGeom prst="rect">
            <a:avLst/>
          </a:prstGeom>
          <a:noFill/>
          <a:ln/>
        </p:spPr>
        <p:txBody>
          <a:bodyPr wrap="square" lIns="0" tIns="0" rIns="0" bIns="0" rtlCol="0" anchor="ctr"/>
          <a:lstStyle/>
          <a:p>
            <a:pPr algn="ctr" indent="0" marL="0">
              <a:buNone/>
            </a:pPr>
            <a:r>
              <a:rPr lang="en-US" sz="1050" dirty="0">
                <a:solidFill>
                  <a:srgbClr val="5A6588"/>
                </a:solidFill>
                <a:latin typeface="Calibri" pitchFamily="34" charset="0"/>
                <a:ea typeface="Calibri" pitchFamily="34" charset="-122"/>
                <a:cs typeface="Calibri" pitchFamily="34" charset="-120"/>
              </a:rPr>
              <a:t>voxels — matching</a:t>
            </a:r>
            <a:endParaRPr lang="en-US" sz="1050" dirty="0"/>
          </a:p>
          <a:p>
            <a:pPr algn="ctr" indent="0" marL="0">
              <a:buNone/>
            </a:pPr>
            <a:r>
              <a:rPr lang="en-US" sz="1050" dirty="0">
                <a:solidFill>
                  <a:srgbClr val="5A6588"/>
                </a:solidFill>
                <a:latin typeface="Calibri" pitchFamily="34" charset="0"/>
                <a:ea typeface="Calibri" pitchFamily="34" charset="-122"/>
                <a:cs typeface="Calibri" pitchFamily="34" charset="-120"/>
              </a:rPr>
              <a:t>your pipeline exactly</a:t>
            </a:r>
            <a:endParaRPr lang="en-US" sz="1050" dirty="0"/>
          </a:p>
        </p:txBody>
      </p:sp>
      <p:sp>
        <p:nvSpPr>
          <p:cNvPr id="11" name="Shape 9"/>
          <p:cNvSpPr/>
          <p:nvPr/>
        </p:nvSpPr>
        <p:spPr>
          <a:xfrm>
            <a:off x="4572000" y="2880360"/>
            <a:ext cx="1828800" cy="1600200"/>
          </a:xfrm>
          <a:prstGeom prst="roundRect">
            <a:avLst>
              <a:gd name="adj" fmla="val 4571"/>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2" name="Text 10"/>
          <p:cNvSpPr/>
          <p:nvPr/>
        </p:nvSpPr>
        <p:spPr>
          <a:xfrm>
            <a:off x="4572000" y="3035808"/>
            <a:ext cx="1828800" cy="502920"/>
          </a:xfrm>
          <a:prstGeom prst="rect">
            <a:avLst/>
          </a:prstGeom>
          <a:noFill/>
          <a:ln/>
        </p:spPr>
        <p:txBody>
          <a:bodyPr wrap="square" lIns="0" tIns="0" rIns="0" bIns="0" rtlCol="0" anchor="ctr"/>
          <a:lstStyle/>
          <a:p>
            <a:pPr algn="ctr" indent="0" marL="0">
              <a:buNone/>
            </a:pPr>
            <a:r>
              <a:rPr lang="en-US" sz="2600" b="1" dirty="0">
                <a:solidFill>
                  <a:srgbClr val="E8743B"/>
                </a:solidFill>
                <a:latin typeface="Cambria" pitchFamily="34" charset="0"/>
                <a:ea typeface="Cambria" pitchFamily="34" charset="-122"/>
                <a:cs typeface="Cambria" pitchFamily="34" charset="-120"/>
              </a:rPr>
              <a:t>8,515</a:t>
            </a:r>
            <a:endParaRPr lang="en-US" sz="2600" dirty="0"/>
          </a:p>
        </p:txBody>
      </p:sp>
      <p:sp>
        <p:nvSpPr>
          <p:cNvPr id="13" name="Text 11"/>
          <p:cNvSpPr/>
          <p:nvPr/>
        </p:nvSpPr>
        <p:spPr>
          <a:xfrm>
            <a:off x="4572000" y="3584448"/>
            <a:ext cx="1828800" cy="777240"/>
          </a:xfrm>
          <a:prstGeom prst="rect">
            <a:avLst/>
          </a:prstGeom>
          <a:noFill/>
          <a:ln/>
        </p:spPr>
        <p:txBody>
          <a:bodyPr wrap="square" lIns="0" tIns="0" rIns="0" bIns="0" rtlCol="0" anchor="ctr"/>
          <a:lstStyle/>
          <a:p>
            <a:pPr algn="ctr" indent="0" marL="0">
              <a:buNone/>
            </a:pPr>
            <a:r>
              <a:rPr lang="en-US" sz="1050" dirty="0">
                <a:solidFill>
                  <a:srgbClr val="5A6588"/>
                </a:solidFill>
                <a:latin typeface="Calibri" pitchFamily="34" charset="0"/>
                <a:ea typeface="Calibri" pitchFamily="34" charset="-122"/>
                <a:cs typeface="Calibri" pitchFamily="34" charset="-120"/>
              </a:rPr>
              <a:t>unsupervised pairs</a:t>
            </a:r>
            <a:endParaRPr lang="en-US" sz="1050" dirty="0"/>
          </a:p>
          <a:p>
            <a:pPr algn="ctr" indent="0" marL="0">
              <a:buNone/>
            </a:pPr>
            <a:r>
              <a:rPr lang="en-US" sz="1050" dirty="0">
                <a:solidFill>
                  <a:srgbClr val="5A6588"/>
                </a:solidFill>
                <a:latin typeface="Calibri" pitchFamily="34" charset="0"/>
                <a:ea typeface="Calibri" pitchFamily="34" charset="-122"/>
                <a:cs typeface="Calibri" pitchFamily="34" charset="-120"/>
              </a:rPr>
              <a:t>= well powered</a:t>
            </a:r>
            <a:endParaRPr lang="en-US" sz="1050" dirty="0"/>
          </a:p>
        </p:txBody>
      </p:sp>
      <p:sp>
        <p:nvSpPr>
          <p:cNvPr id="14" name="Text 12"/>
          <p:cNvSpPr/>
          <p:nvPr/>
        </p:nvSpPr>
        <p:spPr>
          <a:xfrm>
            <a:off x="548640" y="4663440"/>
            <a:ext cx="5943600" cy="365760"/>
          </a:xfrm>
          <a:prstGeom prst="rect">
            <a:avLst/>
          </a:prstGeom>
          <a:noFill/>
          <a:ln/>
        </p:spPr>
        <p:txBody>
          <a:bodyPr wrap="square" lIns="0" tIns="0" rIns="0" bIns="0" rtlCol="0" anchor="ctr"/>
          <a:lstStyle/>
          <a:p>
            <a:pPr indent="0" marL="0">
              <a:buNone/>
            </a:pPr>
            <a:r>
              <a:rPr lang="en-US" sz="1200" i="1" dirty="0">
                <a:solidFill>
                  <a:srgbClr val="5A6588"/>
                </a:solidFill>
                <a:latin typeface="Calibri" pitchFamily="34" charset="0"/>
                <a:ea typeface="Calibri" pitchFamily="34" charset="-122"/>
                <a:cs typeface="Calibri" pitchFamily="34" charset="-120"/>
              </a:rPr>
              <a:t>Ten subjects are processing now — full paired statistics to follow.</a:t>
            </a:r>
            <a:endParaRPr lang="en-US" sz="1200" dirty="0"/>
          </a:p>
        </p:txBody>
      </p:sp>
      <p:sp>
        <p:nvSpPr>
          <p:cNvPr id="15" name="Shape 13"/>
          <p:cNvSpPr/>
          <p:nvPr/>
        </p:nvSpPr>
        <p:spPr>
          <a:xfrm>
            <a:off x="6858000" y="1481328"/>
            <a:ext cx="4754880" cy="3657600"/>
          </a:xfrm>
          <a:prstGeom prst="roundRect">
            <a:avLst>
              <a:gd name="adj" fmla="val 2000"/>
            </a:avLst>
          </a:prstGeom>
          <a:solidFill>
            <a:srgbClr val="141B34"/>
          </a:solidFill>
          <a:ln w="12700">
            <a:solidFill>
              <a:srgbClr val="141B34"/>
            </a:solidFill>
            <a:prstDash val="solid"/>
          </a:ln>
          <a:effectLst>
            <a:outerShdw sx="100000" sy="100000" kx="0" ky="0" algn="bl" rotWithShape="0" blurRad="127000" dist="25400" dir="5400000">
              <a:srgbClr val="8899BB">
                <a:alpha val="18000"/>
              </a:srgbClr>
            </a:outerShdw>
          </a:effectLst>
        </p:spPr>
      </p:sp>
      <p:sp>
        <p:nvSpPr>
          <p:cNvPr id="16" name="Text 14"/>
          <p:cNvSpPr/>
          <p:nvPr/>
        </p:nvSpPr>
        <p:spPr>
          <a:xfrm>
            <a:off x="7132320" y="1691640"/>
            <a:ext cx="4206240" cy="292608"/>
          </a:xfrm>
          <a:prstGeom prst="rect">
            <a:avLst/>
          </a:prstGeom>
          <a:noFill/>
          <a:ln/>
        </p:spPr>
        <p:txBody>
          <a:bodyPr wrap="square" lIns="0" tIns="0" rIns="0" bIns="0" rtlCol="0" anchor="ctr"/>
          <a:lstStyle/>
          <a:p>
            <a:pPr indent="0" marL="0">
              <a:buNone/>
            </a:pPr>
            <a:r>
              <a:rPr lang="en-US" sz="1100" b="1" spc="100" kern="0" dirty="0">
                <a:solidFill>
                  <a:srgbClr val="F2C14E"/>
                </a:solidFill>
                <a:latin typeface="Calibri" pitchFamily="34" charset="0"/>
                <a:ea typeface="Calibri" pitchFamily="34" charset="-122"/>
                <a:cs typeface="Calibri" pitchFamily="34" charset="-120"/>
              </a:rPr>
              <a:t>First subject — preliminary</a:t>
            </a:r>
            <a:endParaRPr lang="en-US" sz="1100" dirty="0"/>
          </a:p>
        </p:txBody>
      </p:sp>
      <p:sp>
        <p:nvSpPr>
          <p:cNvPr id="17" name="Text 15"/>
          <p:cNvSpPr/>
          <p:nvPr/>
        </p:nvSpPr>
        <p:spPr>
          <a:xfrm>
            <a:off x="7132320" y="2029968"/>
            <a:ext cx="4206240" cy="457200"/>
          </a:xfrm>
          <a:prstGeom prst="rect">
            <a:avLst/>
          </a:prstGeom>
          <a:noFill/>
          <a:ln/>
        </p:spPr>
        <p:txBody>
          <a:bodyPr wrap="square" lIns="0" tIns="0" rIns="0" bIns="0" rtlCol="0" anchor="ctr"/>
          <a:lstStyle/>
          <a:p>
            <a:pPr indent="0" marL="0">
              <a:buNone/>
            </a:pPr>
            <a:r>
              <a:rPr lang="en-US" sz="1250" dirty="0">
                <a:solidFill>
                  <a:srgbClr val="AEBBD8"/>
                </a:solidFill>
                <a:latin typeface="Calibri" pitchFamily="34" charset="0"/>
                <a:ea typeface="Calibri" pitchFamily="34" charset="-122"/>
                <a:cs typeface="Calibri" pitchFamily="34" charset="-120"/>
              </a:rPr>
              <a:t>RSR beats the MLM control on every partition, including:</a:t>
            </a:r>
            <a:endParaRPr lang="en-US" sz="1250" dirty="0"/>
          </a:p>
        </p:txBody>
      </p:sp>
      <p:sp>
        <p:nvSpPr>
          <p:cNvPr id="18" name="Text 16"/>
          <p:cNvSpPr/>
          <p:nvPr/>
        </p:nvSpPr>
        <p:spPr>
          <a:xfrm>
            <a:off x="7132320" y="2560320"/>
            <a:ext cx="4206240" cy="731520"/>
          </a:xfrm>
          <a:prstGeom prst="rect">
            <a:avLst/>
          </a:prstGeom>
          <a:noFill/>
          <a:ln/>
        </p:spPr>
        <p:txBody>
          <a:bodyPr wrap="square" lIns="0" tIns="0" rIns="0" bIns="0" rtlCol="0" anchor="ctr"/>
          <a:lstStyle/>
          <a:p>
            <a:pPr indent="0" marL="0">
              <a:buNone/>
            </a:pPr>
            <a:r>
              <a:rPr lang="en-US" sz="4200" b="1" dirty="0">
                <a:solidFill>
                  <a:srgbClr val="E8743B"/>
                </a:solidFill>
                <a:latin typeface="Cambria" pitchFamily="34" charset="0"/>
                <a:ea typeface="Cambria" pitchFamily="34" charset="-122"/>
                <a:cs typeface="Cambria" pitchFamily="34" charset="-120"/>
              </a:rPr>
              <a:t>+0.028</a:t>
            </a:r>
            <a:endParaRPr lang="en-US" sz="4200" dirty="0"/>
          </a:p>
        </p:txBody>
      </p:sp>
      <p:sp>
        <p:nvSpPr>
          <p:cNvPr id="19" name="Text 17"/>
          <p:cNvSpPr/>
          <p:nvPr/>
        </p:nvSpPr>
        <p:spPr>
          <a:xfrm>
            <a:off x="7132320" y="3310128"/>
            <a:ext cx="4206240" cy="5943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 concepts never supervised — where your template method showed no effect</a:t>
            </a:r>
            <a:endParaRPr lang="en-US" sz="1200" dirty="0"/>
          </a:p>
        </p:txBody>
      </p:sp>
      <p:sp>
        <p:nvSpPr>
          <p:cNvPr id="20" name="Shape 18"/>
          <p:cNvSpPr/>
          <p:nvPr/>
        </p:nvSpPr>
        <p:spPr>
          <a:xfrm>
            <a:off x="7132320" y="4069080"/>
            <a:ext cx="4206240" cy="914400"/>
          </a:xfrm>
          <a:prstGeom prst="roundRect">
            <a:avLst>
              <a:gd name="adj" fmla="val 6000"/>
            </a:avLst>
          </a:prstGeom>
          <a:solidFill>
            <a:srgbClr val="3A2418"/>
          </a:solidFill>
          <a:ln w="12700">
            <a:solidFill>
              <a:srgbClr val="E8743B"/>
            </a:solidFill>
            <a:prstDash val="solid"/>
          </a:ln>
        </p:spPr>
      </p:sp>
      <p:sp>
        <p:nvSpPr>
          <p:cNvPr id="21" name="Text 19"/>
          <p:cNvSpPr/>
          <p:nvPr/>
        </p:nvSpPr>
        <p:spPr>
          <a:xfrm>
            <a:off x="7315200" y="4206240"/>
            <a:ext cx="3840480" cy="685800"/>
          </a:xfrm>
          <a:prstGeom prst="rect">
            <a:avLst/>
          </a:prstGeom>
          <a:noFill/>
          <a:ln/>
        </p:spPr>
        <p:txBody>
          <a:bodyPr wrap="square" lIns="0" tIns="0" rIns="0" bIns="0" rtlCol="0" anchor="ctr"/>
          <a:lstStyle/>
          <a:p>
            <a:pPr indent="0" marL="0">
              <a:buNone/>
            </a:pPr>
            <a:r>
              <a:rPr lang="en-US" sz="1100" dirty="0">
                <a:solidFill>
                  <a:srgbClr val="F5C4A8"/>
                </a:solidFill>
                <a:latin typeface="Calibri" pitchFamily="34" charset="0"/>
                <a:ea typeface="Calibri" pitchFamily="34" charset="-122"/>
                <a:cs typeface="Calibri" pitchFamily="34" charset="-120"/>
              </a:rPr>
              <a:t>Caveat: n = 1, and M01 is one of the noisiest subjects in your own report. Encouraging, not yet evidence.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141B34"/>
                </a:solidFill>
                <a:latin typeface="Cambria" pitchFamily="34" charset="0"/>
                <a:ea typeface="Cambria" pitchFamily="34" charset="-122"/>
                <a:cs typeface="Cambria" pitchFamily="34" charset="-120"/>
              </a:rPr>
              <a:t>What's next</a:t>
            </a:r>
            <a:endParaRPr lang="en-US" sz="3400" dirty="0"/>
          </a:p>
        </p:txBody>
      </p:sp>
      <p:sp>
        <p:nvSpPr>
          <p:cNvPr id="4" name="Shape 2"/>
          <p:cNvSpPr/>
          <p:nvPr/>
        </p:nvSpPr>
        <p:spPr>
          <a:xfrm>
            <a:off x="548640" y="1554480"/>
            <a:ext cx="5349240" cy="1828800"/>
          </a:xfrm>
          <a:prstGeom prst="roundRect">
            <a:avLst>
              <a:gd name="adj" fmla="val 4000"/>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5" name="Shape 3"/>
          <p:cNvSpPr/>
          <p:nvPr/>
        </p:nvSpPr>
        <p:spPr>
          <a:xfrm>
            <a:off x="822960" y="1847088"/>
            <a:ext cx="402336" cy="402336"/>
          </a:xfrm>
          <a:prstGeom prst="ellipse">
            <a:avLst/>
          </a:prstGeom>
          <a:solidFill>
            <a:srgbClr val="E8743B"/>
          </a:solidFill>
          <a:ln/>
        </p:spPr>
      </p:sp>
      <p:sp>
        <p:nvSpPr>
          <p:cNvPr id="6" name="Text 4"/>
          <p:cNvSpPr/>
          <p:nvPr/>
        </p:nvSpPr>
        <p:spPr>
          <a:xfrm>
            <a:off x="822960" y="18470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89888" y="1810512"/>
            <a:ext cx="3200400" cy="365760"/>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Finish the brain evaluation</a:t>
            </a:r>
            <a:endParaRPr lang="en-US" sz="1600" dirty="0"/>
          </a:p>
        </p:txBody>
      </p:sp>
      <p:sp>
        <p:nvSpPr>
          <p:cNvPr id="8" name="Text 6"/>
          <p:cNvSpPr/>
          <p:nvPr/>
        </p:nvSpPr>
        <p:spPr>
          <a:xfrm>
            <a:off x="4480560" y="1847088"/>
            <a:ext cx="1234440" cy="292608"/>
          </a:xfrm>
          <a:prstGeom prst="rect">
            <a:avLst/>
          </a:prstGeom>
          <a:noFill/>
          <a:ln/>
        </p:spPr>
        <p:txBody>
          <a:bodyPr wrap="square" lIns="0" tIns="0" rIns="0" bIns="0" rtlCol="0" anchor="ctr"/>
          <a:lstStyle/>
          <a:p>
            <a:pPr algn="r" indent="0" marL="0">
              <a:buNone/>
            </a:pPr>
            <a:r>
              <a:rPr lang="en-US" sz="1000" b="1" dirty="0">
                <a:solidFill>
                  <a:srgbClr val="E8743B"/>
                </a:solidFill>
                <a:latin typeface="Calibri" pitchFamily="34" charset="0"/>
                <a:ea typeface="Calibri" pitchFamily="34" charset="-122"/>
                <a:cs typeface="Calibri" pitchFamily="34" charset="-120"/>
              </a:rPr>
              <a:t>Days</a:t>
            </a:r>
            <a:endParaRPr lang="en-US" sz="1000" dirty="0"/>
          </a:p>
        </p:txBody>
      </p:sp>
      <p:sp>
        <p:nvSpPr>
          <p:cNvPr id="9" name="Text 7"/>
          <p:cNvSpPr/>
          <p:nvPr/>
        </p:nvSpPr>
        <p:spPr>
          <a:xfrm>
            <a:off x="1389888" y="2267712"/>
            <a:ext cx="4206240" cy="96012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All 10 subjects, RSA + 2vs2 + voxelwise encoding, with subjects as a random effect.</a:t>
            </a:r>
            <a:endParaRPr lang="en-US" sz="1200" dirty="0"/>
          </a:p>
        </p:txBody>
      </p:sp>
      <p:sp>
        <p:nvSpPr>
          <p:cNvPr id="10" name="Shape 8"/>
          <p:cNvSpPr/>
          <p:nvPr/>
        </p:nvSpPr>
        <p:spPr>
          <a:xfrm>
            <a:off x="6263640" y="1554480"/>
            <a:ext cx="5349240" cy="1828800"/>
          </a:xfrm>
          <a:prstGeom prst="roundRect">
            <a:avLst>
              <a:gd name="adj" fmla="val 4000"/>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1" name="Shape 9"/>
          <p:cNvSpPr/>
          <p:nvPr/>
        </p:nvSpPr>
        <p:spPr>
          <a:xfrm>
            <a:off x="6537960" y="1847088"/>
            <a:ext cx="402336" cy="402336"/>
          </a:xfrm>
          <a:prstGeom prst="ellipse">
            <a:avLst/>
          </a:prstGeom>
          <a:solidFill>
            <a:srgbClr val="2A9D8F"/>
          </a:solidFill>
          <a:ln/>
        </p:spPr>
      </p:sp>
      <p:sp>
        <p:nvSpPr>
          <p:cNvPr id="12" name="Text 10"/>
          <p:cNvSpPr/>
          <p:nvPr/>
        </p:nvSpPr>
        <p:spPr>
          <a:xfrm>
            <a:off x="6537960" y="18470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104888" y="1810512"/>
            <a:ext cx="3200400" cy="365760"/>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Similarity vs association</a:t>
            </a:r>
            <a:endParaRPr lang="en-US" sz="1600" dirty="0"/>
          </a:p>
        </p:txBody>
      </p:sp>
      <p:sp>
        <p:nvSpPr>
          <p:cNvPr id="14" name="Text 12"/>
          <p:cNvSpPr/>
          <p:nvPr/>
        </p:nvSpPr>
        <p:spPr>
          <a:xfrm>
            <a:off x="10195560" y="1847088"/>
            <a:ext cx="1234440" cy="292608"/>
          </a:xfrm>
          <a:prstGeom prst="rect">
            <a:avLst/>
          </a:prstGeom>
          <a:noFill/>
          <a:ln/>
        </p:spPr>
        <p:txBody>
          <a:bodyPr wrap="square" lIns="0" tIns="0" rIns="0" bIns="0" rtlCol="0" anchor="ctr"/>
          <a:lstStyle/>
          <a:p>
            <a:pPr algn="r" indent="0" marL="0">
              <a:buNone/>
            </a:pPr>
            <a:r>
              <a:rPr lang="en-US" sz="1000" b="1" dirty="0">
                <a:solidFill>
                  <a:srgbClr val="2A9D8F"/>
                </a:solidFill>
                <a:latin typeface="Calibri" pitchFamily="34" charset="0"/>
                <a:ea typeface="Calibri" pitchFamily="34" charset="-122"/>
                <a:cs typeface="Calibri" pitchFamily="34" charset="-120"/>
              </a:rPr>
              <a:t>An afternoon</a:t>
            </a:r>
            <a:endParaRPr lang="en-US" sz="1000" dirty="0"/>
          </a:p>
        </p:txBody>
      </p:sp>
      <p:sp>
        <p:nvSpPr>
          <p:cNvPr id="15" name="Text 13"/>
          <p:cNvSpPr/>
          <p:nvPr/>
        </p:nvSpPr>
        <p:spPr>
          <a:xfrm>
            <a:off x="7104888" y="2267712"/>
            <a:ext cx="4206240" cy="96012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SimLex ships both a similarity and an association column. Show RSR widens the gap — sharpening similarity, not boosting mere relatedness.</a:t>
            </a:r>
            <a:endParaRPr lang="en-US" sz="1200" dirty="0"/>
          </a:p>
        </p:txBody>
      </p:sp>
      <p:sp>
        <p:nvSpPr>
          <p:cNvPr id="16" name="Shape 14"/>
          <p:cNvSpPr/>
          <p:nvPr/>
        </p:nvSpPr>
        <p:spPr>
          <a:xfrm>
            <a:off x="548640" y="3611880"/>
            <a:ext cx="5349240" cy="1828800"/>
          </a:xfrm>
          <a:prstGeom prst="roundRect">
            <a:avLst>
              <a:gd name="adj" fmla="val 4000"/>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17" name="Shape 15"/>
          <p:cNvSpPr/>
          <p:nvPr/>
        </p:nvSpPr>
        <p:spPr>
          <a:xfrm>
            <a:off x="822960" y="3904488"/>
            <a:ext cx="402336" cy="402336"/>
          </a:xfrm>
          <a:prstGeom prst="ellipse">
            <a:avLst/>
          </a:prstGeom>
          <a:solidFill>
            <a:srgbClr val="24325C"/>
          </a:solidFill>
          <a:ln/>
        </p:spPr>
      </p:sp>
      <p:sp>
        <p:nvSpPr>
          <p:cNvPr id="18" name="Text 16"/>
          <p:cNvSpPr/>
          <p:nvPr/>
        </p:nvSpPr>
        <p:spPr>
          <a:xfrm>
            <a:off x="822960" y="3904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1389888" y="3867912"/>
            <a:ext cx="3200400" cy="365760"/>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Downstream competence</a:t>
            </a:r>
            <a:endParaRPr lang="en-US" sz="1600" dirty="0"/>
          </a:p>
        </p:txBody>
      </p:sp>
      <p:sp>
        <p:nvSpPr>
          <p:cNvPr id="20" name="Text 18"/>
          <p:cNvSpPr/>
          <p:nvPr/>
        </p:nvSpPr>
        <p:spPr>
          <a:xfrm>
            <a:off x="4480560" y="3904488"/>
            <a:ext cx="1234440" cy="292608"/>
          </a:xfrm>
          <a:prstGeom prst="rect">
            <a:avLst/>
          </a:prstGeom>
          <a:noFill/>
          <a:ln/>
        </p:spPr>
        <p:txBody>
          <a:bodyPr wrap="square" lIns="0" tIns="0" rIns="0" bIns="0" rtlCol="0" anchor="ctr"/>
          <a:lstStyle/>
          <a:p>
            <a:pPr algn="r" indent="0" marL="0">
              <a:buNone/>
            </a:pPr>
            <a:r>
              <a:rPr lang="en-US" sz="1000" b="1" dirty="0">
                <a:solidFill>
                  <a:srgbClr val="24325C"/>
                </a:solidFill>
                <a:latin typeface="Calibri" pitchFamily="34" charset="0"/>
                <a:ea typeface="Calibri" pitchFamily="34" charset="-122"/>
                <a:cs typeface="Calibri" pitchFamily="34" charset="-120"/>
              </a:rPr>
              <a:t>Days</a:t>
            </a:r>
            <a:endParaRPr lang="en-US" sz="1000" dirty="0"/>
          </a:p>
        </p:txBody>
      </p:sp>
      <p:sp>
        <p:nvSpPr>
          <p:cNvPr id="21" name="Text 19"/>
          <p:cNvSpPr/>
          <p:nvPr/>
        </p:nvSpPr>
        <p:spPr>
          <a:xfrm>
            <a:off x="1389888" y="4325112"/>
            <a:ext cx="4206240" cy="96012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A properly converged GLUE/POS check: did we keep a good language model? Parity is the goal.</a:t>
            </a:r>
            <a:endParaRPr lang="en-US" sz="1200" dirty="0"/>
          </a:p>
        </p:txBody>
      </p:sp>
      <p:sp>
        <p:nvSpPr>
          <p:cNvPr id="22" name="Shape 20"/>
          <p:cNvSpPr/>
          <p:nvPr/>
        </p:nvSpPr>
        <p:spPr>
          <a:xfrm>
            <a:off x="6263640" y="3611880"/>
            <a:ext cx="5349240" cy="1828800"/>
          </a:xfrm>
          <a:prstGeom prst="roundRect">
            <a:avLst>
              <a:gd name="adj" fmla="val 4000"/>
            </a:avLst>
          </a:prstGeom>
          <a:solidFill>
            <a:srgbClr val="FFFFFF"/>
          </a:solidFill>
          <a:ln w="12700">
            <a:solidFill>
              <a:srgbClr val="DDE3EF"/>
            </a:solidFill>
            <a:prstDash val="solid"/>
          </a:ln>
          <a:effectLst>
            <a:outerShdw sx="100000" sy="100000" kx="0" ky="0" algn="bl" rotWithShape="0" blurRad="127000" dist="25400" dir="5400000">
              <a:srgbClr val="8899BB">
                <a:alpha val="18000"/>
              </a:srgbClr>
            </a:outerShdw>
          </a:effectLst>
        </p:spPr>
      </p:sp>
      <p:sp>
        <p:nvSpPr>
          <p:cNvPr id="23" name="Shape 21"/>
          <p:cNvSpPr/>
          <p:nvPr/>
        </p:nvSpPr>
        <p:spPr>
          <a:xfrm>
            <a:off x="6537960" y="3904488"/>
            <a:ext cx="402336" cy="402336"/>
          </a:xfrm>
          <a:prstGeom prst="ellipse">
            <a:avLst/>
          </a:prstGeom>
          <a:solidFill>
            <a:srgbClr val="F2C14E"/>
          </a:solidFill>
          <a:ln/>
        </p:spPr>
      </p:sp>
      <p:sp>
        <p:nvSpPr>
          <p:cNvPr id="24" name="Text 22"/>
          <p:cNvSpPr/>
          <p:nvPr/>
        </p:nvSpPr>
        <p:spPr>
          <a:xfrm>
            <a:off x="6537960" y="3904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104888" y="3867912"/>
            <a:ext cx="3200400" cy="365760"/>
          </a:xfrm>
          <a:prstGeom prst="rect">
            <a:avLst/>
          </a:prstGeom>
          <a:noFill/>
          <a:ln/>
        </p:spPr>
        <p:txBody>
          <a:bodyPr wrap="square" lIns="0" tIns="0" rIns="0" bIns="0" rtlCol="0" anchor="ctr"/>
          <a:lstStyle/>
          <a:p>
            <a:pPr indent="0" marL="0">
              <a:buNone/>
            </a:pPr>
            <a:r>
              <a:rPr lang="en-US" sz="1600" b="1" dirty="0">
                <a:solidFill>
                  <a:srgbClr val="141B34"/>
                </a:solidFill>
                <a:latin typeface="Cambria" pitchFamily="34" charset="0"/>
                <a:ea typeface="Cambria" pitchFamily="34" charset="-122"/>
                <a:cs typeface="Cambria" pitchFamily="34" charset="-120"/>
              </a:rPr>
              <a:t>Test the anchoring hypothesis</a:t>
            </a:r>
            <a:endParaRPr lang="en-US" sz="1600" dirty="0"/>
          </a:p>
        </p:txBody>
      </p:sp>
      <p:sp>
        <p:nvSpPr>
          <p:cNvPr id="26" name="Text 24"/>
          <p:cNvSpPr/>
          <p:nvPr/>
        </p:nvSpPr>
        <p:spPr>
          <a:xfrm>
            <a:off x="10195560" y="3904488"/>
            <a:ext cx="1234440" cy="292608"/>
          </a:xfrm>
          <a:prstGeom prst="rect">
            <a:avLst/>
          </a:prstGeom>
          <a:noFill/>
          <a:ln/>
        </p:spPr>
        <p:txBody>
          <a:bodyPr wrap="square" lIns="0" tIns="0" rIns="0" bIns="0" rtlCol="0" anchor="ctr"/>
          <a:lstStyle/>
          <a:p>
            <a:pPr algn="r" indent="0" marL="0">
              <a:buNone/>
            </a:pPr>
            <a:r>
              <a:rPr lang="en-US" sz="1000" b="1" dirty="0">
                <a:solidFill>
                  <a:srgbClr val="F2C14E"/>
                </a:solidFill>
                <a:latin typeface="Calibri" pitchFamily="34" charset="0"/>
                <a:ea typeface="Calibri" pitchFamily="34" charset="-122"/>
                <a:cs typeface="Calibri" pitchFamily="34" charset="-120"/>
              </a:rPr>
              <a:t>~2 hours</a:t>
            </a:r>
            <a:endParaRPr lang="en-US" sz="1000" dirty="0"/>
          </a:p>
        </p:txBody>
      </p:sp>
      <p:sp>
        <p:nvSpPr>
          <p:cNvPr id="27" name="Text 25"/>
          <p:cNvSpPr/>
          <p:nvPr/>
        </p:nvSpPr>
        <p:spPr>
          <a:xfrm>
            <a:off x="7104888" y="4325112"/>
            <a:ext cx="4206240" cy="960120"/>
          </a:xfrm>
          <a:prstGeom prst="rect">
            <a:avLst/>
          </a:prstGeom>
          <a:noFill/>
          <a:ln/>
        </p:spPr>
        <p:txBody>
          <a:bodyPr wrap="square" lIns="0" tIns="0" rIns="0" bIns="0" rtlCol="0" anchor="ctr"/>
          <a:lstStyle/>
          <a:p>
            <a:pPr indent="0" marL="0">
              <a:buNone/>
            </a:pPr>
            <a:r>
              <a:rPr lang="en-US" sz="1200" dirty="0">
                <a:solidFill>
                  <a:srgbClr val="5A6588"/>
                </a:solidFill>
                <a:latin typeface="Calibri" pitchFamily="34" charset="0"/>
                <a:ea typeface="Calibri" pitchFamily="34" charset="-122"/>
                <a:cs typeface="Calibri" pitchFamily="34" charset="-120"/>
              </a:rPr>
              <a:t>rsr_targetwords with a weighted combine — settles the context-vs-anchor question.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34"/>
        </a:solidFill>
      </p:bgPr>
    </p:bg>
    <p:spTree>
      <p:nvGrpSpPr>
        <p:cNvPr id="1" name=""/>
        <p:cNvGrpSpPr/>
        <p:nvPr/>
      </p:nvGrpSpPr>
      <p:grpSpPr>
        <a:xfrm>
          <a:off x="0" y="0"/>
          <a:ext cx="0" cy="0"/>
          <a:chOff x="0" y="0"/>
          <a:chExt cx="0" cy="0"/>
        </a:xfrm>
      </p:grpSpPr>
      <p:sp>
        <p:nvSpPr>
          <p:cNvPr id="2" name="Shape 0"/>
          <p:cNvSpPr/>
          <p:nvPr/>
        </p:nvSpPr>
        <p:spPr>
          <a:xfrm>
            <a:off x="777240" y="1737360"/>
            <a:ext cx="402336" cy="402336"/>
          </a:xfrm>
          <a:prstGeom prst="rect">
            <a:avLst/>
          </a:prstGeom>
          <a:solidFill>
            <a:srgbClr val="24325C">
              <a:alpha val="40000"/>
            </a:srgbClr>
          </a:solidFill>
          <a:ln/>
        </p:spPr>
      </p:sp>
      <p:sp>
        <p:nvSpPr>
          <p:cNvPr id="3" name="Shape 1"/>
          <p:cNvSpPr/>
          <p:nvPr/>
        </p:nvSpPr>
        <p:spPr>
          <a:xfrm>
            <a:off x="1243584" y="1737360"/>
            <a:ext cx="402336" cy="402336"/>
          </a:xfrm>
          <a:prstGeom prst="rect">
            <a:avLst/>
          </a:prstGeom>
          <a:solidFill>
            <a:srgbClr val="24325C">
              <a:alpha val="40000"/>
            </a:srgbClr>
          </a:solidFill>
          <a:ln/>
        </p:spPr>
      </p:sp>
      <p:sp>
        <p:nvSpPr>
          <p:cNvPr id="4" name="Shape 2"/>
          <p:cNvSpPr/>
          <p:nvPr/>
        </p:nvSpPr>
        <p:spPr>
          <a:xfrm>
            <a:off x="1709928" y="1737360"/>
            <a:ext cx="402336" cy="402336"/>
          </a:xfrm>
          <a:prstGeom prst="rect">
            <a:avLst/>
          </a:prstGeom>
          <a:solidFill>
            <a:srgbClr val="5C6F9E">
              <a:alpha val="40000"/>
            </a:srgbClr>
          </a:solidFill>
          <a:ln/>
        </p:spPr>
      </p:sp>
      <p:sp>
        <p:nvSpPr>
          <p:cNvPr id="5" name="Shape 3"/>
          <p:cNvSpPr/>
          <p:nvPr/>
        </p:nvSpPr>
        <p:spPr>
          <a:xfrm>
            <a:off x="2176272" y="1737360"/>
            <a:ext cx="402336" cy="402336"/>
          </a:xfrm>
          <a:prstGeom prst="rect">
            <a:avLst/>
          </a:prstGeom>
          <a:solidFill>
            <a:srgbClr val="5C6F9E">
              <a:alpha val="40000"/>
            </a:srgbClr>
          </a:solidFill>
          <a:ln/>
        </p:spPr>
      </p:sp>
      <p:sp>
        <p:nvSpPr>
          <p:cNvPr id="6" name="Shape 4"/>
          <p:cNvSpPr/>
          <p:nvPr/>
        </p:nvSpPr>
        <p:spPr>
          <a:xfrm>
            <a:off x="2642616" y="1737360"/>
            <a:ext cx="402336" cy="402336"/>
          </a:xfrm>
          <a:prstGeom prst="rect">
            <a:avLst/>
          </a:prstGeom>
          <a:solidFill>
            <a:srgbClr val="2A9D8F">
              <a:alpha val="40000"/>
            </a:srgbClr>
          </a:solidFill>
          <a:ln/>
        </p:spPr>
      </p:sp>
      <p:sp>
        <p:nvSpPr>
          <p:cNvPr id="7" name="Shape 5"/>
          <p:cNvSpPr/>
          <p:nvPr/>
        </p:nvSpPr>
        <p:spPr>
          <a:xfrm>
            <a:off x="3108960" y="1737360"/>
            <a:ext cx="402336" cy="402336"/>
          </a:xfrm>
          <a:prstGeom prst="rect">
            <a:avLst/>
          </a:prstGeom>
          <a:solidFill>
            <a:srgbClr val="35507F">
              <a:alpha val="40000"/>
            </a:srgbClr>
          </a:solidFill>
          <a:ln/>
        </p:spPr>
      </p:sp>
      <p:sp>
        <p:nvSpPr>
          <p:cNvPr id="8" name="Shape 6"/>
          <p:cNvSpPr/>
          <p:nvPr/>
        </p:nvSpPr>
        <p:spPr>
          <a:xfrm>
            <a:off x="777240" y="2203704"/>
            <a:ext cx="402336" cy="402336"/>
          </a:xfrm>
          <a:prstGeom prst="rect">
            <a:avLst/>
          </a:prstGeom>
          <a:solidFill>
            <a:srgbClr val="E8743B">
              <a:alpha val="40000"/>
            </a:srgbClr>
          </a:solidFill>
          <a:ln/>
        </p:spPr>
      </p:sp>
      <p:sp>
        <p:nvSpPr>
          <p:cNvPr id="9" name="Shape 7"/>
          <p:cNvSpPr/>
          <p:nvPr/>
        </p:nvSpPr>
        <p:spPr>
          <a:xfrm>
            <a:off x="1243584" y="2203704"/>
            <a:ext cx="402336" cy="402336"/>
          </a:xfrm>
          <a:prstGeom prst="rect">
            <a:avLst/>
          </a:prstGeom>
          <a:solidFill>
            <a:srgbClr val="24325C">
              <a:alpha val="40000"/>
            </a:srgbClr>
          </a:solidFill>
          <a:ln/>
        </p:spPr>
      </p:sp>
      <p:sp>
        <p:nvSpPr>
          <p:cNvPr id="10" name="Shape 8"/>
          <p:cNvSpPr/>
          <p:nvPr/>
        </p:nvSpPr>
        <p:spPr>
          <a:xfrm>
            <a:off x="1709928" y="2203704"/>
            <a:ext cx="402336" cy="402336"/>
          </a:xfrm>
          <a:prstGeom prst="rect">
            <a:avLst/>
          </a:prstGeom>
          <a:solidFill>
            <a:srgbClr val="2A9D8F">
              <a:alpha val="40000"/>
            </a:srgbClr>
          </a:solidFill>
          <a:ln/>
        </p:spPr>
      </p:sp>
      <p:sp>
        <p:nvSpPr>
          <p:cNvPr id="11" name="Shape 9"/>
          <p:cNvSpPr/>
          <p:nvPr/>
        </p:nvSpPr>
        <p:spPr>
          <a:xfrm>
            <a:off x="2176272" y="2203704"/>
            <a:ext cx="402336" cy="402336"/>
          </a:xfrm>
          <a:prstGeom prst="rect">
            <a:avLst/>
          </a:prstGeom>
          <a:solidFill>
            <a:srgbClr val="2A9D8F">
              <a:alpha val="40000"/>
            </a:srgbClr>
          </a:solidFill>
          <a:ln/>
        </p:spPr>
      </p:sp>
      <p:sp>
        <p:nvSpPr>
          <p:cNvPr id="12" name="Shape 10"/>
          <p:cNvSpPr/>
          <p:nvPr/>
        </p:nvSpPr>
        <p:spPr>
          <a:xfrm>
            <a:off x="2642616" y="2203704"/>
            <a:ext cx="402336" cy="402336"/>
          </a:xfrm>
          <a:prstGeom prst="rect">
            <a:avLst/>
          </a:prstGeom>
          <a:solidFill>
            <a:srgbClr val="5C6F9E">
              <a:alpha val="40000"/>
            </a:srgbClr>
          </a:solidFill>
          <a:ln/>
        </p:spPr>
      </p:sp>
      <p:sp>
        <p:nvSpPr>
          <p:cNvPr id="13" name="Shape 11"/>
          <p:cNvSpPr/>
          <p:nvPr/>
        </p:nvSpPr>
        <p:spPr>
          <a:xfrm>
            <a:off x="3108960" y="2203704"/>
            <a:ext cx="402336" cy="402336"/>
          </a:xfrm>
          <a:prstGeom prst="rect">
            <a:avLst/>
          </a:prstGeom>
          <a:solidFill>
            <a:srgbClr val="35507F">
              <a:alpha val="40000"/>
            </a:srgbClr>
          </a:solidFill>
          <a:ln/>
        </p:spPr>
      </p:sp>
      <p:sp>
        <p:nvSpPr>
          <p:cNvPr id="14" name="Shape 12"/>
          <p:cNvSpPr/>
          <p:nvPr/>
        </p:nvSpPr>
        <p:spPr>
          <a:xfrm>
            <a:off x="777240" y="2670048"/>
            <a:ext cx="402336" cy="402336"/>
          </a:xfrm>
          <a:prstGeom prst="rect">
            <a:avLst/>
          </a:prstGeom>
          <a:solidFill>
            <a:srgbClr val="F2C14E">
              <a:alpha val="40000"/>
            </a:srgbClr>
          </a:solidFill>
          <a:ln/>
        </p:spPr>
      </p:sp>
      <p:sp>
        <p:nvSpPr>
          <p:cNvPr id="15" name="Shape 13"/>
          <p:cNvSpPr/>
          <p:nvPr/>
        </p:nvSpPr>
        <p:spPr>
          <a:xfrm>
            <a:off x="1243584" y="2670048"/>
            <a:ext cx="402336" cy="402336"/>
          </a:xfrm>
          <a:prstGeom prst="rect">
            <a:avLst/>
          </a:prstGeom>
          <a:solidFill>
            <a:srgbClr val="35507F">
              <a:alpha val="40000"/>
            </a:srgbClr>
          </a:solidFill>
          <a:ln/>
        </p:spPr>
      </p:sp>
      <p:sp>
        <p:nvSpPr>
          <p:cNvPr id="16" name="Shape 14"/>
          <p:cNvSpPr/>
          <p:nvPr/>
        </p:nvSpPr>
        <p:spPr>
          <a:xfrm>
            <a:off x="1709928" y="2670048"/>
            <a:ext cx="402336" cy="402336"/>
          </a:xfrm>
          <a:prstGeom prst="rect">
            <a:avLst/>
          </a:prstGeom>
          <a:solidFill>
            <a:srgbClr val="24325C">
              <a:alpha val="40000"/>
            </a:srgbClr>
          </a:solidFill>
          <a:ln/>
        </p:spPr>
      </p:sp>
      <p:sp>
        <p:nvSpPr>
          <p:cNvPr id="17" name="Shape 15"/>
          <p:cNvSpPr/>
          <p:nvPr/>
        </p:nvSpPr>
        <p:spPr>
          <a:xfrm>
            <a:off x="2176272" y="2670048"/>
            <a:ext cx="402336" cy="402336"/>
          </a:xfrm>
          <a:prstGeom prst="rect">
            <a:avLst/>
          </a:prstGeom>
          <a:solidFill>
            <a:srgbClr val="35507F">
              <a:alpha val="40000"/>
            </a:srgbClr>
          </a:solidFill>
          <a:ln/>
        </p:spPr>
      </p:sp>
      <p:sp>
        <p:nvSpPr>
          <p:cNvPr id="18" name="Shape 16"/>
          <p:cNvSpPr/>
          <p:nvPr/>
        </p:nvSpPr>
        <p:spPr>
          <a:xfrm>
            <a:off x="2642616" y="2670048"/>
            <a:ext cx="402336" cy="402336"/>
          </a:xfrm>
          <a:prstGeom prst="rect">
            <a:avLst/>
          </a:prstGeom>
          <a:solidFill>
            <a:srgbClr val="F2C14E">
              <a:alpha val="40000"/>
            </a:srgbClr>
          </a:solidFill>
          <a:ln/>
        </p:spPr>
      </p:sp>
      <p:sp>
        <p:nvSpPr>
          <p:cNvPr id="19" name="Shape 17"/>
          <p:cNvSpPr/>
          <p:nvPr/>
        </p:nvSpPr>
        <p:spPr>
          <a:xfrm>
            <a:off x="3108960" y="2670048"/>
            <a:ext cx="402336" cy="402336"/>
          </a:xfrm>
          <a:prstGeom prst="rect">
            <a:avLst/>
          </a:prstGeom>
          <a:solidFill>
            <a:srgbClr val="24325C">
              <a:alpha val="40000"/>
            </a:srgbClr>
          </a:solidFill>
          <a:ln/>
        </p:spPr>
      </p:sp>
      <p:sp>
        <p:nvSpPr>
          <p:cNvPr id="20" name="Shape 18"/>
          <p:cNvSpPr/>
          <p:nvPr/>
        </p:nvSpPr>
        <p:spPr>
          <a:xfrm>
            <a:off x="777240" y="3136392"/>
            <a:ext cx="402336" cy="402336"/>
          </a:xfrm>
          <a:prstGeom prst="rect">
            <a:avLst/>
          </a:prstGeom>
          <a:solidFill>
            <a:srgbClr val="35507F">
              <a:alpha val="40000"/>
            </a:srgbClr>
          </a:solidFill>
          <a:ln/>
        </p:spPr>
      </p:sp>
      <p:sp>
        <p:nvSpPr>
          <p:cNvPr id="21" name="Shape 19"/>
          <p:cNvSpPr/>
          <p:nvPr/>
        </p:nvSpPr>
        <p:spPr>
          <a:xfrm>
            <a:off x="1243584" y="3136392"/>
            <a:ext cx="402336" cy="402336"/>
          </a:xfrm>
          <a:prstGeom prst="rect">
            <a:avLst/>
          </a:prstGeom>
          <a:solidFill>
            <a:srgbClr val="F2C14E">
              <a:alpha val="40000"/>
            </a:srgbClr>
          </a:solidFill>
          <a:ln/>
        </p:spPr>
      </p:sp>
      <p:sp>
        <p:nvSpPr>
          <p:cNvPr id="22" name="Shape 20"/>
          <p:cNvSpPr/>
          <p:nvPr/>
        </p:nvSpPr>
        <p:spPr>
          <a:xfrm>
            <a:off x="1709928" y="3136392"/>
            <a:ext cx="402336" cy="402336"/>
          </a:xfrm>
          <a:prstGeom prst="rect">
            <a:avLst/>
          </a:prstGeom>
          <a:solidFill>
            <a:srgbClr val="F2C14E">
              <a:alpha val="40000"/>
            </a:srgbClr>
          </a:solidFill>
          <a:ln/>
        </p:spPr>
      </p:sp>
      <p:sp>
        <p:nvSpPr>
          <p:cNvPr id="23" name="Shape 21"/>
          <p:cNvSpPr/>
          <p:nvPr/>
        </p:nvSpPr>
        <p:spPr>
          <a:xfrm>
            <a:off x="2176272" y="3136392"/>
            <a:ext cx="402336" cy="402336"/>
          </a:xfrm>
          <a:prstGeom prst="rect">
            <a:avLst/>
          </a:prstGeom>
          <a:solidFill>
            <a:srgbClr val="24325C">
              <a:alpha val="40000"/>
            </a:srgbClr>
          </a:solidFill>
          <a:ln/>
        </p:spPr>
      </p:sp>
      <p:sp>
        <p:nvSpPr>
          <p:cNvPr id="24" name="Shape 22"/>
          <p:cNvSpPr/>
          <p:nvPr/>
        </p:nvSpPr>
        <p:spPr>
          <a:xfrm>
            <a:off x="2642616" y="3136392"/>
            <a:ext cx="402336" cy="402336"/>
          </a:xfrm>
          <a:prstGeom prst="rect">
            <a:avLst/>
          </a:prstGeom>
          <a:solidFill>
            <a:srgbClr val="F2C14E">
              <a:alpha val="40000"/>
            </a:srgbClr>
          </a:solidFill>
          <a:ln/>
        </p:spPr>
      </p:sp>
      <p:sp>
        <p:nvSpPr>
          <p:cNvPr id="25" name="Shape 23"/>
          <p:cNvSpPr/>
          <p:nvPr/>
        </p:nvSpPr>
        <p:spPr>
          <a:xfrm>
            <a:off x="3108960" y="3136392"/>
            <a:ext cx="402336" cy="402336"/>
          </a:xfrm>
          <a:prstGeom prst="rect">
            <a:avLst/>
          </a:prstGeom>
          <a:solidFill>
            <a:srgbClr val="24325C">
              <a:alpha val="40000"/>
            </a:srgbClr>
          </a:solidFill>
          <a:ln/>
        </p:spPr>
      </p:sp>
      <p:sp>
        <p:nvSpPr>
          <p:cNvPr id="26" name="Shape 24"/>
          <p:cNvSpPr/>
          <p:nvPr/>
        </p:nvSpPr>
        <p:spPr>
          <a:xfrm>
            <a:off x="777240" y="3602736"/>
            <a:ext cx="402336" cy="402336"/>
          </a:xfrm>
          <a:prstGeom prst="rect">
            <a:avLst/>
          </a:prstGeom>
          <a:solidFill>
            <a:srgbClr val="5C6F9E">
              <a:alpha val="40000"/>
            </a:srgbClr>
          </a:solidFill>
          <a:ln/>
        </p:spPr>
      </p:sp>
      <p:sp>
        <p:nvSpPr>
          <p:cNvPr id="27" name="Shape 25"/>
          <p:cNvSpPr/>
          <p:nvPr/>
        </p:nvSpPr>
        <p:spPr>
          <a:xfrm>
            <a:off x="1243584" y="3602736"/>
            <a:ext cx="402336" cy="402336"/>
          </a:xfrm>
          <a:prstGeom prst="rect">
            <a:avLst/>
          </a:prstGeom>
          <a:solidFill>
            <a:srgbClr val="5C6F9E">
              <a:alpha val="40000"/>
            </a:srgbClr>
          </a:solidFill>
          <a:ln/>
        </p:spPr>
      </p:sp>
      <p:sp>
        <p:nvSpPr>
          <p:cNvPr id="28" name="Shape 26"/>
          <p:cNvSpPr/>
          <p:nvPr/>
        </p:nvSpPr>
        <p:spPr>
          <a:xfrm>
            <a:off x="1709928" y="3602736"/>
            <a:ext cx="402336" cy="402336"/>
          </a:xfrm>
          <a:prstGeom prst="rect">
            <a:avLst/>
          </a:prstGeom>
          <a:solidFill>
            <a:srgbClr val="24325C">
              <a:alpha val="40000"/>
            </a:srgbClr>
          </a:solidFill>
          <a:ln/>
        </p:spPr>
      </p:sp>
      <p:sp>
        <p:nvSpPr>
          <p:cNvPr id="29" name="Shape 27"/>
          <p:cNvSpPr/>
          <p:nvPr/>
        </p:nvSpPr>
        <p:spPr>
          <a:xfrm>
            <a:off x="2176272" y="3602736"/>
            <a:ext cx="402336" cy="402336"/>
          </a:xfrm>
          <a:prstGeom prst="rect">
            <a:avLst/>
          </a:prstGeom>
          <a:solidFill>
            <a:srgbClr val="2A9D8F">
              <a:alpha val="40000"/>
            </a:srgbClr>
          </a:solidFill>
          <a:ln/>
        </p:spPr>
      </p:sp>
      <p:sp>
        <p:nvSpPr>
          <p:cNvPr id="30" name="Shape 28"/>
          <p:cNvSpPr/>
          <p:nvPr/>
        </p:nvSpPr>
        <p:spPr>
          <a:xfrm>
            <a:off x="2642616" y="3602736"/>
            <a:ext cx="402336" cy="402336"/>
          </a:xfrm>
          <a:prstGeom prst="rect">
            <a:avLst/>
          </a:prstGeom>
          <a:solidFill>
            <a:srgbClr val="24325C">
              <a:alpha val="40000"/>
            </a:srgbClr>
          </a:solidFill>
          <a:ln/>
        </p:spPr>
      </p:sp>
      <p:sp>
        <p:nvSpPr>
          <p:cNvPr id="31" name="Shape 29"/>
          <p:cNvSpPr/>
          <p:nvPr/>
        </p:nvSpPr>
        <p:spPr>
          <a:xfrm>
            <a:off x="3108960" y="3602736"/>
            <a:ext cx="402336" cy="402336"/>
          </a:xfrm>
          <a:prstGeom prst="rect">
            <a:avLst/>
          </a:prstGeom>
          <a:solidFill>
            <a:srgbClr val="F2C14E">
              <a:alpha val="40000"/>
            </a:srgbClr>
          </a:solidFill>
          <a:ln/>
        </p:spPr>
      </p:sp>
      <p:sp>
        <p:nvSpPr>
          <p:cNvPr id="32" name="Shape 30"/>
          <p:cNvSpPr/>
          <p:nvPr/>
        </p:nvSpPr>
        <p:spPr>
          <a:xfrm>
            <a:off x="777240" y="4069080"/>
            <a:ext cx="402336" cy="402336"/>
          </a:xfrm>
          <a:prstGeom prst="rect">
            <a:avLst/>
          </a:prstGeom>
          <a:solidFill>
            <a:srgbClr val="35507F">
              <a:alpha val="40000"/>
            </a:srgbClr>
          </a:solidFill>
          <a:ln/>
        </p:spPr>
      </p:sp>
      <p:sp>
        <p:nvSpPr>
          <p:cNvPr id="33" name="Shape 31"/>
          <p:cNvSpPr/>
          <p:nvPr/>
        </p:nvSpPr>
        <p:spPr>
          <a:xfrm>
            <a:off x="1243584" y="4069080"/>
            <a:ext cx="402336" cy="402336"/>
          </a:xfrm>
          <a:prstGeom prst="rect">
            <a:avLst/>
          </a:prstGeom>
          <a:solidFill>
            <a:srgbClr val="35507F">
              <a:alpha val="40000"/>
            </a:srgbClr>
          </a:solidFill>
          <a:ln/>
        </p:spPr>
      </p:sp>
      <p:sp>
        <p:nvSpPr>
          <p:cNvPr id="34" name="Shape 32"/>
          <p:cNvSpPr/>
          <p:nvPr/>
        </p:nvSpPr>
        <p:spPr>
          <a:xfrm>
            <a:off x="1709928" y="4069080"/>
            <a:ext cx="402336" cy="402336"/>
          </a:xfrm>
          <a:prstGeom prst="rect">
            <a:avLst/>
          </a:prstGeom>
          <a:solidFill>
            <a:srgbClr val="35507F">
              <a:alpha val="40000"/>
            </a:srgbClr>
          </a:solidFill>
          <a:ln/>
        </p:spPr>
      </p:sp>
      <p:sp>
        <p:nvSpPr>
          <p:cNvPr id="35" name="Shape 33"/>
          <p:cNvSpPr/>
          <p:nvPr/>
        </p:nvSpPr>
        <p:spPr>
          <a:xfrm>
            <a:off x="2176272" y="4069080"/>
            <a:ext cx="402336" cy="402336"/>
          </a:xfrm>
          <a:prstGeom prst="rect">
            <a:avLst/>
          </a:prstGeom>
          <a:solidFill>
            <a:srgbClr val="E8743B">
              <a:alpha val="40000"/>
            </a:srgbClr>
          </a:solidFill>
          <a:ln/>
        </p:spPr>
      </p:sp>
      <p:sp>
        <p:nvSpPr>
          <p:cNvPr id="36" name="Shape 34"/>
          <p:cNvSpPr/>
          <p:nvPr/>
        </p:nvSpPr>
        <p:spPr>
          <a:xfrm>
            <a:off x="2642616" y="4069080"/>
            <a:ext cx="402336" cy="402336"/>
          </a:xfrm>
          <a:prstGeom prst="rect">
            <a:avLst/>
          </a:prstGeom>
          <a:solidFill>
            <a:srgbClr val="35507F">
              <a:alpha val="40000"/>
            </a:srgbClr>
          </a:solidFill>
          <a:ln/>
        </p:spPr>
      </p:sp>
      <p:sp>
        <p:nvSpPr>
          <p:cNvPr id="37" name="Shape 35"/>
          <p:cNvSpPr/>
          <p:nvPr/>
        </p:nvSpPr>
        <p:spPr>
          <a:xfrm>
            <a:off x="3108960" y="4069080"/>
            <a:ext cx="402336" cy="402336"/>
          </a:xfrm>
          <a:prstGeom prst="rect">
            <a:avLst/>
          </a:prstGeom>
          <a:solidFill>
            <a:srgbClr val="24325C">
              <a:alpha val="40000"/>
            </a:srgbClr>
          </a:solidFill>
          <a:ln/>
        </p:spPr>
      </p:sp>
      <p:sp>
        <p:nvSpPr>
          <p:cNvPr id="38" name="Text 36"/>
          <p:cNvSpPr/>
          <p:nvPr/>
        </p:nvSpPr>
        <p:spPr>
          <a:xfrm>
            <a:off x="5120640" y="1600200"/>
            <a:ext cx="64008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we stand</a:t>
            </a:r>
            <a:endParaRPr lang="en-US" sz="3400" dirty="0"/>
          </a:p>
        </p:txBody>
      </p:sp>
      <p:sp>
        <p:nvSpPr>
          <p:cNvPr id="39" name="Shape 37"/>
          <p:cNvSpPr/>
          <p:nvPr/>
        </p:nvSpPr>
        <p:spPr>
          <a:xfrm>
            <a:off x="5120640" y="2478024"/>
            <a:ext cx="146304" cy="146304"/>
          </a:xfrm>
          <a:prstGeom prst="ellipse">
            <a:avLst/>
          </a:prstGeom>
          <a:solidFill>
            <a:srgbClr val="E8743B"/>
          </a:solidFill>
          <a:ln/>
        </p:spPr>
      </p:sp>
      <p:sp>
        <p:nvSpPr>
          <p:cNvPr id="40" name="Text 38"/>
          <p:cNvSpPr/>
          <p:nvPr/>
        </p:nvSpPr>
        <p:spPr>
          <a:xfrm>
            <a:off x="5440680" y="2395728"/>
            <a:ext cx="60350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RSR generalises.  </a:t>
            </a:r>
            <a:pPr indent="0" marL="0">
              <a:buNone/>
            </a:pPr>
            <a:r>
              <a:rPr lang="en-US" sz="1250" dirty="0">
                <a:solidFill>
                  <a:srgbClr val="AEBBD8"/>
                </a:solidFill>
                <a:latin typeface="Calibri" pitchFamily="34" charset="0"/>
                <a:ea typeface="Calibri" pitchFamily="34" charset="-122"/>
                <a:cs typeface="Calibri" pitchFamily="34" charset="-120"/>
              </a:rPr>
              <a:t>On BERT, the gain concentrates on words never supervised — +0.053 over a matched control, every seed.</a:t>
            </a:r>
            <a:endParaRPr lang="en-US" sz="1250" dirty="0"/>
          </a:p>
        </p:txBody>
      </p:sp>
      <p:sp>
        <p:nvSpPr>
          <p:cNvPr id="41" name="Shape 39"/>
          <p:cNvSpPr/>
          <p:nvPr/>
        </p:nvSpPr>
        <p:spPr>
          <a:xfrm>
            <a:off x="5120640" y="3255264"/>
            <a:ext cx="146304" cy="146304"/>
          </a:xfrm>
          <a:prstGeom prst="ellipse">
            <a:avLst/>
          </a:prstGeom>
          <a:solidFill>
            <a:srgbClr val="E8743B"/>
          </a:solidFill>
          <a:ln/>
        </p:spPr>
      </p:sp>
      <p:sp>
        <p:nvSpPr>
          <p:cNvPr id="42" name="Text 40"/>
          <p:cNvSpPr/>
          <p:nvPr/>
        </p:nvSpPr>
        <p:spPr>
          <a:xfrm>
            <a:off x="5440680" y="3172968"/>
            <a:ext cx="60350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Your results replicate.  </a:t>
            </a:r>
            <a:pPr indent="0" marL="0">
              <a:buNone/>
            </a:pPr>
            <a:r>
              <a:rPr lang="en-US" sz="1250" dirty="0">
                <a:solidFill>
                  <a:srgbClr val="AEBBD8"/>
                </a:solidFill>
                <a:latin typeface="Calibri" pitchFamily="34" charset="0"/>
                <a:ea typeface="Calibri" pitchFamily="34" charset="-122"/>
                <a:cs typeface="Calibri" pitchFamily="34" charset="-120"/>
              </a:rPr>
              <a:t>All four RoBERTa modes reproduce independently, including the context collapse.</a:t>
            </a:r>
            <a:endParaRPr lang="en-US" sz="1250" dirty="0"/>
          </a:p>
        </p:txBody>
      </p:sp>
      <p:sp>
        <p:nvSpPr>
          <p:cNvPr id="43" name="Shape 41"/>
          <p:cNvSpPr/>
          <p:nvPr/>
        </p:nvSpPr>
        <p:spPr>
          <a:xfrm>
            <a:off x="5120640" y="4032504"/>
            <a:ext cx="146304" cy="146304"/>
          </a:xfrm>
          <a:prstGeom prst="ellipse">
            <a:avLst/>
          </a:prstGeom>
          <a:solidFill>
            <a:srgbClr val="E8743B"/>
          </a:solidFill>
          <a:ln/>
        </p:spPr>
      </p:sp>
      <p:sp>
        <p:nvSpPr>
          <p:cNvPr id="44" name="Text 42"/>
          <p:cNvSpPr/>
          <p:nvPr/>
        </p:nvSpPr>
        <p:spPr>
          <a:xfrm>
            <a:off x="5440680" y="3950208"/>
            <a:ext cx="60350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collapse may be fixable.  </a:t>
            </a:r>
            <a:pPr indent="0" marL="0">
              <a:buNone/>
            </a:pPr>
            <a:r>
              <a:rPr lang="en-US" sz="1250" dirty="0">
                <a:solidFill>
                  <a:srgbClr val="AEBBD8"/>
                </a:solidFill>
                <a:latin typeface="Calibri" pitchFamily="34" charset="0"/>
                <a:ea typeface="Calibri" pitchFamily="34" charset="-122"/>
                <a:cs typeface="Calibri" pitchFamily="34" charset="-120"/>
              </a:rPr>
              <a:t>Anchoring, not contexts, is the likely cause — one run tests it.</a:t>
            </a:r>
            <a:endParaRPr lang="en-US" sz="1250" dirty="0"/>
          </a:p>
        </p:txBody>
      </p:sp>
      <p:sp>
        <p:nvSpPr>
          <p:cNvPr id="45" name="Shape 43"/>
          <p:cNvSpPr/>
          <p:nvPr/>
        </p:nvSpPr>
        <p:spPr>
          <a:xfrm>
            <a:off x="5120640" y="4809744"/>
            <a:ext cx="146304" cy="146304"/>
          </a:xfrm>
          <a:prstGeom prst="ellipse">
            <a:avLst/>
          </a:prstGeom>
          <a:solidFill>
            <a:srgbClr val="E8743B"/>
          </a:solidFill>
          <a:ln/>
        </p:spPr>
      </p:sp>
      <p:sp>
        <p:nvSpPr>
          <p:cNvPr id="46" name="Text 44"/>
          <p:cNvSpPr/>
          <p:nvPr/>
        </p:nvSpPr>
        <p:spPr>
          <a:xfrm>
            <a:off x="5440680" y="4727448"/>
            <a:ext cx="60350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Brain evaluation is live.  </a:t>
            </a:r>
            <a:pPr indent="0" marL="0">
              <a:buNone/>
            </a:pPr>
            <a:r>
              <a:rPr lang="en-US" sz="1250" dirty="0">
                <a:solidFill>
                  <a:srgbClr val="AEBBD8"/>
                </a:solidFill>
                <a:latin typeface="Calibri" pitchFamily="34" charset="0"/>
                <a:ea typeface="Calibri" pitchFamily="34" charset="-122"/>
                <a:cs typeface="Calibri" pitchFamily="34" charset="-120"/>
              </a:rPr>
              <a:t>Ported to BERT, 10 subjects processing, first signs point the right way.</a:t>
            </a:r>
            <a:endParaRPr lang="en-US" sz="1250" dirty="0"/>
          </a:p>
        </p:txBody>
      </p:sp>
      <p:sp>
        <p:nvSpPr>
          <p:cNvPr id="47" name="Text 45"/>
          <p:cNvSpPr/>
          <p:nvPr/>
        </p:nvSpPr>
        <p:spPr>
          <a:xfrm>
            <a:off x="5120640" y="5669280"/>
            <a:ext cx="6400800" cy="365760"/>
          </a:xfrm>
          <a:prstGeom prst="rect">
            <a:avLst/>
          </a:prstGeom>
          <a:noFill/>
          <a:ln/>
        </p:spPr>
        <p:txBody>
          <a:bodyPr wrap="square" lIns="0" tIns="0" rIns="0" bIns="0" rtlCol="0" anchor="ctr"/>
          <a:lstStyle/>
          <a:p>
            <a:pPr indent="0" marL="0">
              <a:buNone/>
            </a:pPr>
            <a:r>
              <a:rPr lang="en-US" sz="1200" i="1" dirty="0">
                <a:solidFill>
                  <a:srgbClr val="F2C14E"/>
                </a:solidFill>
                <a:latin typeface="Calibri" pitchFamily="34" charset="0"/>
                <a:ea typeface="Calibri" pitchFamily="34" charset="-122"/>
                <a:cs typeface="Calibri" pitchFamily="34" charset="-120"/>
              </a:rPr>
              <a:t>Questions for you: priority order · which brain dataset next · one write-up or two?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Representational Similarity Regularisation</dc:title>
  <dc:subject>PptxGenJS Presentation</dc:subject>
  <dc:creator>Jack McMenamin</dc:creator>
  <cp:lastModifiedBy>Jack McMenamin</cp:lastModifiedBy>
  <cp:revision>1</cp:revision>
  <dcterms:created xsi:type="dcterms:W3CDTF">2026-07-26T20:26:29Z</dcterms:created>
  <dcterms:modified xsi:type="dcterms:W3CDTF">2026-07-26T20:26:29Z</dcterms:modified>
</cp:coreProperties>
</file>