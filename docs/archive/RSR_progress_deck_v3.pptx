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Vanilla BERT</c:v>
                </c:pt>
              </c:strCache>
            </c:strRef>
          </c:tx>
          <c:spPr>
            <a:solidFill>
              <a:srgbClr val="B9C4DC"/>
            </a:solidFill>
            <a:effectLst/>
          </c:spPr>
          <c:invertIfNegative val="0"/>
          <c:dLbls>
            <c:numFmt formatCode="0.000" sourceLinked="0"/>
            <c:txPr>
              <a:bodyPr/>
              <a:lstStyle/>
              <a:p>
                <a:pPr>
                  <a:defRPr b="0" i="0" strike="noStrike" sz="900" u="none">
                    <a:solidFill>
                      <a:srgbClr val="141B3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All pairs</c:v>
                  </c:pt>
                  <c:pt idx="1">
                    <c:v>Both supervised</c:v>
                  </c:pt>
                  <c:pt idx="2">
                    <c:v>One supervised</c:v>
                  </c:pt>
                  <c:pt idx="3">
                    <c:v>Neither supervised</c:v>
                  </c:pt>
                </c:lvl>
              </c:multiLvlStrCache>
            </c:multiLvlStrRef>
          </c:cat>
          <c:val>
            <c:numRef>
              <c:f>Sheet1!$B$2:$B$5</c:f>
              <c:numCache>
                <c:formatCode>General</c:formatCode>
                <c:ptCount val="4"/>
                <c:pt idx="0">
                  <c:v>0.492</c:v>
                </c:pt>
                <c:pt idx="1">
                  <c:v>0.336</c:v>
                </c:pt>
                <c:pt idx="2">
                  <c:v>0.617</c:v>
                </c:pt>
                <c:pt idx="3">
                  <c:v>0.55</c:v>
                </c:pt>
              </c:numCache>
            </c:numRef>
          </c:val>
        </c:ser>
        <c:ser>
          <c:idx val="1"/>
          <c:order val="1"/>
          <c:tx>
            <c:strRef>
              <c:f>Sheet1!$C$1</c:f>
              <c:strCache>
                <c:ptCount val="1"/>
                <c:pt idx="0">
                  <c:v>+MLM control</c:v>
                </c:pt>
              </c:strCache>
            </c:strRef>
          </c:tx>
          <c:spPr>
            <a:solidFill>
              <a:srgbClr val="5C6F9E"/>
            </a:solidFill>
            <a:effectLst/>
          </c:spPr>
          <c:invertIfNegative val="0"/>
          <c:dLbls>
            <c:numFmt formatCode="0.000" sourceLinked="0"/>
            <c:txPr>
              <a:bodyPr/>
              <a:lstStyle/>
              <a:p>
                <a:pPr>
                  <a:defRPr b="0" i="0" strike="noStrike" sz="900" u="none">
                    <a:solidFill>
                      <a:srgbClr val="141B3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All pairs</c:v>
                  </c:pt>
                  <c:pt idx="1">
                    <c:v>Both supervised</c:v>
                  </c:pt>
                  <c:pt idx="2">
                    <c:v>One supervised</c:v>
                  </c:pt>
                  <c:pt idx="3">
                    <c:v>Neither supervised</c:v>
                  </c:pt>
                </c:lvl>
              </c:multiLvlStrCache>
            </c:multiLvlStrRef>
          </c:cat>
          <c:val>
            <c:numRef>
              <c:f>Sheet1!$C$2:$C$5</c:f>
              <c:numCache>
                <c:formatCode>General</c:formatCode>
                <c:ptCount val="4"/>
                <c:pt idx="0">
                  <c:v>0.51</c:v>
                </c:pt>
                <c:pt idx="1">
                  <c:v>0.333</c:v>
                </c:pt>
                <c:pt idx="2">
                  <c:v>0.645</c:v>
                </c:pt>
                <c:pt idx="3">
                  <c:v>0.561</c:v>
                </c:pt>
              </c:numCache>
            </c:numRef>
          </c:val>
        </c:ser>
        <c:ser>
          <c:idx val="2"/>
          <c:order val="2"/>
          <c:tx>
            <c:strRef>
              <c:f>Sheet1!$D$1</c:f>
              <c:strCache>
                <c:ptCount val="1"/>
                <c:pt idx="0">
                  <c:v>RSR</c:v>
                </c:pt>
              </c:strCache>
            </c:strRef>
          </c:tx>
          <c:spPr>
            <a:solidFill>
              <a:srgbClr val="E8743B"/>
            </a:solidFill>
            <a:effectLst/>
          </c:spPr>
          <c:invertIfNegative val="0"/>
          <c:dLbls>
            <c:numFmt formatCode="0.000" sourceLinked="0"/>
            <c:txPr>
              <a:bodyPr/>
              <a:lstStyle/>
              <a:p>
                <a:pPr>
                  <a:defRPr b="0" i="0" strike="noStrike" sz="900" u="none">
                    <a:solidFill>
                      <a:srgbClr val="141B3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All pairs</c:v>
                  </c:pt>
                  <c:pt idx="1">
                    <c:v>Both supervised</c:v>
                  </c:pt>
                  <c:pt idx="2">
                    <c:v>One supervised</c:v>
                  </c:pt>
                  <c:pt idx="3">
                    <c:v>Neither supervised</c:v>
                  </c:pt>
                </c:lvl>
              </c:multiLvlStrCache>
            </c:multiLvlStrRef>
          </c:cat>
          <c:val>
            <c:numRef>
              <c:f>Sheet1!$D$2:$D$5</c:f>
              <c:numCache>
                <c:formatCode>General</c:formatCode>
                <c:ptCount val="4"/>
                <c:pt idx="0">
                  <c:v>0.528</c:v>
                </c:pt>
                <c:pt idx="1">
                  <c:v>0.34</c:v>
                </c:pt>
                <c:pt idx="2">
                  <c:v>0.648</c:v>
                </c:pt>
                <c:pt idx="3">
                  <c:v>0.614</c:v>
                </c:pt>
              </c:numCache>
            </c:numRef>
          </c:val>
        </c:ser>
        <c:dLbls>
          <c:numFmt formatCode="0.000" sourceLinked="0"/>
          <c:txPr>
            <a:bodyPr/>
            <a:lstStyle/>
            <a:p>
              <a:pPr>
                <a:defRPr b="0" i="0" strike="noStrike" sz="900" u="none">
                  <a:solidFill>
                    <a:srgbClr val="141B34"/>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588"/>
                </a:solidFill>
                <a:latin typeface="Calibri"/>
              </a:defRPr>
            </a:pPr>
            <a:endParaRPr lang="en-US"/>
          </a:p>
        </c:txPr>
        <c:crossAx val="2094734552"/>
        <c:crosses val="autoZero"/>
        <c:auto val="1"/>
        <c:lblAlgn val="ctr"/>
        <c:noMultiLvlLbl val="1"/>
      </c:catAx>
      <c:valAx>
        <c:axId val="2094734552"/>
        <c:scaling>
          <c:orientation val="minMax"/>
          <c:max val="0.75"/>
          <c:min val="0"/>
        </c:scaling>
        <c:delete val="0"/>
        <c:axPos val="l"/>
        <c:majorGridlines>
          <c:spPr>
            <a:ln w="12700" cap="flat">
              <a:solidFill>
                <a:srgbClr val="E8ECF5"/>
              </a:solidFill>
              <a:prstDash val="solid"/>
              <a:round/>
            </a:ln>
          </c:spPr>
        </c:majorGridlines>
        <c:title>
          <c:tx>
            <c:rich>
              <a:bodyPr/>
              <a:lstStyle/>
              <a:p>
                <a:pPr>
                  <a:defRPr sz="1100" b="0" i="0" u="none" strike="noStrike">
                    <a:solidFill>
                      <a:srgbClr val="5A6588"/>
                    </a:solidFill>
                    <a:latin typeface="Calibri"/>
                  </a:defRPr>
                </a:pPr>
                <a:r>
                  <a:rPr sz="1100" b="0" i="0" u="none" strike="noStrike">
                    <a:solidFill>
                      <a:srgbClr val="5A6588"/>
                    </a:solidFill>
                    <a:latin typeface="Calibri"/>
                  </a:rPr>
                  <a:t>SimLex-999 Spearman rho</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88"/>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All pairs</c:v>
                </c:pt>
              </c:strCache>
            </c:strRef>
          </c:tx>
          <c:spPr>
            <a:solidFill>
              <a:srgbClr val="24325C"/>
            </a:solidFill>
            <a:ln w="38100" cap="flat">
              <a:solidFill>
                <a:srgbClr val="2432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4325C"/>
              </a:solidFill>
              <a:ln w="9525" cap="flat">
                <a:solidFill>
                  <a:srgbClr val="24325C"/>
                </a:solidFill>
                <a:prstDash val="solid"/>
                <a:round/>
              </a:ln>
              <a:effectLst/>
            </c:spPr>
          </c:marker>
          <c:cat>
            <c:multiLvlStrRef>
              <c:f>Sheet1!$A$2:$A$14</c:f>
              <c:multiLvlStrCache>
                <c:ptCount val="13"/>
                <c:lvl>
                  <c:pt idx="0">
                    <c:v>0</c:v>
                  </c:pt>
                  <c:pt idx="1">
                    <c:v>1</c:v>
                  </c:pt>
                  <c:pt idx="2">
                    <c:v>2</c:v>
                  </c:pt>
                  <c:pt idx="3">
                    <c:v>3</c:v>
                  </c:pt>
                  <c:pt idx="4">
                    <c:v>4</c:v>
                  </c:pt>
                  <c:pt idx="5">
                    <c:v>5</c:v>
                  </c:pt>
                  <c:pt idx="6">
                    <c:v>6</c:v>
                  </c:pt>
                  <c:pt idx="7">
                    <c:v>7</c:v>
                  </c:pt>
                  <c:pt idx="8">
                    <c:v>8</c:v>
                  </c:pt>
                  <c:pt idx="9">
                    <c:v>9</c:v>
                  </c:pt>
                  <c:pt idx="10">
                    <c:v>10</c:v>
                  </c:pt>
                  <c:pt idx="11">
                    <c:v>11</c:v>
                  </c:pt>
                  <c:pt idx="12">
                    <c:v>12</c:v>
                  </c:pt>
                </c:lvl>
              </c:multiLvlStrCache>
            </c:multiLvlStrRef>
          </c:cat>
          <c:val>
            <c:numRef>
              <c:f>Sheet1!$B$2:$B$14</c:f>
              <c:numCache>
                <c:formatCode>General</c:formatCode>
                <c:ptCount val="13"/>
                <c:pt idx="0">
                  <c:v>0.5181</c:v>
                </c:pt>
                <c:pt idx="1">
                  <c:v>0.5096</c:v>
                </c:pt>
                <c:pt idx="2">
                  <c:v>0.5112</c:v>
                </c:pt>
                <c:pt idx="3">
                  <c:v>0.5181</c:v>
                </c:pt>
                <c:pt idx="4">
                  <c:v>0.515</c:v>
                </c:pt>
                <c:pt idx="5">
                  <c:v>0.5164</c:v>
                </c:pt>
                <c:pt idx="6">
                  <c:v>0.5204</c:v>
                </c:pt>
                <c:pt idx="7">
                  <c:v>0.5227</c:v>
                </c:pt>
                <c:pt idx="8">
                  <c:v>0.5218</c:v>
                </c:pt>
                <c:pt idx="9">
                  <c:v>0.5122</c:v>
                </c:pt>
                <c:pt idx="10">
                  <c:v>0.4867</c:v>
                </c:pt>
                <c:pt idx="11">
                  <c:v>0.4695</c:v>
                </c:pt>
                <c:pt idx="12">
                  <c:v>0.4921</c:v>
                </c:pt>
              </c:numCache>
            </c:numRef>
          </c:val>
          <c:smooth val="0"/>
        </c:ser>
        <c:ser>
          <c:idx val="1"/>
          <c:order val="1"/>
          <c:tx>
            <c:strRef>
              <c:f>Sheet1!$C$1</c:f>
              <c:strCache>
                <c:ptCount val="1"/>
                <c:pt idx="0">
                  <c:v>Neither supervised</c:v>
                </c:pt>
              </c:strCache>
            </c:strRef>
          </c:tx>
          <c:spPr>
            <a:solidFill>
              <a:srgbClr val="E8743B"/>
            </a:solidFill>
            <a:ln w="38100" cap="flat">
              <a:solidFill>
                <a:srgbClr val="E87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743B"/>
              </a:solidFill>
              <a:ln w="9525" cap="flat">
                <a:solidFill>
                  <a:srgbClr val="E8743B"/>
                </a:solidFill>
                <a:prstDash val="solid"/>
                <a:round/>
              </a:ln>
              <a:effectLst/>
            </c:spPr>
          </c:marker>
          <c:cat>
            <c:multiLvlStrRef>
              <c:f>Sheet1!$A$2:$A$14</c:f>
              <c:multiLvlStrCache>
                <c:ptCount val="13"/>
                <c:lvl>
                  <c:pt idx="0">
                    <c:v>0</c:v>
                  </c:pt>
                  <c:pt idx="1">
                    <c:v>1</c:v>
                  </c:pt>
                  <c:pt idx="2">
                    <c:v>2</c:v>
                  </c:pt>
                  <c:pt idx="3">
                    <c:v>3</c:v>
                  </c:pt>
                  <c:pt idx="4">
                    <c:v>4</c:v>
                  </c:pt>
                  <c:pt idx="5">
                    <c:v>5</c:v>
                  </c:pt>
                  <c:pt idx="6">
                    <c:v>6</c:v>
                  </c:pt>
                  <c:pt idx="7">
                    <c:v>7</c:v>
                  </c:pt>
                  <c:pt idx="8">
                    <c:v>8</c:v>
                  </c:pt>
                  <c:pt idx="9">
                    <c:v>9</c:v>
                  </c:pt>
                  <c:pt idx="10">
                    <c:v>10</c:v>
                  </c:pt>
                  <c:pt idx="11">
                    <c:v>11</c:v>
                  </c:pt>
                  <c:pt idx="12">
                    <c:v>12</c:v>
                  </c:pt>
                </c:lvl>
              </c:multiLvlStrCache>
            </c:multiLvlStrRef>
          </c:cat>
          <c:val>
            <c:numRef>
              <c:f>Sheet1!$C$2:$C$14</c:f>
              <c:numCache>
                <c:formatCode>General</c:formatCode>
                <c:ptCount val="13"/>
                <c:pt idx="0">
                  <c:v>0.5283</c:v>
                </c:pt>
                <c:pt idx="1">
                  <c:v>0.5222</c:v>
                </c:pt>
                <c:pt idx="2">
                  <c:v>0.5333</c:v>
                </c:pt>
                <c:pt idx="3">
                  <c:v>0.5333</c:v>
                </c:pt>
                <c:pt idx="4">
                  <c:v>0.5439</c:v>
                </c:pt>
                <c:pt idx="5">
                  <c:v>0.5418</c:v>
                </c:pt>
                <c:pt idx="6">
                  <c:v>0.553</c:v>
                </c:pt>
                <c:pt idx="7">
                  <c:v>0.5677</c:v>
                </c:pt>
                <c:pt idx="8">
                  <c:v>0.5813</c:v>
                </c:pt>
                <c:pt idx="9">
                  <c:v>0.585</c:v>
                </c:pt>
                <c:pt idx="10">
                  <c:v>0.5636</c:v>
                </c:pt>
                <c:pt idx="11">
                  <c:v>0.5438</c:v>
                </c:pt>
                <c:pt idx="12">
                  <c:v>0.5498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588"/>
                    </a:solidFill>
                    <a:latin typeface="Calibri"/>
                  </a:defRPr>
                </a:pPr>
                <a:r>
                  <a:rPr sz="1100" b="0" i="0" u="none" strike="noStrike">
                    <a:solidFill>
                      <a:srgbClr val="5A6588"/>
                    </a:solidFill>
                    <a:latin typeface="Calibri"/>
                  </a:rPr>
                  <a:t>hidden layer (0 = embeddings)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588"/>
                </a:solidFill>
                <a:latin typeface="Calibri"/>
              </a:defRPr>
            </a:pPr>
            <a:endParaRPr lang="en-US"/>
          </a:p>
        </c:txPr>
        <c:crossAx val="2094734552"/>
        <c:crosses val="autoZero"/>
        <c:auto val="1"/>
        <c:lblAlgn val="ctr"/>
        <c:noMultiLvlLbl val="1"/>
      </c:catAx>
      <c:valAx>
        <c:axId val="2094734552"/>
        <c:scaling>
          <c:orientation val="minMax"/>
          <c:max val="0.62"/>
          <c:min val="0.44"/>
        </c:scaling>
        <c:delete val="0"/>
        <c:axPos val="l"/>
        <c:majorGridlines>
          <c:spPr>
            <a:ln w="12700" cap="flat">
              <a:solidFill>
                <a:srgbClr val="E8EC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8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in three acts: the shared idea, where our two implementations diverged and why, and what the divergence produced - including a double dissociation on brain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old/new row is the whole thesis in miniature. Note SimLex ships both columns - that gives us a planned analysis: does RSR widen the gap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grids are the point: model similarity structure on the left, human structure on the right, and RSR is the pressure that moves one toward the other. Worth pausing here - everything after this slide is about HOW you apply that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pivotal slide. Both rationales are reasonable a priori - that is what makes the disagreement interesting rather than a bug. Flag the two orange rows; everything downstream traces back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control: it gets identical training minus RSR, so this is not a 'more training helps' effect. The Both-supervised bar being flat is itself interesting - our supervision scale does not match SimLex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useful things here: it is cheap (no training), and it independently converged on the same conclusion Barry reached for RoBERTa. The two curves peaking at different layers - 7 for all pairs, 9 for generalisation - is worth a mention.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confirmation - his work stands up under independent replication. The two notes are offered as help. The batch-size one matters because it removes the easy explanation for the collapse, which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matters: not 'you are wrong', but 'your conclusion may be about the anchoring rather than the contexts'. He only tried averaging over multiple sentences as a fix - never the weighted mixing. This is the single highest-value experiment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dissociation is the story - and it lines up with the mechanism from the previous slide. Template RSR edits individual token embeddings; anchored context RSR moves the space. Be upfront about n=3 and p=0.068.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orient anyone who has not followed the details, and to show honestly where the gaps are. The pitch in stage 4 is the paper abstract in miniature - the brain arm is what makes it more than an engineering result, and it is the one still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and one are the cheap high-value ones. Four is table stakes for a paper but nobody will be excited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The big one is whether the BERT and RoBERTa lines become one paper - the dissociation argues they should, since the contrast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4"/>
        </a:solidFill>
      </p:bgPr>
    </p:bg>
    <p:spTree>
      <p:nvGrpSpPr>
        <p:cNvPr id="1" name=""/>
        <p:cNvGrpSpPr/>
        <p:nvPr/>
      </p:nvGrpSpPr>
      <p:grpSpPr>
        <a:xfrm>
          <a:off x="0" y="0"/>
          <a:ext cx="0" cy="0"/>
          <a:chOff x="0" y="0"/>
          <a:chExt cx="0" cy="0"/>
        </a:xfrm>
      </p:grpSpPr>
      <p:sp>
        <p:nvSpPr>
          <p:cNvPr id="2" name="Shape 0"/>
          <p:cNvSpPr/>
          <p:nvPr/>
        </p:nvSpPr>
        <p:spPr>
          <a:xfrm>
            <a:off x="8183880" y="1463040"/>
            <a:ext cx="384048" cy="384048"/>
          </a:xfrm>
          <a:prstGeom prst="rect">
            <a:avLst/>
          </a:prstGeom>
          <a:solidFill>
            <a:srgbClr val="1B2A52"/>
          </a:solidFill>
          <a:ln/>
        </p:spPr>
      </p:sp>
      <p:sp>
        <p:nvSpPr>
          <p:cNvPr id="3" name="Shape 1"/>
          <p:cNvSpPr/>
          <p:nvPr/>
        </p:nvSpPr>
        <p:spPr>
          <a:xfrm>
            <a:off x="8567928" y="1463040"/>
            <a:ext cx="384048" cy="384048"/>
          </a:xfrm>
          <a:prstGeom prst="rect">
            <a:avLst/>
          </a:prstGeom>
          <a:solidFill>
            <a:srgbClr val="DC703C"/>
          </a:solidFill>
          <a:ln/>
        </p:spPr>
      </p:sp>
      <p:sp>
        <p:nvSpPr>
          <p:cNvPr id="4" name="Shape 2"/>
          <p:cNvSpPr/>
          <p:nvPr/>
        </p:nvSpPr>
        <p:spPr>
          <a:xfrm>
            <a:off x="8951976" y="1463040"/>
            <a:ext cx="384048" cy="384048"/>
          </a:xfrm>
          <a:prstGeom prst="rect">
            <a:avLst/>
          </a:prstGeom>
          <a:solidFill>
            <a:srgbClr val="5C414B"/>
          </a:solidFill>
          <a:ln/>
        </p:spPr>
      </p:sp>
      <p:sp>
        <p:nvSpPr>
          <p:cNvPr id="5" name="Shape 3"/>
          <p:cNvSpPr/>
          <p:nvPr/>
        </p:nvSpPr>
        <p:spPr>
          <a:xfrm>
            <a:off x="9336024" y="1463040"/>
            <a:ext cx="384048" cy="384048"/>
          </a:xfrm>
          <a:prstGeom prst="rect">
            <a:avLst/>
          </a:prstGeom>
          <a:solidFill>
            <a:srgbClr val="D16C3E"/>
          </a:solidFill>
          <a:ln/>
        </p:spPr>
      </p:sp>
      <p:sp>
        <p:nvSpPr>
          <p:cNvPr id="6" name="Shape 4"/>
          <p:cNvSpPr/>
          <p:nvPr/>
        </p:nvSpPr>
        <p:spPr>
          <a:xfrm>
            <a:off x="9720072" y="1463040"/>
            <a:ext cx="384048" cy="384048"/>
          </a:xfrm>
          <a:prstGeom prst="rect">
            <a:avLst/>
          </a:prstGeom>
          <a:solidFill>
            <a:srgbClr val="865046"/>
          </a:solidFill>
          <a:ln/>
        </p:spPr>
      </p:sp>
      <p:sp>
        <p:nvSpPr>
          <p:cNvPr id="7" name="Shape 5"/>
          <p:cNvSpPr/>
          <p:nvPr/>
        </p:nvSpPr>
        <p:spPr>
          <a:xfrm>
            <a:off x="10104120" y="1463040"/>
            <a:ext cx="384048" cy="384048"/>
          </a:xfrm>
          <a:prstGeom prst="rect">
            <a:avLst/>
          </a:prstGeom>
          <a:solidFill>
            <a:srgbClr val="BB6440"/>
          </a:solidFill>
          <a:ln/>
        </p:spPr>
      </p:sp>
      <p:sp>
        <p:nvSpPr>
          <p:cNvPr id="8" name="Shape 6"/>
          <p:cNvSpPr/>
          <p:nvPr/>
        </p:nvSpPr>
        <p:spPr>
          <a:xfrm>
            <a:off x="10488168" y="1463040"/>
            <a:ext cx="384048" cy="384048"/>
          </a:xfrm>
          <a:prstGeom prst="rect">
            <a:avLst/>
          </a:prstGeom>
          <a:solidFill>
            <a:srgbClr val="A95D42"/>
          </a:solidFill>
          <a:ln/>
        </p:spPr>
      </p:sp>
      <p:sp>
        <p:nvSpPr>
          <p:cNvPr id="9" name="Shape 7"/>
          <p:cNvSpPr/>
          <p:nvPr/>
        </p:nvSpPr>
        <p:spPr>
          <a:xfrm>
            <a:off x="10872216" y="1463040"/>
            <a:ext cx="384048" cy="384048"/>
          </a:xfrm>
          <a:prstGeom prst="rect">
            <a:avLst/>
          </a:prstGeom>
          <a:solidFill>
            <a:srgbClr val="9B5844"/>
          </a:solidFill>
          <a:ln/>
        </p:spPr>
      </p:sp>
      <p:sp>
        <p:nvSpPr>
          <p:cNvPr id="10" name="Shape 8"/>
          <p:cNvSpPr/>
          <p:nvPr/>
        </p:nvSpPr>
        <p:spPr>
          <a:xfrm>
            <a:off x="11256264" y="1463040"/>
            <a:ext cx="384048" cy="384048"/>
          </a:xfrm>
          <a:prstGeom prst="rect">
            <a:avLst/>
          </a:prstGeom>
          <a:solidFill>
            <a:srgbClr val="C5673F"/>
          </a:solidFill>
          <a:ln/>
        </p:spPr>
      </p:sp>
      <p:sp>
        <p:nvSpPr>
          <p:cNvPr id="11" name="Shape 9"/>
          <p:cNvSpPr/>
          <p:nvPr/>
        </p:nvSpPr>
        <p:spPr>
          <a:xfrm>
            <a:off x="8183880" y="1847088"/>
            <a:ext cx="384048" cy="384048"/>
          </a:xfrm>
          <a:prstGeom prst="rect">
            <a:avLst/>
          </a:prstGeom>
          <a:solidFill>
            <a:srgbClr val="B16041"/>
          </a:solidFill>
          <a:ln/>
        </p:spPr>
      </p:sp>
      <p:sp>
        <p:nvSpPr>
          <p:cNvPr id="12" name="Shape 10"/>
          <p:cNvSpPr/>
          <p:nvPr/>
        </p:nvSpPr>
        <p:spPr>
          <a:xfrm>
            <a:off x="8567928" y="1847088"/>
            <a:ext cx="384048" cy="384048"/>
          </a:xfrm>
          <a:prstGeom prst="rect">
            <a:avLst/>
          </a:prstGeom>
          <a:solidFill>
            <a:srgbClr val="1B2A52"/>
          </a:solidFill>
          <a:ln/>
        </p:spPr>
      </p:sp>
      <p:sp>
        <p:nvSpPr>
          <p:cNvPr id="13" name="Shape 11"/>
          <p:cNvSpPr/>
          <p:nvPr/>
        </p:nvSpPr>
        <p:spPr>
          <a:xfrm>
            <a:off x="8951976" y="1847088"/>
            <a:ext cx="384048" cy="384048"/>
          </a:xfrm>
          <a:prstGeom prst="rect">
            <a:avLst/>
          </a:prstGeom>
          <a:solidFill>
            <a:srgbClr val="8F5445"/>
          </a:solidFill>
          <a:ln/>
        </p:spPr>
      </p:sp>
      <p:sp>
        <p:nvSpPr>
          <p:cNvPr id="14" name="Shape 12"/>
          <p:cNvSpPr/>
          <p:nvPr/>
        </p:nvSpPr>
        <p:spPr>
          <a:xfrm>
            <a:off x="9336024" y="1847088"/>
            <a:ext cx="384048" cy="384048"/>
          </a:xfrm>
          <a:prstGeom prst="rect">
            <a:avLst/>
          </a:prstGeom>
          <a:solidFill>
            <a:srgbClr val="CC6A3E"/>
          </a:solidFill>
          <a:ln/>
        </p:spPr>
      </p:sp>
      <p:sp>
        <p:nvSpPr>
          <p:cNvPr id="15" name="Shape 13"/>
          <p:cNvSpPr/>
          <p:nvPr/>
        </p:nvSpPr>
        <p:spPr>
          <a:xfrm>
            <a:off x="9720072" y="1847088"/>
            <a:ext cx="384048" cy="384048"/>
          </a:xfrm>
          <a:prstGeom prst="rect">
            <a:avLst/>
          </a:prstGeom>
          <a:solidFill>
            <a:srgbClr val="674549"/>
          </a:solidFill>
          <a:ln/>
        </p:spPr>
      </p:sp>
      <p:sp>
        <p:nvSpPr>
          <p:cNvPr id="16" name="Shape 14"/>
          <p:cNvSpPr/>
          <p:nvPr/>
        </p:nvSpPr>
        <p:spPr>
          <a:xfrm>
            <a:off x="10104120" y="1847088"/>
            <a:ext cx="384048" cy="384048"/>
          </a:xfrm>
          <a:prstGeom prst="rect">
            <a:avLst/>
          </a:prstGeom>
          <a:solidFill>
            <a:srgbClr val="DA6F3D"/>
          </a:solidFill>
          <a:ln/>
        </p:spPr>
      </p:sp>
      <p:sp>
        <p:nvSpPr>
          <p:cNvPr id="17" name="Shape 15"/>
          <p:cNvSpPr/>
          <p:nvPr/>
        </p:nvSpPr>
        <p:spPr>
          <a:xfrm>
            <a:off x="10488168" y="1847088"/>
            <a:ext cx="384048" cy="384048"/>
          </a:xfrm>
          <a:prstGeom prst="rect">
            <a:avLst/>
          </a:prstGeom>
          <a:solidFill>
            <a:srgbClr val="3B364E"/>
          </a:solidFill>
          <a:ln/>
        </p:spPr>
      </p:sp>
      <p:sp>
        <p:nvSpPr>
          <p:cNvPr id="18" name="Shape 16"/>
          <p:cNvSpPr/>
          <p:nvPr/>
        </p:nvSpPr>
        <p:spPr>
          <a:xfrm>
            <a:off x="10872216" y="1847088"/>
            <a:ext cx="384048" cy="384048"/>
          </a:xfrm>
          <a:prstGeom prst="rect">
            <a:avLst/>
          </a:prstGeom>
          <a:solidFill>
            <a:srgbClr val="DD703C"/>
          </a:solidFill>
          <a:ln/>
        </p:spPr>
      </p:sp>
      <p:sp>
        <p:nvSpPr>
          <p:cNvPr id="19" name="Shape 17"/>
          <p:cNvSpPr/>
          <p:nvPr/>
        </p:nvSpPr>
        <p:spPr>
          <a:xfrm>
            <a:off x="11256264" y="1847088"/>
            <a:ext cx="384048" cy="384048"/>
          </a:xfrm>
          <a:prstGeom prst="rect">
            <a:avLst/>
          </a:prstGeom>
          <a:solidFill>
            <a:srgbClr val="513D4C"/>
          </a:solidFill>
          <a:ln/>
        </p:spPr>
      </p:sp>
      <p:sp>
        <p:nvSpPr>
          <p:cNvPr id="20" name="Shape 18"/>
          <p:cNvSpPr/>
          <p:nvPr/>
        </p:nvSpPr>
        <p:spPr>
          <a:xfrm>
            <a:off x="8183880" y="2231136"/>
            <a:ext cx="384048" cy="384048"/>
          </a:xfrm>
          <a:prstGeom prst="rect">
            <a:avLst/>
          </a:prstGeom>
          <a:solidFill>
            <a:srgbClr val="DD703C"/>
          </a:solidFill>
          <a:ln/>
        </p:spPr>
      </p:sp>
      <p:sp>
        <p:nvSpPr>
          <p:cNvPr id="21" name="Shape 19"/>
          <p:cNvSpPr/>
          <p:nvPr/>
        </p:nvSpPr>
        <p:spPr>
          <a:xfrm>
            <a:off x="8567928" y="2231136"/>
            <a:ext cx="384048" cy="384048"/>
          </a:xfrm>
          <a:prstGeom prst="rect">
            <a:avLst/>
          </a:prstGeom>
          <a:solidFill>
            <a:srgbClr val="32324F"/>
          </a:solidFill>
          <a:ln/>
        </p:spPr>
      </p:sp>
      <p:sp>
        <p:nvSpPr>
          <p:cNvPr id="22" name="Shape 20"/>
          <p:cNvSpPr/>
          <p:nvPr/>
        </p:nvSpPr>
        <p:spPr>
          <a:xfrm>
            <a:off x="8951976" y="2231136"/>
            <a:ext cx="384048" cy="384048"/>
          </a:xfrm>
          <a:prstGeom prst="rect">
            <a:avLst/>
          </a:prstGeom>
          <a:solidFill>
            <a:srgbClr val="1B2A52"/>
          </a:solidFill>
          <a:ln/>
        </p:spPr>
      </p:sp>
      <p:sp>
        <p:nvSpPr>
          <p:cNvPr id="23" name="Shape 21"/>
          <p:cNvSpPr/>
          <p:nvPr/>
        </p:nvSpPr>
        <p:spPr>
          <a:xfrm>
            <a:off x="9336024" y="2231136"/>
            <a:ext cx="384048" cy="384048"/>
          </a:xfrm>
          <a:prstGeom prst="rect">
            <a:avLst/>
          </a:prstGeom>
          <a:solidFill>
            <a:srgbClr val="5F424A"/>
          </a:solidFill>
          <a:ln/>
        </p:spPr>
      </p:sp>
      <p:sp>
        <p:nvSpPr>
          <p:cNvPr id="24" name="Shape 22"/>
          <p:cNvSpPr/>
          <p:nvPr/>
        </p:nvSpPr>
        <p:spPr>
          <a:xfrm>
            <a:off x="9720072" y="2231136"/>
            <a:ext cx="384048" cy="384048"/>
          </a:xfrm>
          <a:prstGeom prst="rect">
            <a:avLst/>
          </a:prstGeom>
          <a:solidFill>
            <a:srgbClr val="D06B3E"/>
          </a:solidFill>
          <a:ln/>
        </p:spPr>
      </p:sp>
      <p:sp>
        <p:nvSpPr>
          <p:cNvPr id="25" name="Shape 23"/>
          <p:cNvSpPr/>
          <p:nvPr/>
        </p:nvSpPr>
        <p:spPr>
          <a:xfrm>
            <a:off x="10104120" y="2231136"/>
            <a:ext cx="384048" cy="384048"/>
          </a:xfrm>
          <a:prstGeom prst="rect">
            <a:avLst/>
          </a:prstGeom>
          <a:solidFill>
            <a:srgbClr val="885146"/>
          </a:solidFill>
          <a:ln/>
        </p:spPr>
      </p:sp>
      <p:sp>
        <p:nvSpPr>
          <p:cNvPr id="26" name="Shape 24"/>
          <p:cNvSpPr/>
          <p:nvPr/>
        </p:nvSpPr>
        <p:spPr>
          <a:xfrm>
            <a:off x="10488168" y="2231136"/>
            <a:ext cx="384048" cy="384048"/>
          </a:xfrm>
          <a:prstGeom prst="rect">
            <a:avLst/>
          </a:prstGeom>
          <a:solidFill>
            <a:srgbClr val="B96340"/>
          </a:solidFill>
          <a:ln/>
        </p:spPr>
      </p:sp>
      <p:sp>
        <p:nvSpPr>
          <p:cNvPr id="27" name="Shape 25"/>
          <p:cNvSpPr/>
          <p:nvPr/>
        </p:nvSpPr>
        <p:spPr>
          <a:xfrm>
            <a:off x="10872216" y="2231136"/>
            <a:ext cx="384048" cy="384048"/>
          </a:xfrm>
          <a:prstGeom prst="rect">
            <a:avLst/>
          </a:prstGeom>
          <a:solidFill>
            <a:srgbClr val="AC5E42"/>
          </a:solidFill>
          <a:ln/>
        </p:spPr>
      </p:sp>
      <p:sp>
        <p:nvSpPr>
          <p:cNvPr id="28" name="Shape 26"/>
          <p:cNvSpPr/>
          <p:nvPr/>
        </p:nvSpPr>
        <p:spPr>
          <a:xfrm>
            <a:off x="11256264" y="2231136"/>
            <a:ext cx="384048" cy="384048"/>
          </a:xfrm>
          <a:prstGeom prst="rect">
            <a:avLst/>
          </a:prstGeom>
          <a:solidFill>
            <a:srgbClr val="995744"/>
          </a:solidFill>
          <a:ln/>
        </p:spPr>
      </p:sp>
      <p:sp>
        <p:nvSpPr>
          <p:cNvPr id="29" name="Shape 27"/>
          <p:cNvSpPr/>
          <p:nvPr/>
        </p:nvSpPr>
        <p:spPr>
          <a:xfrm>
            <a:off x="8183880" y="2615184"/>
            <a:ext cx="384048" cy="384048"/>
          </a:xfrm>
          <a:prstGeom prst="rect">
            <a:avLst/>
          </a:prstGeom>
          <a:solidFill>
            <a:srgbClr val="945644"/>
          </a:solidFill>
          <a:ln/>
        </p:spPr>
      </p:sp>
      <p:sp>
        <p:nvSpPr>
          <p:cNvPr id="30" name="Shape 28"/>
          <p:cNvSpPr/>
          <p:nvPr/>
        </p:nvSpPr>
        <p:spPr>
          <a:xfrm>
            <a:off x="8567928" y="2615184"/>
            <a:ext cx="384048" cy="384048"/>
          </a:xfrm>
          <a:prstGeom prst="rect">
            <a:avLst/>
          </a:prstGeom>
          <a:solidFill>
            <a:srgbClr val="AF6041"/>
          </a:solidFill>
          <a:ln/>
        </p:spPr>
      </p:sp>
      <p:sp>
        <p:nvSpPr>
          <p:cNvPr id="31" name="Shape 29"/>
          <p:cNvSpPr/>
          <p:nvPr/>
        </p:nvSpPr>
        <p:spPr>
          <a:xfrm>
            <a:off x="8951976" y="2615184"/>
            <a:ext cx="384048" cy="384048"/>
          </a:xfrm>
          <a:prstGeom prst="rect">
            <a:avLst/>
          </a:prstGeom>
          <a:solidFill>
            <a:srgbClr val="B56241"/>
          </a:solidFill>
          <a:ln/>
        </p:spPr>
      </p:sp>
      <p:sp>
        <p:nvSpPr>
          <p:cNvPr id="32" name="Shape 30"/>
          <p:cNvSpPr/>
          <p:nvPr/>
        </p:nvSpPr>
        <p:spPr>
          <a:xfrm>
            <a:off x="9336024" y="2615184"/>
            <a:ext cx="384048" cy="384048"/>
          </a:xfrm>
          <a:prstGeom prst="rect">
            <a:avLst/>
          </a:prstGeom>
          <a:solidFill>
            <a:srgbClr val="1B2A52"/>
          </a:solidFill>
          <a:ln/>
        </p:spPr>
      </p:sp>
      <p:sp>
        <p:nvSpPr>
          <p:cNvPr id="33" name="Shape 31"/>
          <p:cNvSpPr/>
          <p:nvPr/>
        </p:nvSpPr>
        <p:spPr>
          <a:xfrm>
            <a:off x="9720072" y="2615184"/>
            <a:ext cx="384048" cy="384048"/>
          </a:xfrm>
          <a:prstGeom prst="rect">
            <a:avLst/>
          </a:prstGeom>
          <a:solidFill>
            <a:srgbClr val="CD6A3E"/>
          </a:solidFill>
          <a:ln/>
        </p:spPr>
      </p:sp>
      <p:sp>
        <p:nvSpPr>
          <p:cNvPr id="34" name="Shape 32"/>
          <p:cNvSpPr/>
          <p:nvPr/>
        </p:nvSpPr>
        <p:spPr>
          <a:xfrm>
            <a:off x="10104120" y="2615184"/>
            <a:ext cx="384048" cy="384048"/>
          </a:xfrm>
          <a:prstGeom prst="rect">
            <a:avLst/>
          </a:prstGeom>
          <a:solidFill>
            <a:srgbClr val="64444A"/>
          </a:solidFill>
          <a:ln/>
        </p:spPr>
      </p:sp>
      <p:sp>
        <p:nvSpPr>
          <p:cNvPr id="35" name="Shape 33"/>
          <p:cNvSpPr/>
          <p:nvPr/>
        </p:nvSpPr>
        <p:spPr>
          <a:xfrm>
            <a:off x="10488168" y="2615184"/>
            <a:ext cx="384048" cy="384048"/>
          </a:xfrm>
          <a:prstGeom prst="rect">
            <a:avLst/>
          </a:prstGeom>
          <a:solidFill>
            <a:srgbClr val="DB6F3C"/>
          </a:solidFill>
          <a:ln/>
        </p:spPr>
      </p:sp>
      <p:sp>
        <p:nvSpPr>
          <p:cNvPr id="36" name="Shape 34"/>
          <p:cNvSpPr/>
          <p:nvPr/>
        </p:nvSpPr>
        <p:spPr>
          <a:xfrm>
            <a:off x="10872216" y="2615184"/>
            <a:ext cx="384048" cy="384048"/>
          </a:xfrm>
          <a:prstGeom prst="rect">
            <a:avLst/>
          </a:prstGeom>
          <a:solidFill>
            <a:srgbClr val="38354F"/>
          </a:solidFill>
          <a:ln/>
        </p:spPr>
      </p:sp>
      <p:sp>
        <p:nvSpPr>
          <p:cNvPr id="37" name="Shape 35"/>
          <p:cNvSpPr/>
          <p:nvPr/>
        </p:nvSpPr>
        <p:spPr>
          <a:xfrm>
            <a:off x="11256264" y="2615184"/>
            <a:ext cx="384048" cy="384048"/>
          </a:xfrm>
          <a:prstGeom prst="rect">
            <a:avLst/>
          </a:prstGeom>
          <a:solidFill>
            <a:srgbClr val="DD703C"/>
          </a:solidFill>
          <a:ln/>
        </p:spPr>
      </p:sp>
      <p:sp>
        <p:nvSpPr>
          <p:cNvPr id="38" name="Shape 36"/>
          <p:cNvSpPr/>
          <p:nvPr/>
        </p:nvSpPr>
        <p:spPr>
          <a:xfrm>
            <a:off x="8183880" y="2999232"/>
            <a:ext cx="384048" cy="384048"/>
          </a:xfrm>
          <a:prstGeom prst="rect">
            <a:avLst/>
          </a:prstGeom>
          <a:solidFill>
            <a:srgbClr val="563F4B"/>
          </a:solidFill>
          <a:ln/>
        </p:spPr>
      </p:sp>
      <p:sp>
        <p:nvSpPr>
          <p:cNvPr id="39" name="Shape 37"/>
          <p:cNvSpPr/>
          <p:nvPr/>
        </p:nvSpPr>
        <p:spPr>
          <a:xfrm>
            <a:off x="8567928" y="2999232"/>
            <a:ext cx="384048" cy="384048"/>
          </a:xfrm>
          <a:prstGeom prst="rect">
            <a:avLst/>
          </a:prstGeom>
          <a:solidFill>
            <a:srgbClr val="DD703C"/>
          </a:solidFill>
          <a:ln/>
        </p:spPr>
      </p:sp>
      <p:sp>
        <p:nvSpPr>
          <p:cNvPr id="40" name="Shape 38"/>
          <p:cNvSpPr/>
          <p:nvPr/>
        </p:nvSpPr>
        <p:spPr>
          <a:xfrm>
            <a:off x="8951976" y="2999232"/>
            <a:ext cx="384048" cy="384048"/>
          </a:xfrm>
          <a:prstGeom prst="rect">
            <a:avLst/>
          </a:prstGeom>
          <a:solidFill>
            <a:srgbClr val="35344F"/>
          </a:solidFill>
          <a:ln/>
        </p:spPr>
      </p:sp>
      <p:sp>
        <p:nvSpPr>
          <p:cNvPr id="41" name="Shape 39"/>
          <p:cNvSpPr/>
          <p:nvPr/>
        </p:nvSpPr>
        <p:spPr>
          <a:xfrm>
            <a:off x="9336024" y="2999232"/>
            <a:ext cx="384048" cy="384048"/>
          </a:xfrm>
          <a:prstGeom prst="rect">
            <a:avLst/>
          </a:prstGeom>
          <a:solidFill>
            <a:srgbClr val="DB6F3C"/>
          </a:solidFill>
          <a:ln/>
        </p:spPr>
      </p:sp>
      <p:sp>
        <p:nvSpPr>
          <p:cNvPr id="42" name="Shape 40"/>
          <p:cNvSpPr/>
          <p:nvPr/>
        </p:nvSpPr>
        <p:spPr>
          <a:xfrm>
            <a:off x="9720072" y="2999232"/>
            <a:ext cx="384048" cy="384048"/>
          </a:xfrm>
          <a:prstGeom prst="rect">
            <a:avLst/>
          </a:prstGeom>
          <a:solidFill>
            <a:srgbClr val="1B2A52"/>
          </a:solidFill>
          <a:ln/>
        </p:spPr>
      </p:sp>
      <p:sp>
        <p:nvSpPr>
          <p:cNvPr id="43" name="Shape 41"/>
          <p:cNvSpPr/>
          <p:nvPr/>
        </p:nvSpPr>
        <p:spPr>
          <a:xfrm>
            <a:off x="10104120" y="2999232"/>
            <a:ext cx="384048" cy="384048"/>
          </a:xfrm>
          <a:prstGeom prst="rect">
            <a:avLst/>
          </a:prstGeom>
          <a:solidFill>
            <a:srgbClr val="CF6B3E"/>
          </a:solidFill>
          <a:ln/>
        </p:spPr>
      </p:sp>
      <p:sp>
        <p:nvSpPr>
          <p:cNvPr id="44" name="Shape 42"/>
          <p:cNvSpPr/>
          <p:nvPr/>
        </p:nvSpPr>
        <p:spPr>
          <a:xfrm>
            <a:off x="10488168" y="2999232"/>
            <a:ext cx="384048" cy="384048"/>
          </a:xfrm>
          <a:prstGeom prst="rect">
            <a:avLst/>
          </a:prstGeom>
          <a:solidFill>
            <a:srgbClr val="8B5245"/>
          </a:solidFill>
          <a:ln/>
        </p:spPr>
      </p:sp>
      <p:sp>
        <p:nvSpPr>
          <p:cNvPr id="45" name="Shape 43"/>
          <p:cNvSpPr/>
          <p:nvPr/>
        </p:nvSpPr>
        <p:spPr>
          <a:xfrm>
            <a:off x="10872216" y="2999232"/>
            <a:ext cx="384048" cy="384048"/>
          </a:xfrm>
          <a:prstGeom prst="rect">
            <a:avLst/>
          </a:prstGeom>
          <a:solidFill>
            <a:srgbClr val="B76240"/>
          </a:solidFill>
          <a:ln/>
        </p:spPr>
      </p:sp>
      <p:sp>
        <p:nvSpPr>
          <p:cNvPr id="46" name="Shape 44"/>
          <p:cNvSpPr/>
          <p:nvPr/>
        </p:nvSpPr>
        <p:spPr>
          <a:xfrm>
            <a:off x="11256264" y="2999232"/>
            <a:ext cx="384048" cy="384048"/>
          </a:xfrm>
          <a:prstGeom prst="rect">
            <a:avLst/>
          </a:prstGeom>
          <a:solidFill>
            <a:srgbClr val="AE5F42"/>
          </a:solidFill>
          <a:ln/>
        </p:spPr>
      </p:sp>
      <p:sp>
        <p:nvSpPr>
          <p:cNvPr id="47" name="Shape 45"/>
          <p:cNvSpPr/>
          <p:nvPr/>
        </p:nvSpPr>
        <p:spPr>
          <a:xfrm>
            <a:off x="8183880" y="3383280"/>
            <a:ext cx="384048" cy="384048"/>
          </a:xfrm>
          <a:prstGeom prst="rect">
            <a:avLst/>
          </a:prstGeom>
          <a:solidFill>
            <a:srgbClr val="C8683F"/>
          </a:solidFill>
          <a:ln/>
        </p:spPr>
      </p:sp>
      <p:sp>
        <p:nvSpPr>
          <p:cNvPr id="48" name="Shape 46"/>
          <p:cNvSpPr/>
          <p:nvPr/>
        </p:nvSpPr>
        <p:spPr>
          <a:xfrm>
            <a:off x="8567928" y="3383280"/>
            <a:ext cx="384048" cy="384048"/>
          </a:xfrm>
          <a:prstGeom prst="rect">
            <a:avLst/>
          </a:prstGeom>
          <a:solidFill>
            <a:srgbClr val="975744"/>
          </a:solidFill>
          <a:ln/>
        </p:spPr>
      </p:sp>
      <p:sp>
        <p:nvSpPr>
          <p:cNvPr id="49" name="Shape 47"/>
          <p:cNvSpPr/>
          <p:nvPr/>
        </p:nvSpPr>
        <p:spPr>
          <a:xfrm>
            <a:off x="8951976" y="3383280"/>
            <a:ext cx="384048" cy="384048"/>
          </a:xfrm>
          <a:prstGeom prst="rect">
            <a:avLst/>
          </a:prstGeom>
          <a:solidFill>
            <a:srgbClr val="AD5F42"/>
          </a:solidFill>
          <a:ln/>
        </p:spPr>
      </p:sp>
      <p:sp>
        <p:nvSpPr>
          <p:cNvPr id="50" name="Shape 48"/>
          <p:cNvSpPr/>
          <p:nvPr/>
        </p:nvSpPr>
        <p:spPr>
          <a:xfrm>
            <a:off x="9336024" y="3383280"/>
            <a:ext cx="384048" cy="384048"/>
          </a:xfrm>
          <a:prstGeom prst="rect">
            <a:avLst/>
          </a:prstGeom>
          <a:solidFill>
            <a:srgbClr val="B76240"/>
          </a:solidFill>
          <a:ln/>
        </p:spPr>
      </p:sp>
      <p:sp>
        <p:nvSpPr>
          <p:cNvPr id="51" name="Shape 49"/>
          <p:cNvSpPr/>
          <p:nvPr/>
        </p:nvSpPr>
        <p:spPr>
          <a:xfrm>
            <a:off x="9720072" y="3383280"/>
            <a:ext cx="384048" cy="384048"/>
          </a:xfrm>
          <a:prstGeom prst="rect">
            <a:avLst/>
          </a:prstGeom>
          <a:solidFill>
            <a:srgbClr val="8B5245"/>
          </a:solidFill>
          <a:ln/>
        </p:spPr>
      </p:sp>
      <p:sp>
        <p:nvSpPr>
          <p:cNvPr id="52" name="Shape 50"/>
          <p:cNvSpPr/>
          <p:nvPr/>
        </p:nvSpPr>
        <p:spPr>
          <a:xfrm>
            <a:off x="10104120" y="3383280"/>
            <a:ext cx="384048" cy="384048"/>
          </a:xfrm>
          <a:prstGeom prst="rect">
            <a:avLst/>
          </a:prstGeom>
          <a:solidFill>
            <a:srgbClr val="1B2A52"/>
          </a:solidFill>
          <a:ln/>
        </p:spPr>
      </p:sp>
      <p:sp>
        <p:nvSpPr>
          <p:cNvPr id="53" name="Shape 51"/>
          <p:cNvSpPr/>
          <p:nvPr/>
        </p:nvSpPr>
        <p:spPr>
          <a:xfrm>
            <a:off x="10488168" y="3383280"/>
            <a:ext cx="384048" cy="384048"/>
          </a:xfrm>
          <a:prstGeom prst="rect">
            <a:avLst/>
          </a:prstGeom>
          <a:solidFill>
            <a:srgbClr val="62434A"/>
          </a:solidFill>
          <a:ln/>
        </p:spPr>
      </p:sp>
      <p:sp>
        <p:nvSpPr>
          <p:cNvPr id="54" name="Shape 52"/>
          <p:cNvSpPr/>
          <p:nvPr/>
        </p:nvSpPr>
        <p:spPr>
          <a:xfrm>
            <a:off x="10872216" y="3383280"/>
            <a:ext cx="384048" cy="384048"/>
          </a:xfrm>
          <a:prstGeom prst="rect">
            <a:avLst/>
          </a:prstGeom>
          <a:solidFill>
            <a:srgbClr val="DB6F3C"/>
          </a:solidFill>
          <a:ln/>
        </p:spPr>
      </p:sp>
      <p:sp>
        <p:nvSpPr>
          <p:cNvPr id="55" name="Shape 53"/>
          <p:cNvSpPr/>
          <p:nvPr/>
        </p:nvSpPr>
        <p:spPr>
          <a:xfrm>
            <a:off x="11256264" y="3383280"/>
            <a:ext cx="384048" cy="384048"/>
          </a:xfrm>
          <a:prstGeom prst="rect">
            <a:avLst/>
          </a:prstGeom>
          <a:solidFill>
            <a:srgbClr val="35334F"/>
          </a:solidFill>
          <a:ln/>
        </p:spPr>
      </p:sp>
      <p:sp>
        <p:nvSpPr>
          <p:cNvPr id="56" name="Shape 54"/>
          <p:cNvSpPr/>
          <p:nvPr/>
        </p:nvSpPr>
        <p:spPr>
          <a:xfrm>
            <a:off x="8183880" y="3767328"/>
            <a:ext cx="384048" cy="384048"/>
          </a:xfrm>
          <a:prstGeom prst="rect">
            <a:avLst/>
          </a:prstGeom>
          <a:solidFill>
            <a:srgbClr val="D46D3D"/>
          </a:solidFill>
          <a:ln/>
        </p:spPr>
      </p:sp>
      <p:sp>
        <p:nvSpPr>
          <p:cNvPr id="57" name="Shape 55"/>
          <p:cNvSpPr/>
          <p:nvPr/>
        </p:nvSpPr>
        <p:spPr>
          <a:xfrm>
            <a:off x="8567928" y="3767328"/>
            <a:ext cx="384048" cy="384048"/>
          </a:xfrm>
          <a:prstGeom prst="rect">
            <a:avLst/>
          </a:prstGeom>
          <a:solidFill>
            <a:srgbClr val="533E4C"/>
          </a:solidFill>
          <a:ln/>
        </p:spPr>
      </p:sp>
      <p:sp>
        <p:nvSpPr>
          <p:cNvPr id="58" name="Shape 56"/>
          <p:cNvSpPr/>
          <p:nvPr/>
        </p:nvSpPr>
        <p:spPr>
          <a:xfrm>
            <a:off x="8951976" y="3767328"/>
            <a:ext cx="384048" cy="384048"/>
          </a:xfrm>
          <a:prstGeom prst="rect">
            <a:avLst/>
          </a:prstGeom>
          <a:solidFill>
            <a:srgbClr val="DD703C"/>
          </a:solidFill>
          <a:ln/>
        </p:spPr>
      </p:sp>
      <p:sp>
        <p:nvSpPr>
          <p:cNvPr id="59" name="Shape 57"/>
          <p:cNvSpPr/>
          <p:nvPr/>
        </p:nvSpPr>
        <p:spPr>
          <a:xfrm>
            <a:off x="9336024" y="3767328"/>
            <a:ext cx="384048" cy="384048"/>
          </a:xfrm>
          <a:prstGeom prst="rect">
            <a:avLst/>
          </a:prstGeom>
          <a:solidFill>
            <a:srgbClr val="38354F"/>
          </a:solidFill>
          <a:ln/>
        </p:spPr>
      </p:sp>
      <p:sp>
        <p:nvSpPr>
          <p:cNvPr id="60" name="Shape 58"/>
          <p:cNvSpPr/>
          <p:nvPr/>
        </p:nvSpPr>
        <p:spPr>
          <a:xfrm>
            <a:off x="9720072" y="3767328"/>
            <a:ext cx="384048" cy="384048"/>
          </a:xfrm>
          <a:prstGeom prst="rect">
            <a:avLst/>
          </a:prstGeom>
          <a:solidFill>
            <a:srgbClr val="DB6F3C"/>
          </a:solidFill>
          <a:ln/>
        </p:spPr>
      </p:sp>
      <p:sp>
        <p:nvSpPr>
          <p:cNvPr id="61" name="Shape 59"/>
          <p:cNvSpPr/>
          <p:nvPr/>
        </p:nvSpPr>
        <p:spPr>
          <a:xfrm>
            <a:off x="10104120" y="3767328"/>
            <a:ext cx="384048" cy="384048"/>
          </a:xfrm>
          <a:prstGeom prst="rect">
            <a:avLst/>
          </a:prstGeom>
          <a:solidFill>
            <a:srgbClr val="64454A"/>
          </a:solidFill>
          <a:ln/>
        </p:spPr>
      </p:sp>
      <p:sp>
        <p:nvSpPr>
          <p:cNvPr id="62" name="Shape 60"/>
          <p:cNvSpPr/>
          <p:nvPr/>
        </p:nvSpPr>
        <p:spPr>
          <a:xfrm>
            <a:off x="10488168" y="3767328"/>
            <a:ext cx="384048" cy="384048"/>
          </a:xfrm>
          <a:prstGeom prst="rect">
            <a:avLst/>
          </a:prstGeom>
          <a:solidFill>
            <a:srgbClr val="1B2A52"/>
          </a:solidFill>
          <a:ln/>
        </p:spPr>
      </p:sp>
      <p:sp>
        <p:nvSpPr>
          <p:cNvPr id="63" name="Shape 61"/>
          <p:cNvSpPr/>
          <p:nvPr/>
        </p:nvSpPr>
        <p:spPr>
          <a:xfrm>
            <a:off x="10872216" y="3767328"/>
            <a:ext cx="384048" cy="384048"/>
          </a:xfrm>
          <a:prstGeom prst="rect">
            <a:avLst/>
          </a:prstGeom>
          <a:solidFill>
            <a:srgbClr val="8D5345"/>
          </a:solidFill>
          <a:ln/>
        </p:spPr>
      </p:sp>
      <p:sp>
        <p:nvSpPr>
          <p:cNvPr id="64" name="Shape 62"/>
          <p:cNvSpPr/>
          <p:nvPr/>
        </p:nvSpPr>
        <p:spPr>
          <a:xfrm>
            <a:off x="11256264" y="3767328"/>
            <a:ext cx="384048" cy="384048"/>
          </a:xfrm>
          <a:prstGeom prst="rect">
            <a:avLst/>
          </a:prstGeom>
          <a:solidFill>
            <a:srgbClr val="B56241"/>
          </a:solidFill>
          <a:ln/>
        </p:spPr>
      </p:sp>
      <p:sp>
        <p:nvSpPr>
          <p:cNvPr id="65" name="Shape 63"/>
          <p:cNvSpPr/>
          <p:nvPr/>
        </p:nvSpPr>
        <p:spPr>
          <a:xfrm>
            <a:off x="8183880" y="4151376"/>
            <a:ext cx="384048" cy="384048"/>
          </a:xfrm>
          <a:prstGeom prst="rect">
            <a:avLst/>
          </a:prstGeom>
          <a:solidFill>
            <a:srgbClr val="724948"/>
          </a:solidFill>
          <a:ln/>
        </p:spPr>
      </p:sp>
      <p:sp>
        <p:nvSpPr>
          <p:cNvPr id="66" name="Shape 64"/>
          <p:cNvSpPr/>
          <p:nvPr/>
        </p:nvSpPr>
        <p:spPr>
          <a:xfrm>
            <a:off x="8567928" y="4151376"/>
            <a:ext cx="384048" cy="384048"/>
          </a:xfrm>
          <a:prstGeom prst="rect">
            <a:avLst/>
          </a:prstGeom>
          <a:solidFill>
            <a:srgbClr val="C7683F"/>
          </a:solidFill>
          <a:ln/>
        </p:spPr>
      </p:sp>
      <p:sp>
        <p:nvSpPr>
          <p:cNvPr id="67" name="Shape 65"/>
          <p:cNvSpPr/>
          <p:nvPr/>
        </p:nvSpPr>
        <p:spPr>
          <a:xfrm>
            <a:off x="8951976" y="4151376"/>
            <a:ext cx="384048" cy="384048"/>
          </a:xfrm>
          <a:prstGeom prst="rect">
            <a:avLst/>
          </a:prstGeom>
          <a:solidFill>
            <a:srgbClr val="995744"/>
          </a:solidFill>
          <a:ln/>
        </p:spPr>
      </p:sp>
      <p:sp>
        <p:nvSpPr>
          <p:cNvPr id="68" name="Shape 66"/>
          <p:cNvSpPr/>
          <p:nvPr/>
        </p:nvSpPr>
        <p:spPr>
          <a:xfrm>
            <a:off x="9336024" y="4151376"/>
            <a:ext cx="384048" cy="384048"/>
          </a:xfrm>
          <a:prstGeom prst="rect">
            <a:avLst/>
          </a:prstGeom>
          <a:solidFill>
            <a:srgbClr val="AB5E42"/>
          </a:solidFill>
          <a:ln/>
        </p:spPr>
      </p:sp>
      <p:sp>
        <p:nvSpPr>
          <p:cNvPr id="69" name="Shape 67"/>
          <p:cNvSpPr/>
          <p:nvPr/>
        </p:nvSpPr>
        <p:spPr>
          <a:xfrm>
            <a:off x="9720072" y="4151376"/>
            <a:ext cx="384048" cy="384048"/>
          </a:xfrm>
          <a:prstGeom prst="rect">
            <a:avLst/>
          </a:prstGeom>
          <a:solidFill>
            <a:srgbClr val="B96340"/>
          </a:solidFill>
          <a:ln/>
        </p:spPr>
      </p:sp>
      <p:sp>
        <p:nvSpPr>
          <p:cNvPr id="70" name="Shape 68"/>
          <p:cNvSpPr/>
          <p:nvPr/>
        </p:nvSpPr>
        <p:spPr>
          <a:xfrm>
            <a:off x="10104120" y="4151376"/>
            <a:ext cx="384048" cy="384048"/>
          </a:xfrm>
          <a:prstGeom prst="rect">
            <a:avLst/>
          </a:prstGeom>
          <a:solidFill>
            <a:srgbClr val="885146"/>
          </a:solidFill>
          <a:ln/>
        </p:spPr>
      </p:sp>
      <p:sp>
        <p:nvSpPr>
          <p:cNvPr id="71" name="Shape 69"/>
          <p:cNvSpPr/>
          <p:nvPr/>
        </p:nvSpPr>
        <p:spPr>
          <a:xfrm>
            <a:off x="10488168" y="4151376"/>
            <a:ext cx="384048" cy="384048"/>
          </a:xfrm>
          <a:prstGeom prst="rect">
            <a:avLst/>
          </a:prstGeom>
          <a:solidFill>
            <a:srgbClr val="D06B3E"/>
          </a:solidFill>
          <a:ln/>
        </p:spPr>
      </p:sp>
      <p:sp>
        <p:nvSpPr>
          <p:cNvPr id="72" name="Shape 70"/>
          <p:cNvSpPr/>
          <p:nvPr/>
        </p:nvSpPr>
        <p:spPr>
          <a:xfrm>
            <a:off x="10872216" y="4151376"/>
            <a:ext cx="384048" cy="384048"/>
          </a:xfrm>
          <a:prstGeom prst="rect">
            <a:avLst/>
          </a:prstGeom>
          <a:solidFill>
            <a:srgbClr val="1B2A52"/>
          </a:solidFill>
          <a:ln/>
        </p:spPr>
      </p:sp>
      <p:sp>
        <p:nvSpPr>
          <p:cNvPr id="73" name="Shape 71"/>
          <p:cNvSpPr/>
          <p:nvPr/>
        </p:nvSpPr>
        <p:spPr>
          <a:xfrm>
            <a:off x="11256264" y="4151376"/>
            <a:ext cx="384048" cy="384048"/>
          </a:xfrm>
          <a:prstGeom prst="rect">
            <a:avLst/>
          </a:prstGeom>
          <a:solidFill>
            <a:srgbClr val="DC703C"/>
          </a:solidFill>
          <a:ln/>
        </p:spPr>
      </p:sp>
      <p:sp>
        <p:nvSpPr>
          <p:cNvPr id="74" name="Shape 72"/>
          <p:cNvSpPr/>
          <p:nvPr/>
        </p:nvSpPr>
        <p:spPr>
          <a:xfrm>
            <a:off x="8183880" y="4535424"/>
            <a:ext cx="384048" cy="384048"/>
          </a:xfrm>
          <a:prstGeom prst="rect">
            <a:avLst/>
          </a:prstGeom>
          <a:solidFill>
            <a:srgbClr val="7B4D47"/>
          </a:solidFill>
          <a:ln/>
        </p:spPr>
      </p:sp>
      <p:sp>
        <p:nvSpPr>
          <p:cNvPr id="75" name="Shape 73"/>
          <p:cNvSpPr/>
          <p:nvPr/>
        </p:nvSpPr>
        <p:spPr>
          <a:xfrm>
            <a:off x="8567928" y="4535424"/>
            <a:ext cx="384048" cy="384048"/>
          </a:xfrm>
          <a:prstGeom prst="rect">
            <a:avLst/>
          </a:prstGeom>
          <a:solidFill>
            <a:srgbClr val="D56D3D"/>
          </a:solidFill>
          <a:ln/>
        </p:spPr>
      </p:sp>
      <p:sp>
        <p:nvSpPr>
          <p:cNvPr id="76" name="Shape 74"/>
          <p:cNvSpPr/>
          <p:nvPr/>
        </p:nvSpPr>
        <p:spPr>
          <a:xfrm>
            <a:off x="8951976" y="4535424"/>
            <a:ext cx="384048" cy="384048"/>
          </a:xfrm>
          <a:prstGeom prst="rect">
            <a:avLst/>
          </a:prstGeom>
          <a:solidFill>
            <a:srgbClr val="513D4C"/>
          </a:solidFill>
          <a:ln/>
        </p:spPr>
      </p:sp>
      <p:sp>
        <p:nvSpPr>
          <p:cNvPr id="77" name="Shape 75"/>
          <p:cNvSpPr/>
          <p:nvPr/>
        </p:nvSpPr>
        <p:spPr>
          <a:xfrm>
            <a:off x="9336024" y="4535424"/>
            <a:ext cx="384048" cy="384048"/>
          </a:xfrm>
          <a:prstGeom prst="rect">
            <a:avLst/>
          </a:prstGeom>
          <a:solidFill>
            <a:srgbClr val="DD703C"/>
          </a:solidFill>
          <a:ln/>
        </p:spPr>
      </p:sp>
      <p:sp>
        <p:nvSpPr>
          <p:cNvPr id="78" name="Shape 76"/>
          <p:cNvSpPr/>
          <p:nvPr/>
        </p:nvSpPr>
        <p:spPr>
          <a:xfrm>
            <a:off x="9720072" y="4535424"/>
            <a:ext cx="384048" cy="384048"/>
          </a:xfrm>
          <a:prstGeom prst="rect">
            <a:avLst/>
          </a:prstGeom>
          <a:solidFill>
            <a:srgbClr val="3B364E"/>
          </a:solidFill>
          <a:ln/>
        </p:spPr>
      </p:sp>
      <p:sp>
        <p:nvSpPr>
          <p:cNvPr id="79" name="Shape 77"/>
          <p:cNvSpPr/>
          <p:nvPr/>
        </p:nvSpPr>
        <p:spPr>
          <a:xfrm>
            <a:off x="10104120" y="4535424"/>
            <a:ext cx="384048" cy="384048"/>
          </a:xfrm>
          <a:prstGeom prst="rect">
            <a:avLst/>
          </a:prstGeom>
          <a:solidFill>
            <a:srgbClr val="DA6F3D"/>
          </a:solidFill>
          <a:ln/>
        </p:spPr>
      </p:sp>
      <p:sp>
        <p:nvSpPr>
          <p:cNvPr id="80" name="Shape 78"/>
          <p:cNvSpPr/>
          <p:nvPr/>
        </p:nvSpPr>
        <p:spPr>
          <a:xfrm>
            <a:off x="10488168" y="4535424"/>
            <a:ext cx="384048" cy="384048"/>
          </a:xfrm>
          <a:prstGeom prst="rect">
            <a:avLst/>
          </a:prstGeom>
          <a:solidFill>
            <a:srgbClr val="674649"/>
          </a:solidFill>
          <a:ln/>
        </p:spPr>
      </p:sp>
      <p:sp>
        <p:nvSpPr>
          <p:cNvPr id="81" name="Shape 79"/>
          <p:cNvSpPr/>
          <p:nvPr/>
        </p:nvSpPr>
        <p:spPr>
          <a:xfrm>
            <a:off x="10872216" y="4535424"/>
            <a:ext cx="384048" cy="384048"/>
          </a:xfrm>
          <a:prstGeom prst="rect">
            <a:avLst/>
          </a:prstGeom>
          <a:solidFill>
            <a:srgbClr val="CC6A3E"/>
          </a:solidFill>
          <a:ln/>
        </p:spPr>
      </p:sp>
      <p:sp>
        <p:nvSpPr>
          <p:cNvPr id="82" name="Shape 80"/>
          <p:cNvSpPr/>
          <p:nvPr/>
        </p:nvSpPr>
        <p:spPr>
          <a:xfrm>
            <a:off x="11256264" y="4535424"/>
            <a:ext cx="384048" cy="384048"/>
          </a:xfrm>
          <a:prstGeom prst="rect">
            <a:avLst/>
          </a:prstGeom>
          <a:solidFill>
            <a:srgbClr val="1B2A52"/>
          </a:solidFill>
          <a:ln/>
        </p:spPr>
      </p:sp>
      <p:sp>
        <p:nvSpPr>
          <p:cNvPr id="83" name="Text 81"/>
          <p:cNvSpPr/>
          <p:nvPr/>
        </p:nvSpPr>
        <p:spPr>
          <a:xfrm>
            <a:off x="777240" y="1463040"/>
            <a:ext cx="7315200" cy="658368"/>
          </a:xfrm>
          <a:prstGeom prst="rect">
            <a:avLst/>
          </a:prstGeom>
          <a:noFill/>
          <a:ln/>
        </p:spPr>
        <p:txBody>
          <a:bodyPr wrap="square" lIns="0" tIns="0" rIns="0" bIns="0" rtlCol="0" anchor="ctr"/>
          <a:lstStyle/>
          <a:p>
            <a:pPr indent="0" marL="0">
              <a:buNone/>
            </a:pPr>
            <a:r>
              <a:rPr lang="en-US" sz="4200" dirty="0">
                <a:solidFill>
                  <a:srgbClr val="FFFFFF"/>
                </a:solidFill>
                <a:latin typeface="Cambria" pitchFamily="34" charset="0"/>
                <a:ea typeface="Cambria" pitchFamily="34" charset="-122"/>
                <a:cs typeface="Cambria" pitchFamily="34" charset="-120"/>
              </a:rPr>
              <a:t>Representational</a:t>
            </a:r>
            <a:endParaRPr lang="en-US" sz="4200" dirty="0"/>
          </a:p>
        </p:txBody>
      </p:sp>
      <p:sp>
        <p:nvSpPr>
          <p:cNvPr id="84" name="Text 82"/>
          <p:cNvSpPr/>
          <p:nvPr/>
        </p:nvSpPr>
        <p:spPr>
          <a:xfrm>
            <a:off x="777240" y="2084832"/>
            <a:ext cx="7315200" cy="713232"/>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Similarity Regularisation</a:t>
            </a:r>
            <a:endParaRPr lang="en-US" sz="4200" dirty="0"/>
          </a:p>
        </p:txBody>
      </p:sp>
      <p:sp>
        <p:nvSpPr>
          <p:cNvPr id="85" name="Text 83"/>
          <p:cNvSpPr/>
          <p:nvPr/>
        </p:nvSpPr>
        <p:spPr>
          <a:xfrm>
            <a:off x="777240" y="3017520"/>
            <a:ext cx="6766560" cy="777240"/>
          </a:xfrm>
          <a:prstGeom prst="rect">
            <a:avLst/>
          </a:prstGeom>
          <a:noFill/>
          <a:ln/>
        </p:spPr>
        <p:txBody>
          <a:bodyPr wrap="square" lIns="0" tIns="0" rIns="0" bIns="0" rtlCol="0" anchor="ctr"/>
          <a:lstStyle/>
          <a:p>
            <a:pPr indent="0" marL="0">
              <a:buNone/>
            </a:pPr>
            <a:r>
              <a:rPr lang="en-US" sz="1500" dirty="0">
                <a:solidFill>
                  <a:srgbClr val="AEBBD8"/>
                </a:solidFill>
                <a:latin typeface="Calibri" pitchFamily="34" charset="0"/>
                <a:ea typeface="Calibri" pitchFamily="34" charset="-122"/>
                <a:cs typeface="Calibri" pitchFamily="34" charset="-120"/>
              </a:rPr>
              <a:t>Teaching a language model to judge word similarity the way people do, and asking whether that also makes it more brain-like.</a:t>
            </a:r>
            <a:endParaRPr lang="en-US" sz="1500" dirty="0"/>
          </a:p>
        </p:txBody>
      </p:sp>
      <p:sp>
        <p:nvSpPr>
          <p:cNvPr id="86" name="Text 84"/>
          <p:cNvSpPr/>
          <p:nvPr/>
        </p:nvSpPr>
        <p:spPr>
          <a:xfrm>
            <a:off x="777240" y="411480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Jack McMenamin</a:t>
            </a:r>
            <a:pPr indent="0" marL="0">
              <a:buNone/>
            </a:pPr>
            <a:r>
              <a:rPr lang="en-US" sz="1300" dirty="0">
                <a:solidFill>
                  <a:srgbClr val="8595BC"/>
                </a:solidFill>
                <a:latin typeface="Calibri" pitchFamily="34" charset="0"/>
                <a:ea typeface="Calibri" pitchFamily="34" charset="-122"/>
                <a:cs typeface="Calibri" pitchFamily="34" charset="-120"/>
              </a:rPr>
              <a:t>     Experiment 3     Supervisor: Barry Devereux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ACT 1  |  THE PROBLEM</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Models confuse similarity with association</a:t>
            </a:r>
            <a:endParaRPr lang="en-US" sz="3200" dirty="0"/>
          </a:p>
        </p:txBody>
      </p:sp>
      <p:sp>
        <p:nvSpPr>
          <p:cNvPr id="4" name="Text 2"/>
          <p:cNvSpPr/>
          <p:nvPr/>
        </p:nvSpPr>
        <p:spPr>
          <a:xfrm>
            <a:off x="548640" y="1417320"/>
            <a:ext cx="5577840" cy="822960"/>
          </a:xfrm>
          <a:prstGeom prst="rect">
            <a:avLst/>
          </a:prstGeom>
          <a:noFill/>
          <a:ln/>
        </p:spPr>
        <p:txBody>
          <a:bodyPr wrap="square" lIns="0" tIns="0" rIns="0" bIns="0" rtlCol="0" anchor="ctr"/>
          <a:lstStyle/>
          <a:p>
            <a:pPr indent="0" marL="0">
              <a:buNone/>
            </a:pPr>
            <a:r>
              <a:rPr lang="en-US" sz="1500" dirty="0">
                <a:solidFill>
                  <a:srgbClr val="5A6588"/>
                </a:solidFill>
                <a:latin typeface="Calibri" pitchFamily="34" charset="0"/>
                <a:ea typeface="Calibri" pitchFamily="34" charset="-122"/>
                <a:cs typeface="Calibri" pitchFamily="34" charset="-120"/>
              </a:rPr>
              <a:t>A language model learns which words appear near each other. That is association, not similarity, and the two come apart exactly where meaning matters.</a:t>
            </a:r>
            <a:endParaRPr lang="en-US" sz="1500" dirty="0"/>
          </a:p>
        </p:txBody>
      </p:sp>
      <p:sp>
        <p:nvSpPr>
          <p:cNvPr id="5" name="Shape 3"/>
          <p:cNvSpPr/>
          <p:nvPr/>
        </p:nvSpPr>
        <p:spPr>
          <a:xfrm>
            <a:off x="548640" y="2377440"/>
            <a:ext cx="2651760" cy="1417320"/>
          </a:xfrm>
          <a:prstGeom prst="roundRect">
            <a:avLst>
              <a:gd name="adj" fmla="val 5161"/>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6" name="Text 4"/>
          <p:cNvSpPr/>
          <p:nvPr/>
        </p:nvSpPr>
        <p:spPr>
          <a:xfrm>
            <a:off x="548640" y="2560320"/>
            <a:ext cx="2651760" cy="365760"/>
          </a:xfrm>
          <a:prstGeom prst="rect">
            <a:avLst/>
          </a:prstGeom>
          <a:noFill/>
          <a:ln/>
        </p:spPr>
        <p:txBody>
          <a:bodyPr wrap="square" lIns="0" tIns="0" rIns="0" bIns="0" rtlCol="0" anchor="ctr"/>
          <a:lstStyle/>
          <a:p>
            <a:pPr algn="ctr" indent="0" marL="0">
              <a:buNone/>
            </a:pPr>
            <a:r>
              <a:rPr lang="en-US" sz="2000" b="1" dirty="0">
                <a:solidFill>
                  <a:srgbClr val="141B34"/>
                </a:solidFill>
                <a:latin typeface="Cambria" pitchFamily="34" charset="0"/>
                <a:ea typeface="Cambria" pitchFamily="34" charset="-122"/>
                <a:cs typeface="Cambria" pitchFamily="34" charset="-120"/>
              </a:rPr>
              <a:t>cup / mug</a:t>
            </a:r>
            <a:endParaRPr lang="en-US" sz="2000" dirty="0"/>
          </a:p>
        </p:txBody>
      </p:sp>
      <p:sp>
        <p:nvSpPr>
          <p:cNvPr id="7" name="Text 5"/>
          <p:cNvSpPr/>
          <p:nvPr/>
        </p:nvSpPr>
        <p:spPr>
          <a:xfrm>
            <a:off x="548640" y="3017520"/>
            <a:ext cx="2651760" cy="274320"/>
          </a:xfrm>
          <a:prstGeom prst="rect">
            <a:avLst/>
          </a:prstGeom>
          <a:noFill/>
          <a:ln/>
        </p:spPr>
        <p:txBody>
          <a:bodyPr wrap="square" lIns="0" tIns="0" rIns="0" bIns="0" rtlCol="0" anchor="ctr"/>
          <a:lstStyle/>
          <a:p>
            <a:pPr algn="ctr" indent="0" marL="0">
              <a:buNone/>
            </a:pPr>
            <a:r>
              <a:rPr lang="en-US" sz="1200" dirty="0">
                <a:solidFill>
                  <a:srgbClr val="2A9D8F"/>
                </a:solidFill>
                <a:latin typeface="Calibri" pitchFamily="34" charset="0"/>
                <a:ea typeface="Calibri" pitchFamily="34" charset="-122"/>
                <a:cs typeface="Calibri" pitchFamily="34" charset="-120"/>
              </a:rPr>
              <a:t>similar AND related</a:t>
            </a:r>
            <a:endParaRPr lang="en-US" sz="1200" dirty="0"/>
          </a:p>
        </p:txBody>
      </p:sp>
      <p:sp>
        <p:nvSpPr>
          <p:cNvPr id="8" name="Text 6"/>
          <p:cNvSpPr/>
          <p:nvPr/>
        </p:nvSpPr>
        <p:spPr>
          <a:xfrm>
            <a:off x="548640" y="3310128"/>
            <a:ext cx="2651760" cy="274320"/>
          </a:xfrm>
          <a:prstGeom prst="rect">
            <a:avLst/>
          </a:prstGeom>
          <a:noFill/>
          <a:ln/>
        </p:spPr>
        <p:txBody>
          <a:bodyPr wrap="square" lIns="0" tIns="0" rIns="0" bIns="0" rtlCol="0" anchor="ctr"/>
          <a:lstStyle/>
          <a:p>
            <a:pPr algn="ctr" indent="0" marL="0">
              <a:buNone/>
            </a:pPr>
            <a:r>
              <a:rPr lang="en-US" sz="1000" i="1" dirty="0">
                <a:solidFill>
                  <a:srgbClr val="5A6588"/>
                </a:solidFill>
                <a:latin typeface="Calibri" pitchFamily="34" charset="0"/>
                <a:ea typeface="Calibri" pitchFamily="34" charset="-122"/>
                <a:cs typeface="Calibri" pitchFamily="34" charset="-120"/>
              </a:rPr>
              <a:t>the easy case</a:t>
            </a:r>
            <a:endParaRPr lang="en-US" sz="1000" dirty="0"/>
          </a:p>
        </p:txBody>
      </p:sp>
      <p:sp>
        <p:nvSpPr>
          <p:cNvPr id="9" name="Shape 7"/>
          <p:cNvSpPr/>
          <p:nvPr/>
        </p:nvSpPr>
        <p:spPr>
          <a:xfrm>
            <a:off x="3474720" y="2377440"/>
            <a:ext cx="2651760" cy="1417320"/>
          </a:xfrm>
          <a:prstGeom prst="roundRect">
            <a:avLst>
              <a:gd name="adj" fmla="val 5161"/>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0" name="Text 8"/>
          <p:cNvSpPr/>
          <p:nvPr/>
        </p:nvSpPr>
        <p:spPr>
          <a:xfrm>
            <a:off x="3474720" y="2560320"/>
            <a:ext cx="2651760" cy="365760"/>
          </a:xfrm>
          <a:prstGeom prst="rect">
            <a:avLst/>
          </a:prstGeom>
          <a:noFill/>
          <a:ln/>
        </p:spPr>
        <p:txBody>
          <a:bodyPr wrap="square" lIns="0" tIns="0" rIns="0" bIns="0" rtlCol="0" anchor="ctr"/>
          <a:lstStyle/>
          <a:p>
            <a:pPr algn="ctr" indent="0" marL="0">
              <a:buNone/>
            </a:pPr>
            <a:r>
              <a:rPr lang="en-US" sz="2000" b="1" dirty="0">
                <a:solidFill>
                  <a:srgbClr val="141B34"/>
                </a:solidFill>
                <a:latin typeface="Cambria" pitchFamily="34" charset="0"/>
                <a:ea typeface="Cambria" pitchFamily="34" charset="-122"/>
                <a:cs typeface="Cambria" pitchFamily="34" charset="-120"/>
              </a:rPr>
              <a:t>cup / coffee</a:t>
            </a:r>
            <a:endParaRPr lang="en-US" sz="2000" dirty="0"/>
          </a:p>
        </p:txBody>
      </p:sp>
      <p:sp>
        <p:nvSpPr>
          <p:cNvPr id="11" name="Text 9"/>
          <p:cNvSpPr/>
          <p:nvPr/>
        </p:nvSpPr>
        <p:spPr>
          <a:xfrm>
            <a:off x="3474720" y="3017520"/>
            <a:ext cx="2651760" cy="274320"/>
          </a:xfrm>
          <a:prstGeom prst="rect">
            <a:avLst/>
          </a:prstGeom>
          <a:noFill/>
          <a:ln/>
        </p:spPr>
        <p:txBody>
          <a:bodyPr wrap="square" lIns="0" tIns="0" rIns="0" bIns="0" rtlCol="0" anchor="ctr"/>
          <a:lstStyle/>
          <a:p>
            <a:pPr algn="ctr" indent="0" marL="0">
              <a:buNone/>
            </a:pPr>
            <a:r>
              <a:rPr lang="en-US" sz="1200" b="1" dirty="0">
                <a:solidFill>
                  <a:srgbClr val="E8743B"/>
                </a:solidFill>
                <a:latin typeface="Calibri" pitchFamily="34" charset="0"/>
                <a:ea typeface="Calibri" pitchFamily="34" charset="-122"/>
                <a:cs typeface="Calibri" pitchFamily="34" charset="-120"/>
              </a:rPr>
              <a:t>related, NOT similar</a:t>
            </a:r>
            <a:endParaRPr lang="en-US" sz="1200" dirty="0"/>
          </a:p>
        </p:txBody>
      </p:sp>
      <p:sp>
        <p:nvSpPr>
          <p:cNvPr id="12" name="Text 10"/>
          <p:cNvSpPr/>
          <p:nvPr/>
        </p:nvSpPr>
        <p:spPr>
          <a:xfrm>
            <a:off x="3474720" y="3310128"/>
            <a:ext cx="2651760" cy="274320"/>
          </a:xfrm>
          <a:prstGeom prst="rect">
            <a:avLst/>
          </a:prstGeom>
          <a:noFill/>
          <a:ln/>
        </p:spPr>
        <p:txBody>
          <a:bodyPr wrap="square" lIns="0" tIns="0" rIns="0" bIns="0" rtlCol="0" anchor="ctr"/>
          <a:lstStyle/>
          <a:p>
            <a:pPr algn="ctr" indent="0" marL="0">
              <a:buNone/>
            </a:pPr>
            <a:r>
              <a:rPr lang="en-US" sz="1000" i="1" dirty="0">
                <a:solidFill>
                  <a:srgbClr val="5A6588"/>
                </a:solidFill>
                <a:latin typeface="Calibri" pitchFamily="34" charset="0"/>
                <a:ea typeface="Calibri" pitchFamily="34" charset="-122"/>
                <a:cs typeface="Calibri" pitchFamily="34" charset="-120"/>
              </a:rPr>
              <a:t>where models fail</a:t>
            </a:r>
            <a:endParaRPr lang="en-US" sz="1000" dirty="0"/>
          </a:p>
        </p:txBody>
      </p:sp>
      <p:sp>
        <p:nvSpPr>
          <p:cNvPr id="13" name="Text 11"/>
          <p:cNvSpPr/>
          <p:nvPr/>
        </p:nvSpPr>
        <p:spPr>
          <a:xfrm>
            <a:off x="548640" y="3977640"/>
            <a:ext cx="5577840" cy="731520"/>
          </a:xfrm>
          <a:prstGeom prst="rect">
            <a:avLst/>
          </a:prstGeom>
          <a:noFill/>
          <a:ln/>
        </p:spPr>
        <p:txBody>
          <a:bodyPr wrap="square" lIns="0" tIns="0" rIns="0" bIns="0" rtlCol="0" anchor="ctr"/>
          <a:lstStyle/>
          <a:p>
            <a:pPr indent="0" marL="0">
              <a:buNone/>
            </a:pPr>
            <a:r>
              <a:rPr lang="en-US" sz="1250" dirty="0">
                <a:solidFill>
                  <a:srgbClr val="5A6588"/>
                </a:solidFill>
                <a:latin typeface="Calibri" pitchFamily="34" charset="0"/>
                <a:ea typeface="Calibri" pitchFamily="34" charset="-122"/>
                <a:cs typeface="Calibri" pitchFamily="34" charset="-120"/>
              </a:rPr>
              <a:t>SimLex-999 scores the same 999 pairs on BOTH scales, so we can measure the confusion directly. For antonyms the two disagree completely:</a:t>
            </a:r>
            <a:endParaRPr lang="en-US" sz="1250" dirty="0"/>
          </a:p>
        </p:txBody>
      </p:sp>
      <p:sp>
        <p:nvSpPr>
          <p:cNvPr id="14" name="Shape 12"/>
          <p:cNvSpPr/>
          <p:nvPr/>
        </p:nvSpPr>
        <p:spPr>
          <a:xfrm>
            <a:off x="6583680" y="1371600"/>
            <a:ext cx="5029200" cy="3977640"/>
          </a:xfrm>
          <a:prstGeom prst="roundRect">
            <a:avLst>
              <a:gd name="adj" fmla="val 1839"/>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15" name="Text 13"/>
          <p:cNvSpPr/>
          <p:nvPr/>
        </p:nvSpPr>
        <p:spPr>
          <a:xfrm>
            <a:off x="6858000" y="1645920"/>
            <a:ext cx="4480560"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old / new</a:t>
            </a:r>
            <a:endParaRPr lang="en-US" sz="2700" dirty="0"/>
          </a:p>
        </p:txBody>
      </p:sp>
      <p:sp>
        <p:nvSpPr>
          <p:cNvPr id="16" name="Text 14"/>
          <p:cNvSpPr/>
          <p:nvPr/>
        </p:nvSpPr>
        <p:spPr>
          <a:xfrm>
            <a:off x="6858000" y="2103120"/>
            <a:ext cx="4480560" cy="274320"/>
          </a:xfrm>
          <a:prstGeom prst="rect">
            <a:avLst/>
          </a:prstGeom>
          <a:noFill/>
          <a:ln/>
        </p:spPr>
        <p:txBody>
          <a:bodyPr wrap="square" lIns="0" tIns="0" rIns="0" bIns="0" rtlCol="0" anchor="ctr"/>
          <a:lstStyle/>
          <a:p>
            <a:pPr indent="0" marL="0">
              <a:buNone/>
            </a:pPr>
            <a:r>
              <a:rPr lang="en-US" sz="1150" i="1" dirty="0">
                <a:solidFill>
                  <a:srgbClr val="8595BC"/>
                </a:solidFill>
                <a:latin typeface="Calibri" pitchFamily="34" charset="0"/>
                <a:ea typeface="Calibri" pitchFamily="34" charset="-122"/>
                <a:cs typeface="Calibri" pitchFamily="34" charset="-120"/>
              </a:rPr>
              <a:t>one word pair, two human judgements</a:t>
            </a:r>
            <a:endParaRPr lang="en-US" sz="1150" dirty="0"/>
          </a:p>
        </p:txBody>
      </p:sp>
      <p:sp>
        <p:nvSpPr>
          <p:cNvPr id="17" name="Shape 15"/>
          <p:cNvSpPr/>
          <p:nvPr/>
        </p:nvSpPr>
        <p:spPr>
          <a:xfrm>
            <a:off x="6858000" y="2560320"/>
            <a:ext cx="4480560" cy="1051560"/>
          </a:xfrm>
          <a:prstGeom prst="roundRect">
            <a:avLst>
              <a:gd name="adj" fmla="val 5217"/>
            </a:avLst>
          </a:prstGeom>
          <a:solidFill>
            <a:srgbClr val="1E2A4E"/>
          </a:solidFill>
          <a:ln/>
        </p:spPr>
      </p:sp>
      <p:sp>
        <p:nvSpPr>
          <p:cNvPr id="18" name="Text 16"/>
          <p:cNvSpPr/>
          <p:nvPr/>
        </p:nvSpPr>
        <p:spPr>
          <a:xfrm>
            <a:off x="7040880" y="2743200"/>
            <a:ext cx="1371600" cy="640080"/>
          </a:xfrm>
          <a:prstGeom prst="rect">
            <a:avLst/>
          </a:prstGeom>
          <a:noFill/>
          <a:ln/>
        </p:spPr>
        <p:txBody>
          <a:bodyPr wrap="square" lIns="0" tIns="0" rIns="0" bIns="0" rtlCol="0" anchor="ctr"/>
          <a:lstStyle/>
          <a:p>
            <a:pPr indent="0" marL="0">
              <a:buNone/>
            </a:pPr>
            <a:r>
              <a:rPr lang="en-US" sz="3200" b="1" dirty="0">
                <a:solidFill>
                  <a:srgbClr val="F2C14E"/>
                </a:solidFill>
                <a:latin typeface="Cambria" pitchFamily="34" charset="0"/>
                <a:ea typeface="Cambria" pitchFamily="34" charset="-122"/>
                <a:cs typeface="Cambria" pitchFamily="34" charset="-120"/>
              </a:rPr>
              <a:t>1.58</a:t>
            </a:r>
            <a:endParaRPr lang="en-US" sz="3200" dirty="0"/>
          </a:p>
        </p:txBody>
      </p:sp>
      <p:sp>
        <p:nvSpPr>
          <p:cNvPr id="19" name="Text 17"/>
          <p:cNvSpPr/>
          <p:nvPr/>
        </p:nvSpPr>
        <p:spPr>
          <a:xfrm>
            <a:off x="8503920" y="2779776"/>
            <a:ext cx="265176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SIMILARITY</a:t>
            </a:r>
            <a:endParaRPr lang="en-US" sz="1100" dirty="0"/>
          </a:p>
        </p:txBody>
      </p:sp>
      <p:sp>
        <p:nvSpPr>
          <p:cNvPr id="20" name="Text 18"/>
          <p:cNvSpPr/>
          <p:nvPr/>
        </p:nvSpPr>
        <p:spPr>
          <a:xfrm>
            <a:off x="8503920" y="3072384"/>
            <a:ext cx="2651760" cy="411480"/>
          </a:xfrm>
          <a:prstGeom prst="rect">
            <a:avLst/>
          </a:prstGeom>
          <a:noFill/>
          <a:ln/>
        </p:spPr>
        <p:txBody>
          <a:bodyPr wrap="square" lIns="0" tIns="0" rIns="0" bIns="0" rtlCol="0" anchor="ctr"/>
          <a:lstStyle/>
          <a:p>
            <a:pPr indent="0" marL="0">
              <a:buNone/>
            </a:pPr>
            <a:r>
              <a:rPr lang="en-US" sz="1050" dirty="0">
                <a:solidFill>
                  <a:srgbClr val="8595BC"/>
                </a:solidFill>
                <a:latin typeface="Calibri" pitchFamily="34" charset="0"/>
                <a:ea typeface="Calibri" pitchFamily="34" charset="-122"/>
                <a:cs typeface="Calibri" pitchFamily="34" charset="-120"/>
              </a:rPr>
              <a:t>opposites: not alike at all</a:t>
            </a:r>
            <a:endParaRPr lang="en-US" sz="1050" dirty="0"/>
          </a:p>
        </p:txBody>
      </p:sp>
      <p:sp>
        <p:nvSpPr>
          <p:cNvPr id="21" name="Shape 19"/>
          <p:cNvSpPr/>
          <p:nvPr/>
        </p:nvSpPr>
        <p:spPr>
          <a:xfrm>
            <a:off x="6858000" y="3794760"/>
            <a:ext cx="4480560" cy="1051560"/>
          </a:xfrm>
          <a:prstGeom prst="roundRect">
            <a:avLst>
              <a:gd name="adj" fmla="val 5217"/>
            </a:avLst>
          </a:prstGeom>
          <a:solidFill>
            <a:srgbClr val="1E2A4E"/>
          </a:solidFill>
          <a:ln/>
        </p:spPr>
      </p:sp>
      <p:sp>
        <p:nvSpPr>
          <p:cNvPr id="22" name="Text 20"/>
          <p:cNvSpPr/>
          <p:nvPr/>
        </p:nvSpPr>
        <p:spPr>
          <a:xfrm>
            <a:off x="7040880" y="3977640"/>
            <a:ext cx="1371600" cy="640080"/>
          </a:xfrm>
          <a:prstGeom prst="rect">
            <a:avLst/>
          </a:prstGeom>
          <a:noFill/>
          <a:ln/>
        </p:spPr>
        <p:txBody>
          <a:bodyPr wrap="square" lIns="0" tIns="0" rIns="0" bIns="0" rtlCol="0" anchor="ctr"/>
          <a:lstStyle/>
          <a:p>
            <a:pPr indent="0" marL="0">
              <a:buNone/>
            </a:pPr>
            <a:r>
              <a:rPr lang="en-US" sz="3200" b="1" dirty="0">
                <a:solidFill>
                  <a:srgbClr val="E8743B"/>
                </a:solidFill>
                <a:latin typeface="Cambria" pitchFamily="34" charset="0"/>
                <a:ea typeface="Cambria" pitchFamily="34" charset="-122"/>
                <a:cs typeface="Cambria" pitchFamily="34" charset="-120"/>
              </a:rPr>
              <a:t>7.25</a:t>
            </a:r>
            <a:endParaRPr lang="en-US" sz="3200" dirty="0"/>
          </a:p>
        </p:txBody>
      </p:sp>
      <p:sp>
        <p:nvSpPr>
          <p:cNvPr id="23" name="Text 21"/>
          <p:cNvSpPr/>
          <p:nvPr/>
        </p:nvSpPr>
        <p:spPr>
          <a:xfrm>
            <a:off x="8503920" y="4014216"/>
            <a:ext cx="265176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ASSOCIATION</a:t>
            </a:r>
            <a:endParaRPr lang="en-US" sz="1100" dirty="0"/>
          </a:p>
        </p:txBody>
      </p:sp>
      <p:sp>
        <p:nvSpPr>
          <p:cNvPr id="24" name="Text 22"/>
          <p:cNvSpPr/>
          <p:nvPr/>
        </p:nvSpPr>
        <p:spPr>
          <a:xfrm>
            <a:off x="8503920" y="4306824"/>
            <a:ext cx="2651760" cy="411480"/>
          </a:xfrm>
          <a:prstGeom prst="rect">
            <a:avLst/>
          </a:prstGeom>
          <a:noFill/>
          <a:ln/>
        </p:spPr>
        <p:txBody>
          <a:bodyPr wrap="square" lIns="0" tIns="0" rIns="0" bIns="0" rtlCol="0" anchor="ctr"/>
          <a:lstStyle/>
          <a:p>
            <a:pPr indent="0" marL="0">
              <a:buNone/>
            </a:pPr>
            <a:r>
              <a:rPr lang="en-US" sz="1050" dirty="0">
                <a:solidFill>
                  <a:srgbClr val="8595BC"/>
                </a:solidFill>
                <a:latin typeface="Calibri" pitchFamily="34" charset="0"/>
                <a:ea typeface="Calibri" pitchFamily="34" charset="-122"/>
                <a:cs typeface="Calibri" pitchFamily="34" charset="-120"/>
              </a:rPr>
              <a:t>one instantly evokes the other</a:t>
            </a:r>
            <a:endParaRPr lang="en-US" sz="1050" dirty="0"/>
          </a:p>
        </p:txBody>
      </p:sp>
      <p:sp>
        <p:nvSpPr>
          <p:cNvPr id="25" name="Text 23"/>
          <p:cNvSpPr/>
          <p:nvPr/>
        </p:nvSpPr>
        <p:spPr>
          <a:xfrm>
            <a:off x="6858000" y="4937760"/>
            <a:ext cx="4480560" cy="365760"/>
          </a:xfrm>
          <a:prstGeom prst="rect">
            <a:avLst/>
          </a:prstGeom>
          <a:noFill/>
          <a:ln/>
        </p:spPr>
        <p:txBody>
          <a:bodyPr wrap="square" lIns="0" tIns="0" rIns="0" bIns="0" rtlCol="0" anchor="ctr"/>
          <a:lstStyle/>
          <a:p>
            <a:pPr indent="0" marL="0">
              <a:buNone/>
            </a:pPr>
            <a:r>
              <a:rPr lang="en-US" sz="1050" i="1" dirty="0">
                <a:solidFill>
                  <a:srgbClr val="AEBBD8"/>
                </a:solidFill>
                <a:latin typeface="Calibri" pitchFamily="34" charset="0"/>
                <a:ea typeface="Calibri" pitchFamily="34" charset="-122"/>
                <a:cs typeface="Calibri" pitchFamily="34" charset="-120"/>
              </a:rPr>
              <a:t>A distributional model sees these two constantly in the same sentences, so it places them close together. Exactly backwards.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B"/>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ACT 1  |  WHAT WE ARE BOTH DOING</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The shared idea: align the similarity structure</a:t>
            </a:r>
            <a:endParaRPr lang="en-US" sz="3200" dirty="0"/>
          </a:p>
        </p:txBody>
      </p:sp>
      <p:sp>
        <p:nvSpPr>
          <p:cNvPr id="4" name="Text 2"/>
          <p:cNvSpPr/>
          <p:nvPr/>
        </p:nvSpPr>
        <p:spPr>
          <a:xfrm>
            <a:off x="548640" y="1371600"/>
            <a:ext cx="11064240" cy="548640"/>
          </a:xfrm>
          <a:prstGeom prst="rect">
            <a:avLst/>
          </a:prstGeom>
          <a:noFill/>
          <a:ln/>
        </p:spPr>
        <p:txBody>
          <a:bodyPr wrap="square" lIns="0" tIns="0" rIns="0" bIns="0" rtlCol="0" anchor="ctr"/>
          <a:lstStyle/>
          <a:p>
            <a:pPr indent="0" marL="0">
              <a:buNone/>
            </a:pPr>
            <a:r>
              <a:rPr lang="en-US" sz="1400" dirty="0">
                <a:solidFill>
                  <a:srgbClr val="5A6588"/>
                </a:solidFill>
                <a:latin typeface="Calibri" pitchFamily="34" charset="0"/>
                <a:ea typeface="Calibri" pitchFamily="34" charset="-122"/>
                <a:cs typeface="Calibri" pitchFamily="34" charset="-120"/>
              </a:rPr>
              <a:t>Take every word pair in a batch, compute how similar the model thinks they are, and push that whole ranking toward the human ranking. Barry and I both do this - the disagreements come later.</a:t>
            </a:r>
            <a:endParaRPr lang="en-US" sz="1400" dirty="0"/>
          </a:p>
        </p:txBody>
      </p:sp>
      <p:sp>
        <p:nvSpPr>
          <p:cNvPr id="5" name="Shape 3"/>
          <p:cNvSpPr/>
          <p:nvPr/>
        </p:nvSpPr>
        <p:spPr>
          <a:xfrm>
            <a:off x="548640" y="2057400"/>
            <a:ext cx="6858000" cy="3246120"/>
          </a:xfrm>
          <a:prstGeom prst="roundRect">
            <a:avLst>
              <a:gd name="adj" fmla="val 2254"/>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6" name="Text 4"/>
          <p:cNvSpPr/>
          <p:nvPr/>
        </p:nvSpPr>
        <p:spPr>
          <a:xfrm>
            <a:off x="914400" y="2240280"/>
            <a:ext cx="2377440" cy="274320"/>
          </a:xfrm>
          <a:prstGeom prst="rect">
            <a:avLst/>
          </a:prstGeom>
          <a:noFill/>
          <a:ln/>
        </p:spPr>
        <p:txBody>
          <a:bodyPr wrap="square" lIns="0" tIns="0" rIns="0" bIns="0" rtlCol="0" anchor="ctr"/>
          <a:lstStyle/>
          <a:p>
            <a:pPr algn="ctr" indent="0" marL="0">
              <a:buNone/>
            </a:pPr>
            <a:r>
              <a:rPr lang="en-US" sz="1150" b="1" dirty="0">
                <a:solidFill>
                  <a:srgbClr val="5A6588"/>
                </a:solidFill>
                <a:latin typeface="Calibri" pitchFamily="34" charset="0"/>
                <a:ea typeface="Calibri" pitchFamily="34" charset="-122"/>
                <a:cs typeface="Calibri" pitchFamily="34" charset="-120"/>
              </a:rPr>
              <a:t>What the model believes</a:t>
            </a:r>
            <a:endParaRPr lang="en-US" sz="1150" dirty="0"/>
          </a:p>
        </p:txBody>
      </p:sp>
      <p:sp>
        <p:nvSpPr>
          <p:cNvPr id="7" name="Shape 5"/>
          <p:cNvSpPr/>
          <p:nvPr/>
        </p:nvSpPr>
        <p:spPr>
          <a:xfrm>
            <a:off x="1051560" y="2606040"/>
            <a:ext cx="228600" cy="228600"/>
          </a:xfrm>
          <a:prstGeom prst="rect">
            <a:avLst/>
          </a:prstGeom>
          <a:solidFill>
            <a:srgbClr val="F4F7FC"/>
          </a:solidFill>
          <a:ln/>
        </p:spPr>
      </p:sp>
      <p:sp>
        <p:nvSpPr>
          <p:cNvPr id="8" name="Shape 6"/>
          <p:cNvSpPr/>
          <p:nvPr/>
        </p:nvSpPr>
        <p:spPr>
          <a:xfrm>
            <a:off x="1280160" y="2606040"/>
            <a:ext cx="228600" cy="228600"/>
          </a:xfrm>
          <a:prstGeom prst="rect">
            <a:avLst/>
          </a:prstGeom>
          <a:solidFill>
            <a:srgbClr val="303D65"/>
          </a:solidFill>
          <a:ln/>
        </p:spPr>
      </p:sp>
      <p:sp>
        <p:nvSpPr>
          <p:cNvPr id="9" name="Shape 7"/>
          <p:cNvSpPr/>
          <p:nvPr/>
        </p:nvSpPr>
        <p:spPr>
          <a:xfrm>
            <a:off x="1508760" y="2606040"/>
            <a:ext cx="228600" cy="228600"/>
          </a:xfrm>
          <a:prstGeom prst="rect">
            <a:avLst/>
          </a:prstGeom>
          <a:solidFill>
            <a:srgbClr val="B2B9C9"/>
          </a:solidFill>
          <a:ln/>
        </p:spPr>
      </p:sp>
      <p:sp>
        <p:nvSpPr>
          <p:cNvPr id="10" name="Shape 8"/>
          <p:cNvSpPr/>
          <p:nvPr/>
        </p:nvSpPr>
        <p:spPr>
          <a:xfrm>
            <a:off x="1737360" y="2606040"/>
            <a:ext cx="228600" cy="228600"/>
          </a:xfrm>
          <a:prstGeom prst="rect">
            <a:avLst/>
          </a:prstGeom>
          <a:solidFill>
            <a:srgbClr val="3C486E"/>
          </a:solidFill>
          <a:ln/>
        </p:spPr>
      </p:sp>
      <p:sp>
        <p:nvSpPr>
          <p:cNvPr id="11" name="Shape 9"/>
          <p:cNvSpPr/>
          <p:nvPr/>
        </p:nvSpPr>
        <p:spPr>
          <a:xfrm>
            <a:off x="1965960" y="2606040"/>
            <a:ext cx="228600" cy="228600"/>
          </a:xfrm>
          <a:prstGeom prst="rect">
            <a:avLst/>
          </a:prstGeom>
          <a:solidFill>
            <a:srgbClr val="8891A9"/>
          </a:solidFill>
          <a:ln/>
        </p:spPr>
      </p:sp>
      <p:sp>
        <p:nvSpPr>
          <p:cNvPr id="12" name="Shape 10"/>
          <p:cNvSpPr/>
          <p:nvPr/>
        </p:nvSpPr>
        <p:spPr>
          <a:xfrm>
            <a:off x="2194560" y="2606040"/>
            <a:ext cx="228600" cy="228600"/>
          </a:xfrm>
          <a:prstGeom prst="rect">
            <a:avLst/>
          </a:prstGeom>
          <a:solidFill>
            <a:srgbClr val="525E7F"/>
          </a:solidFill>
          <a:ln/>
        </p:spPr>
      </p:sp>
      <p:sp>
        <p:nvSpPr>
          <p:cNvPr id="13" name="Shape 11"/>
          <p:cNvSpPr/>
          <p:nvPr/>
        </p:nvSpPr>
        <p:spPr>
          <a:xfrm>
            <a:off x="2423160" y="2606040"/>
            <a:ext cx="228600" cy="228600"/>
          </a:xfrm>
          <a:prstGeom prst="rect">
            <a:avLst/>
          </a:prstGeom>
          <a:solidFill>
            <a:srgbClr val="636E8D"/>
          </a:solidFill>
          <a:ln/>
        </p:spPr>
      </p:sp>
      <p:sp>
        <p:nvSpPr>
          <p:cNvPr id="14" name="Shape 12"/>
          <p:cNvSpPr/>
          <p:nvPr/>
        </p:nvSpPr>
        <p:spPr>
          <a:xfrm>
            <a:off x="2651760" y="2606040"/>
            <a:ext cx="228600" cy="228600"/>
          </a:xfrm>
          <a:prstGeom prst="rect">
            <a:avLst/>
          </a:prstGeom>
          <a:solidFill>
            <a:srgbClr val="727C98"/>
          </a:solidFill>
          <a:ln/>
        </p:spPr>
      </p:sp>
      <p:sp>
        <p:nvSpPr>
          <p:cNvPr id="15" name="Shape 13"/>
          <p:cNvSpPr/>
          <p:nvPr/>
        </p:nvSpPr>
        <p:spPr>
          <a:xfrm>
            <a:off x="2880360" y="2606040"/>
            <a:ext cx="228600" cy="228600"/>
          </a:xfrm>
          <a:prstGeom prst="rect">
            <a:avLst/>
          </a:prstGeom>
          <a:solidFill>
            <a:srgbClr val="475377"/>
          </a:solidFill>
          <a:ln/>
        </p:spPr>
      </p:sp>
      <p:sp>
        <p:nvSpPr>
          <p:cNvPr id="16" name="Shape 14"/>
          <p:cNvSpPr/>
          <p:nvPr/>
        </p:nvSpPr>
        <p:spPr>
          <a:xfrm>
            <a:off x="1051560" y="2834640"/>
            <a:ext cx="228600" cy="228600"/>
          </a:xfrm>
          <a:prstGeom prst="rect">
            <a:avLst/>
          </a:prstGeom>
          <a:solidFill>
            <a:srgbClr val="5B6687"/>
          </a:solidFill>
          <a:ln/>
        </p:spPr>
      </p:sp>
      <p:sp>
        <p:nvSpPr>
          <p:cNvPr id="17" name="Shape 15"/>
          <p:cNvSpPr/>
          <p:nvPr/>
        </p:nvSpPr>
        <p:spPr>
          <a:xfrm>
            <a:off x="1280160" y="2834640"/>
            <a:ext cx="228600" cy="228600"/>
          </a:xfrm>
          <a:prstGeom prst="rect">
            <a:avLst/>
          </a:prstGeom>
          <a:solidFill>
            <a:srgbClr val="F4F7FC"/>
          </a:solidFill>
          <a:ln/>
        </p:spPr>
      </p:sp>
      <p:sp>
        <p:nvSpPr>
          <p:cNvPr id="18" name="Shape 16"/>
          <p:cNvSpPr/>
          <p:nvPr/>
        </p:nvSpPr>
        <p:spPr>
          <a:xfrm>
            <a:off x="1508760" y="2834640"/>
            <a:ext cx="228600" cy="228600"/>
          </a:xfrm>
          <a:prstGeom prst="rect">
            <a:avLst/>
          </a:prstGeom>
          <a:solidFill>
            <a:srgbClr val="7E87A1"/>
          </a:solidFill>
          <a:ln/>
        </p:spPr>
      </p:sp>
      <p:sp>
        <p:nvSpPr>
          <p:cNvPr id="19" name="Shape 17"/>
          <p:cNvSpPr/>
          <p:nvPr/>
        </p:nvSpPr>
        <p:spPr>
          <a:xfrm>
            <a:off x="1737360" y="2834640"/>
            <a:ext cx="228600" cy="228600"/>
          </a:xfrm>
          <a:prstGeom prst="rect">
            <a:avLst/>
          </a:prstGeom>
          <a:solidFill>
            <a:srgbClr val="404D72"/>
          </a:solidFill>
          <a:ln/>
        </p:spPr>
      </p:sp>
      <p:sp>
        <p:nvSpPr>
          <p:cNvPr id="20" name="Shape 18"/>
          <p:cNvSpPr/>
          <p:nvPr/>
        </p:nvSpPr>
        <p:spPr>
          <a:xfrm>
            <a:off x="1965960" y="2834640"/>
            <a:ext cx="228600" cy="228600"/>
          </a:xfrm>
          <a:prstGeom prst="rect">
            <a:avLst/>
          </a:prstGeom>
          <a:solidFill>
            <a:srgbClr val="A7AEC1"/>
          </a:solidFill>
          <a:ln/>
        </p:spPr>
      </p:sp>
      <p:sp>
        <p:nvSpPr>
          <p:cNvPr id="21" name="Shape 19"/>
          <p:cNvSpPr/>
          <p:nvPr/>
        </p:nvSpPr>
        <p:spPr>
          <a:xfrm>
            <a:off x="2194560" y="2834640"/>
            <a:ext cx="228600" cy="228600"/>
          </a:xfrm>
          <a:prstGeom prst="rect">
            <a:avLst/>
          </a:prstGeom>
          <a:solidFill>
            <a:srgbClr val="323F67"/>
          </a:solidFill>
          <a:ln/>
        </p:spPr>
      </p:sp>
      <p:sp>
        <p:nvSpPr>
          <p:cNvPr id="22" name="Shape 20"/>
          <p:cNvSpPr/>
          <p:nvPr/>
        </p:nvSpPr>
        <p:spPr>
          <a:xfrm>
            <a:off x="2423160" y="2834640"/>
            <a:ext cx="228600" cy="228600"/>
          </a:xfrm>
          <a:prstGeom prst="rect">
            <a:avLst/>
          </a:prstGeom>
          <a:solidFill>
            <a:srgbClr val="D3D8E3"/>
          </a:solidFill>
          <a:ln/>
        </p:spPr>
      </p:sp>
      <p:sp>
        <p:nvSpPr>
          <p:cNvPr id="23" name="Shape 21"/>
          <p:cNvSpPr/>
          <p:nvPr/>
        </p:nvSpPr>
        <p:spPr>
          <a:xfrm>
            <a:off x="2651760" y="2834640"/>
            <a:ext cx="228600" cy="228600"/>
          </a:xfrm>
          <a:prstGeom prst="rect">
            <a:avLst/>
          </a:prstGeom>
          <a:solidFill>
            <a:srgbClr val="2F3C64"/>
          </a:solidFill>
          <a:ln/>
        </p:spPr>
      </p:sp>
      <p:sp>
        <p:nvSpPr>
          <p:cNvPr id="24" name="Shape 22"/>
          <p:cNvSpPr/>
          <p:nvPr/>
        </p:nvSpPr>
        <p:spPr>
          <a:xfrm>
            <a:off x="2880360" y="2834640"/>
            <a:ext cx="228600" cy="228600"/>
          </a:xfrm>
          <a:prstGeom prst="rect">
            <a:avLst/>
          </a:prstGeom>
          <a:solidFill>
            <a:srgbClr val="BDC3D2"/>
          </a:solidFill>
          <a:ln/>
        </p:spPr>
      </p:sp>
      <p:sp>
        <p:nvSpPr>
          <p:cNvPr id="25" name="Shape 23"/>
          <p:cNvSpPr/>
          <p:nvPr/>
        </p:nvSpPr>
        <p:spPr>
          <a:xfrm>
            <a:off x="1051560" y="3063240"/>
            <a:ext cx="228600" cy="228600"/>
          </a:xfrm>
          <a:prstGeom prst="rect">
            <a:avLst/>
          </a:prstGeom>
          <a:solidFill>
            <a:srgbClr val="303D65"/>
          </a:solidFill>
          <a:ln/>
        </p:spPr>
      </p:sp>
      <p:sp>
        <p:nvSpPr>
          <p:cNvPr id="26" name="Shape 24"/>
          <p:cNvSpPr/>
          <p:nvPr/>
        </p:nvSpPr>
        <p:spPr>
          <a:xfrm>
            <a:off x="1280160" y="3063240"/>
            <a:ext cx="228600" cy="228600"/>
          </a:xfrm>
          <a:prstGeom prst="rect">
            <a:avLst/>
          </a:prstGeom>
          <a:solidFill>
            <a:srgbClr val="DCE0EA"/>
          </a:solidFill>
          <a:ln/>
        </p:spPr>
      </p:sp>
      <p:sp>
        <p:nvSpPr>
          <p:cNvPr id="27" name="Shape 25"/>
          <p:cNvSpPr/>
          <p:nvPr/>
        </p:nvSpPr>
        <p:spPr>
          <a:xfrm>
            <a:off x="1508760" y="3063240"/>
            <a:ext cx="228600" cy="228600"/>
          </a:xfrm>
          <a:prstGeom prst="rect">
            <a:avLst/>
          </a:prstGeom>
          <a:solidFill>
            <a:srgbClr val="F4F7FC"/>
          </a:solidFill>
          <a:ln/>
        </p:spPr>
      </p:sp>
      <p:sp>
        <p:nvSpPr>
          <p:cNvPr id="28" name="Shape 26"/>
          <p:cNvSpPr/>
          <p:nvPr/>
        </p:nvSpPr>
        <p:spPr>
          <a:xfrm>
            <a:off x="1737360" y="3063240"/>
            <a:ext cx="228600" cy="228600"/>
          </a:xfrm>
          <a:prstGeom prst="rect">
            <a:avLst/>
          </a:prstGeom>
          <a:solidFill>
            <a:srgbClr val="AFB6C7"/>
          </a:solidFill>
          <a:ln/>
        </p:spPr>
      </p:sp>
      <p:sp>
        <p:nvSpPr>
          <p:cNvPr id="29" name="Shape 27"/>
          <p:cNvSpPr/>
          <p:nvPr/>
        </p:nvSpPr>
        <p:spPr>
          <a:xfrm>
            <a:off x="1965960" y="3063240"/>
            <a:ext cx="228600" cy="228600"/>
          </a:xfrm>
          <a:prstGeom prst="rect">
            <a:avLst/>
          </a:prstGeom>
          <a:solidFill>
            <a:srgbClr val="3D496F"/>
          </a:solidFill>
          <a:ln/>
        </p:spPr>
      </p:sp>
      <p:sp>
        <p:nvSpPr>
          <p:cNvPr id="30" name="Shape 28"/>
          <p:cNvSpPr/>
          <p:nvPr/>
        </p:nvSpPr>
        <p:spPr>
          <a:xfrm>
            <a:off x="2194560" y="3063240"/>
            <a:ext cx="228600" cy="228600"/>
          </a:xfrm>
          <a:prstGeom prst="rect">
            <a:avLst/>
          </a:prstGeom>
          <a:solidFill>
            <a:srgbClr val="858EA7"/>
          </a:solidFill>
          <a:ln/>
        </p:spPr>
      </p:sp>
      <p:sp>
        <p:nvSpPr>
          <p:cNvPr id="31" name="Shape 29"/>
          <p:cNvSpPr/>
          <p:nvPr/>
        </p:nvSpPr>
        <p:spPr>
          <a:xfrm>
            <a:off x="2423160" y="3063240"/>
            <a:ext cx="228600" cy="228600"/>
          </a:xfrm>
          <a:prstGeom prst="rect">
            <a:avLst/>
          </a:prstGeom>
          <a:solidFill>
            <a:srgbClr val="545F81"/>
          </a:solidFill>
          <a:ln/>
        </p:spPr>
      </p:sp>
      <p:sp>
        <p:nvSpPr>
          <p:cNvPr id="32" name="Shape 30"/>
          <p:cNvSpPr/>
          <p:nvPr/>
        </p:nvSpPr>
        <p:spPr>
          <a:xfrm>
            <a:off x="2651760" y="3063240"/>
            <a:ext cx="228600" cy="228600"/>
          </a:xfrm>
          <a:prstGeom prst="rect">
            <a:avLst/>
          </a:prstGeom>
          <a:solidFill>
            <a:srgbClr val="616C8B"/>
          </a:solidFill>
          <a:ln/>
        </p:spPr>
      </p:sp>
      <p:sp>
        <p:nvSpPr>
          <p:cNvPr id="33" name="Shape 31"/>
          <p:cNvSpPr/>
          <p:nvPr/>
        </p:nvSpPr>
        <p:spPr>
          <a:xfrm>
            <a:off x="2880360" y="3063240"/>
            <a:ext cx="228600" cy="228600"/>
          </a:xfrm>
          <a:prstGeom prst="rect">
            <a:avLst/>
          </a:prstGeom>
          <a:solidFill>
            <a:srgbClr val="747E9A"/>
          </a:solidFill>
          <a:ln/>
        </p:spPr>
      </p:sp>
      <p:sp>
        <p:nvSpPr>
          <p:cNvPr id="34" name="Shape 32"/>
          <p:cNvSpPr/>
          <p:nvPr/>
        </p:nvSpPr>
        <p:spPr>
          <a:xfrm>
            <a:off x="1051560" y="3291840"/>
            <a:ext cx="228600" cy="228600"/>
          </a:xfrm>
          <a:prstGeom prst="rect">
            <a:avLst/>
          </a:prstGeom>
          <a:solidFill>
            <a:srgbClr val="79829D"/>
          </a:solidFill>
          <a:ln/>
        </p:spPr>
      </p:sp>
      <p:sp>
        <p:nvSpPr>
          <p:cNvPr id="35" name="Shape 33"/>
          <p:cNvSpPr/>
          <p:nvPr/>
        </p:nvSpPr>
        <p:spPr>
          <a:xfrm>
            <a:off x="1280160" y="3291840"/>
            <a:ext cx="228600" cy="228600"/>
          </a:xfrm>
          <a:prstGeom prst="rect">
            <a:avLst/>
          </a:prstGeom>
          <a:solidFill>
            <a:srgbClr val="5D6888"/>
          </a:solidFill>
          <a:ln/>
        </p:spPr>
      </p:sp>
      <p:sp>
        <p:nvSpPr>
          <p:cNvPr id="36" name="Shape 34"/>
          <p:cNvSpPr/>
          <p:nvPr/>
        </p:nvSpPr>
        <p:spPr>
          <a:xfrm>
            <a:off x="1508760" y="3291840"/>
            <a:ext cx="228600" cy="228600"/>
          </a:xfrm>
          <a:prstGeom prst="rect">
            <a:avLst/>
          </a:prstGeom>
          <a:solidFill>
            <a:srgbClr val="576384"/>
          </a:solidFill>
          <a:ln/>
        </p:spPr>
      </p:sp>
      <p:sp>
        <p:nvSpPr>
          <p:cNvPr id="37" name="Shape 35"/>
          <p:cNvSpPr/>
          <p:nvPr/>
        </p:nvSpPr>
        <p:spPr>
          <a:xfrm>
            <a:off x="1737360" y="3291840"/>
            <a:ext cx="228600" cy="228600"/>
          </a:xfrm>
          <a:prstGeom prst="rect">
            <a:avLst/>
          </a:prstGeom>
          <a:solidFill>
            <a:srgbClr val="F4F7FC"/>
          </a:solidFill>
          <a:ln/>
        </p:spPr>
      </p:sp>
      <p:sp>
        <p:nvSpPr>
          <p:cNvPr id="38" name="Shape 36"/>
          <p:cNvSpPr/>
          <p:nvPr/>
        </p:nvSpPr>
        <p:spPr>
          <a:xfrm>
            <a:off x="1965960" y="3291840"/>
            <a:ext cx="228600" cy="228600"/>
          </a:xfrm>
          <a:prstGeom prst="rect">
            <a:avLst/>
          </a:prstGeom>
          <a:solidFill>
            <a:srgbClr val="3F4C71"/>
          </a:solidFill>
          <a:ln/>
        </p:spPr>
      </p:sp>
      <p:sp>
        <p:nvSpPr>
          <p:cNvPr id="39" name="Shape 37"/>
          <p:cNvSpPr/>
          <p:nvPr/>
        </p:nvSpPr>
        <p:spPr>
          <a:xfrm>
            <a:off x="2194560" y="3291840"/>
            <a:ext cx="228600" cy="228600"/>
          </a:xfrm>
          <a:prstGeom prst="rect">
            <a:avLst/>
          </a:prstGeom>
          <a:solidFill>
            <a:srgbClr val="AAB1C3"/>
          </a:solidFill>
          <a:ln/>
        </p:spPr>
      </p:sp>
      <p:sp>
        <p:nvSpPr>
          <p:cNvPr id="40" name="Shape 38"/>
          <p:cNvSpPr/>
          <p:nvPr/>
        </p:nvSpPr>
        <p:spPr>
          <a:xfrm>
            <a:off x="2423160" y="3291840"/>
            <a:ext cx="228600" cy="228600"/>
          </a:xfrm>
          <a:prstGeom prst="rect">
            <a:avLst/>
          </a:prstGeom>
          <a:solidFill>
            <a:srgbClr val="313F66"/>
          </a:solidFill>
          <a:ln/>
        </p:spPr>
      </p:sp>
      <p:sp>
        <p:nvSpPr>
          <p:cNvPr id="41" name="Shape 39"/>
          <p:cNvSpPr/>
          <p:nvPr/>
        </p:nvSpPr>
        <p:spPr>
          <a:xfrm>
            <a:off x="2651760" y="3291840"/>
            <a:ext cx="228600" cy="228600"/>
          </a:xfrm>
          <a:prstGeom prst="rect">
            <a:avLst/>
          </a:prstGeom>
          <a:solidFill>
            <a:srgbClr val="D6DBE5"/>
          </a:solidFill>
          <a:ln/>
        </p:spPr>
      </p:sp>
      <p:sp>
        <p:nvSpPr>
          <p:cNvPr id="42" name="Shape 40"/>
          <p:cNvSpPr/>
          <p:nvPr/>
        </p:nvSpPr>
        <p:spPr>
          <a:xfrm>
            <a:off x="2880360" y="3291840"/>
            <a:ext cx="228600" cy="228600"/>
          </a:xfrm>
          <a:prstGeom prst="rect">
            <a:avLst/>
          </a:prstGeom>
          <a:solidFill>
            <a:srgbClr val="2F3C64"/>
          </a:solidFill>
          <a:ln/>
        </p:spPr>
      </p:sp>
      <p:sp>
        <p:nvSpPr>
          <p:cNvPr id="43" name="Shape 41"/>
          <p:cNvSpPr/>
          <p:nvPr/>
        </p:nvSpPr>
        <p:spPr>
          <a:xfrm>
            <a:off x="1051560" y="3520440"/>
            <a:ext cx="228600" cy="228600"/>
          </a:xfrm>
          <a:prstGeom prst="rect">
            <a:avLst/>
          </a:prstGeom>
          <a:solidFill>
            <a:srgbClr val="B8BECE"/>
          </a:solidFill>
          <a:ln/>
        </p:spPr>
      </p:sp>
      <p:sp>
        <p:nvSpPr>
          <p:cNvPr id="44" name="Shape 42"/>
          <p:cNvSpPr/>
          <p:nvPr/>
        </p:nvSpPr>
        <p:spPr>
          <a:xfrm>
            <a:off x="1280160" y="3520440"/>
            <a:ext cx="228600" cy="228600"/>
          </a:xfrm>
          <a:prstGeom prst="rect">
            <a:avLst/>
          </a:prstGeom>
          <a:solidFill>
            <a:srgbClr val="2F3D65"/>
          </a:solidFill>
          <a:ln/>
        </p:spPr>
      </p:sp>
      <p:sp>
        <p:nvSpPr>
          <p:cNvPr id="45" name="Shape 43"/>
          <p:cNvSpPr/>
          <p:nvPr/>
        </p:nvSpPr>
        <p:spPr>
          <a:xfrm>
            <a:off x="1508760" y="3520440"/>
            <a:ext cx="228600" cy="228600"/>
          </a:xfrm>
          <a:prstGeom prst="rect">
            <a:avLst/>
          </a:prstGeom>
          <a:solidFill>
            <a:srgbClr val="D9DEE7"/>
          </a:solidFill>
          <a:ln/>
        </p:spPr>
      </p:sp>
      <p:sp>
        <p:nvSpPr>
          <p:cNvPr id="46" name="Shape 44"/>
          <p:cNvSpPr/>
          <p:nvPr/>
        </p:nvSpPr>
        <p:spPr>
          <a:xfrm>
            <a:off x="1737360" y="3520440"/>
            <a:ext cx="228600" cy="228600"/>
          </a:xfrm>
          <a:prstGeom prst="rect">
            <a:avLst/>
          </a:prstGeom>
          <a:solidFill>
            <a:srgbClr val="313E66"/>
          </a:solidFill>
          <a:ln/>
        </p:spPr>
      </p:sp>
      <p:sp>
        <p:nvSpPr>
          <p:cNvPr id="47" name="Shape 45"/>
          <p:cNvSpPr/>
          <p:nvPr/>
        </p:nvSpPr>
        <p:spPr>
          <a:xfrm>
            <a:off x="1965960" y="3520440"/>
            <a:ext cx="228600" cy="228600"/>
          </a:xfrm>
          <a:prstGeom prst="rect">
            <a:avLst/>
          </a:prstGeom>
          <a:solidFill>
            <a:srgbClr val="F4F7FC"/>
          </a:solidFill>
          <a:ln/>
        </p:spPr>
      </p:sp>
      <p:sp>
        <p:nvSpPr>
          <p:cNvPr id="48" name="Shape 46"/>
          <p:cNvSpPr/>
          <p:nvPr/>
        </p:nvSpPr>
        <p:spPr>
          <a:xfrm>
            <a:off x="2194560" y="3520440"/>
            <a:ext cx="228600" cy="228600"/>
          </a:xfrm>
          <a:prstGeom prst="rect">
            <a:avLst/>
          </a:prstGeom>
          <a:solidFill>
            <a:srgbClr val="3E4A70"/>
          </a:solidFill>
          <a:ln/>
        </p:spPr>
      </p:sp>
      <p:sp>
        <p:nvSpPr>
          <p:cNvPr id="49" name="Shape 47"/>
          <p:cNvSpPr/>
          <p:nvPr/>
        </p:nvSpPr>
        <p:spPr>
          <a:xfrm>
            <a:off x="2423160" y="3520440"/>
            <a:ext cx="228600" cy="228600"/>
          </a:xfrm>
          <a:prstGeom prst="rect">
            <a:avLst/>
          </a:prstGeom>
          <a:solidFill>
            <a:srgbClr val="838CA5"/>
          </a:solidFill>
          <a:ln/>
        </p:spPr>
      </p:sp>
      <p:sp>
        <p:nvSpPr>
          <p:cNvPr id="50" name="Shape 48"/>
          <p:cNvSpPr/>
          <p:nvPr/>
        </p:nvSpPr>
        <p:spPr>
          <a:xfrm>
            <a:off x="2651760" y="3520440"/>
            <a:ext cx="228600" cy="228600"/>
          </a:xfrm>
          <a:prstGeom prst="rect">
            <a:avLst/>
          </a:prstGeom>
          <a:solidFill>
            <a:srgbClr val="566182"/>
          </a:solidFill>
          <a:ln/>
        </p:spPr>
      </p:sp>
      <p:sp>
        <p:nvSpPr>
          <p:cNvPr id="51" name="Shape 49"/>
          <p:cNvSpPr/>
          <p:nvPr/>
        </p:nvSpPr>
        <p:spPr>
          <a:xfrm>
            <a:off x="2880360" y="3520440"/>
            <a:ext cx="228600" cy="228600"/>
          </a:xfrm>
          <a:prstGeom prst="rect">
            <a:avLst/>
          </a:prstGeom>
          <a:solidFill>
            <a:srgbClr val="5F6A8A"/>
          </a:solidFill>
          <a:ln/>
        </p:spPr>
      </p:sp>
      <p:sp>
        <p:nvSpPr>
          <p:cNvPr id="52" name="Shape 50"/>
          <p:cNvSpPr/>
          <p:nvPr/>
        </p:nvSpPr>
        <p:spPr>
          <a:xfrm>
            <a:off x="1051560" y="3749040"/>
            <a:ext cx="228600" cy="228600"/>
          </a:xfrm>
          <a:prstGeom prst="rect">
            <a:avLst/>
          </a:prstGeom>
          <a:solidFill>
            <a:srgbClr val="445175"/>
          </a:solidFill>
          <a:ln/>
        </p:spPr>
      </p:sp>
      <p:sp>
        <p:nvSpPr>
          <p:cNvPr id="53" name="Shape 51"/>
          <p:cNvSpPr/>
          <p:nvPr/>
        </p:nvSpPr>
        <p:spPr>
          <a:xfrm>
            <a:off x="1280160" y="3749040"/>
            <a:ext cx="228600" cy="228600"/>
          </a:xfrm>
          <a:prstGeom prst="rect">
            <a:avLst/>
          </a:prstGeom>
          <a:solidFill>
            <a:srgbClr val="77809B"/>
          </a:solidFill>
          <a:ln/>
        </p:spPr>
      </p:sp>
      <p:sp>
        <p:nvSpPr>
          <p:cNvPr id="54" name="Shape 52"/>
          <p:cNvSpPr/>
          <p:nvPr/>
        </p:nvSpPr>
        <p:spPr>
          <a:xfrm>
            <a:off x="1508760" y="3749040"/>
            <a:ext cx="228600" cy="228600"/>
          </a:xfrm>
          <a:prstGeom prst="rect">
            <a:avLst/>
          </a:prstGeom>
          <a:solidFill>
            <a:srgbClr val="5F6A8A"/>
          </a:solidFill>
          <a:ln/>
        </p:spPr>
      </p:sp>
      <p:sp>
        <p:nvSpPr>
          <p:cNvPr id="55" name="Shape 53"/>
          <p:cNvSpPr/>
          <p:nvPr/>
        </p:nvSpPr>
        <p:spPr>
          <a:xfrm>
            <a:off x="1737360" y="3749040"/>
            <a:ext cx="228600" cy="228600"/>
          </a:xfrm>
          <a:prstGeom prst="rect">
            <a:avLst/>
          </a:prstGeom>
          <a:solidFill>
            <a:srgbClr val="566182"/>
          </a:solidFill>
          <a:ln/>
        </p:spPr>
      </p:sp>
      <p:sp>
        <p:nvSpPr>
          <p:cNvPr id="56" name="Shape 54"/>
          <p:cNvSpPr/>
          <p:nvPr/>
        </p:nvSpPr>
        <p:spPr>
          <a:xfrm>
            <a:off x="1965960" y="3749040"/>
            <a:ext cx="228600" cy="228600"/>
          </a:xfrm>
          <a:prstGeom prst="rect">
            <a:avLst/>
          </a:prstGeom>
          <a:solidFill>
            <a:srgbClr val="838CA5"/>
          </a:solidFill>
          <a:ln/>
        </p:spPr>
      </p:sp>
      <p:sp>
        <p:nvSpPr>
          <p:cNvPr id="57" name="Shape 55"/>
          <p:cNvSpPr/>
          <p:nvPr/>
        </p:nvSpPr>
        <p:spPr>
          <a:xfrm>
            <a:off x="2194560" y="3749040"/>
            <a:ext cx="228600" cy="228600"/>
          </a:xfrm>
          <a:prstGeom prst="rect">
            <a:avLst/>
          </a:prstGeom>
          <a:solidFill>
            <a:srgbClr val="F4F7FC"/>
          </a:solidFill>
          <a:ln/>
        </p:spPr>
      </p:sp>
      <p:sp>
        <p:nvSpPr>
          <p:cNvPr id="58" name="Shape 56"/>
          <p:cNvSpPr/>
          <p:nvPr/>
        </p:nvSpPr>
        <p:spPr>
          <a:xfrm>
            <a:off x="2423160" y="3749040"/>
            <a:ext cx="228600" cy="228600"/>
          </a:xfrm>
          <a:prstGeom prst="rect">
            <a:avLst/>
          </a:prstGeom>
          <a:solidFill>
            <a:srgbClr val="ACB3C5"/>
          </a:solidFill>
          <a:ln/>
        </p:spPr>
      </p:sp>
      <p:sp>
        <p:nvSpPr>
          <p:cNvPr id="59" name="Shape 57"/>
          <p:cNvSpPr/>
          <p:nvPr/>
        </p:nvSpPr>
        <p:spPr>
          <a:xfrm>
            <a:off x="2651760" y="3749040"/>
            <a:ext cx="228600" cy="228600"/>
          </a:xfrm>
          <a:prstGeom prst="rect">
            <a:avLst/>
          </a:prstGeom>
          <a:solidFill>
            <a:srgbClr val="313E66"/>
          </a:solidFill>
          <a:ln/>
        </p:spPr>
      </p:sp>
      <p:sp>
        <p:nvSpPr>
          <p:cNvPr id="60" name="Shape 58"/>
          <p:cNvSpPr/>
          <p:nvPr/>
        </p:nvSpPr>
        <p:spPr>
          <a:xfrm>
            <a:off x="2880360" y="3749040"/>
            <a:ext cx="228600" cy="228600"/>
          </a:xfrm>
          <a:prstGeom prst="rect">
            <a:avLst/>
          </a:prstGeom>
          <a:solidFill>
            <a:srgbClr val="D9DEE8"/>
          </a:solidFill>
          <a:ln/>
        </p:spPr>
      </p:sp>
      <p:sp>
        <p:nvSpPr>
          <p:cNvPr id="61" name="Shape 59"/>
          <p:cNvSpPr/>
          <p:nvPr/>
        </p:nvSpPr>
        <p:spPr>
          <a:xfrm>
            <a:off x="1051560" y="3977640"/>
            <a:ext cx="228600" cy="228600"/>
          </a:xfrm>
          <a:prstGeom prst="rect">
            <a:avLst/>
          </a:prstGeom>
          <a:solidFill>
            <a:srgbClr val="38456C"/>
          </a:solidFill>
          <a:ln/>
        </p:spPr>
      </p:sp>
      <p:sp>
        <p:nvSpPr>
          <p:cNvPr id="62" name="Shape 60"/>
          <p:cNvSpPr/>
          <p:nvPr/>
        </p:nvSpPr>
        <p:spPr>
          <a:xfrm>
            <a:off x="1280160" y="3977640"/>
            <a:ext cx="228600" cy="228600"/>
          </a:xfrm>
          <a:prstGeom prst="rect">
            <a:avLst/>
          </a:prstGeom>
          <a:solidFill>
            <a:srgbClr val="BBC1D0"/>
          </a:solidFill>
          <a:ln/>
        </p:spPr>
      </p:sp>
      <p:sp>
        <p:nvSpPr>
          <p:cNvPr id="63" name="Shape 61"/>
          <p:cNvSpPr/>
          <p:nvPr/>
        </p:nvSpPr>
        <p:spPr>
          <a:xfrm>
            <a:off x="1508760" y="3977640"/>
            <a:ext cx="228600" cy="228600"/>
          </a:xfrm>
          <a:prstGeom prst="rect">
            <a:avLst/>
          </a:prstGeom>
          <a:solidFill>
            <a:srgbClr val="2F3C64"/>
          </a:solidFill>
          <a:ln/>
        </p:spPr>
      </p:sp>
      <p:sp>
        <p:nvSpPr>
          <p:cNvPr id="64" name="Shape 62"/>
          <p:cNvSpPr/>
          <p:nvPr/>
        </p:nvSpPr>
        <p:spPr>
          <a:xfrm>
            <a:off x="1737360" y="3977640"/>
            <a:ext cx="228600" cy="228600"/>
          </a:xfrm>
          <a:prstGeom prst="rect">
            <a:avLst/>
          </a:prstGeom>
          <a:solidFill>
            <a:srgbClr val="D6DBE5"/>
          </a:solidFill>
          <a:ln/>
        </p:spPr>
      </p:sp>
      <p:sp>
        <p:nvSpPr>
          <p:cNvPr id="65" name="Shape 63"/>
          <p:cNvSpPr/>
          <p:nvPr/>
        </p:nvSpPr>
        <p:spPr>
          <a:xfrm>
            <a:off x="1965960" y="3977640"/>
            <a:ext cx="228600" cy="228600"/>
          </a:xfrm>
          <a:prstGeom prst="rect">
            <a:avLst/>
          </a:prstGeom>
          <a:solidFill>
            <a:srgbClr val="313F66"/>
          </a:solidFill>
          <a:ln/>
        </p:spPr>
      </p:sp>
      <p:sp>
        <p:nvSpPr>
          <p:cNvPr id="66" name="Shape 64"/>
          <p:cNvSpPr/>
          <p:nvPr/>
        </p:nvSpPr>
        <p:spPr>
          <a:xfrm>
            <a:off x="2194560" y="3977640"/>
            <a:ext cx="228600" cy="228600"/>
          </a:xfrm>
          <a:prstGeom prst="rect">
            <a:avLst/>
          </a:prstGeom>
          <a:solidFill>
            <a:srgbClr val="A9B0C3"/>
          </a:solidFill>
          <a:ln/>
        </p:spPr>
      </p:sp>
      <p:sp>
        <p:nvSpPr>
          <p:cNvPr id="67" name="Shape 65"/>
          <p:cNvSpPr/>
          <p:nvPr/>
        </p:nvSpPr>
        <p:spPr>
          <a:xfrm>
            <a:off x="2423160" y="3977640"/>
            <a:ext cx="228600" cy="228600"/>
          </a:xfrm>
          <a:prstGeom prst="rect">
            <a:avLst/>
          </a:prstGeom>
          <a:solidFill>
            <a:srgbClr val="F4F7FC"/>
          </a:solidFill>
          <a:ln/>
        </p:spPr>
      </p:sp>
      <p:sp>
        <p:nvSpPr>
          <p:cNvPr id="68" name="Shape 66"/>
          <p:cNvSpPr/>
          <p:nvPr/>
        </p:nvSpPr>
        <p:spPr>
          <a:xfrm>
            <a:off x="2651760" y="3977640"/>
            <a:ext cx="228600" cy="228600"/>
          </a:xfrm>
          <a:prstGeom prst="rect">
            <a:avLst/>
          </a:prstGeom>
          <a:solidFill>
            <a:srgbClr val="8089A3"/>
          </a:solidFill>
          <a:ln/>
        </p:spPr>
      </p:sp>
      <p:sp>
        <p:nvSpPr>
          <p:cNvPr id="69" name="Shape 67"/>
          <p:cNvSpPr/>
          <p:nvPr/>
        </p:nvSpPr>
        <p:spPr>
          <a:xfrm>
            <a:off x="2880360" y="3977640"/>
            <a:ext cx="228600" cy="228600"/>
          </a:xfrm>
          <a:prstGeom prst="rect">
            <a:avLst/>
          </a:prstGeom>
          <a:solidFill>
            <a:srgbClr val="586384"/>
          </a:solidFill>
          <a:ln/>
        </p:spPr>
      </p:sp>
      <p:sp>
        <p:nvSpPr>
          <p:cNvPr id="70" name="Shape 68"/>
          <p:cNvSpPr/>
          <p:nvPr/>
        </p:nvSpPr>
        <p:spPr>
          <a:xfrm>
            <a:off x="1051560" y="4206240"/>
            <a:ext cx="228600" cy="228600"/>
          </a:xfrm>
          <a:prstGeom prst="rect">
            <a:avLst/>
          </a:prstGeom>
          <a:solidFill>
            <a:srgbClr val="9CA3B8"/>
          </a:solidFill>
          <a:ln/>
        </p:spPr>
      </p:sp>
      <p:sp>
        <p:nvSpPr>
          <p:cNvPr id="71" name="Shape 69"/>
          <p:cNvSpPr/>
          <p:nvPr/>
        </p:nvSpPr>
        <p:spPr>
          <a:xfrm>
            <a:off x="1280160" y="4206240"/>
            <a:ext cx="228600" cy="228600"/>
          </a:xfrm>
          <a:prstGeom prst="rect">
            <a:avLst/>
          </a:prstGeom>
          <a:solidFill>
            <a:srgbClr val="465276"/>
          </a:solidFill>
          <a:ln/>
        </p:spPr>
      </p:sp>
      <p:sp>
        <p:nvSpPr>
          <p:cNvPr id="72" name="Shape 70"/>
          <p:cNvSpPr/>
          <p:nvPr/>
        </p:nvSpPr>
        <p:spPr>
          <a:xfrm>
            <a:off x="1508760" y="4206240"/>
            <a:ext cx="228600" cy="228600"/>
          </a:xfrm>
          <a:prstGeom prst="rect">
            <a:avLst/>
          </a:prstGeom>
          <a:solidFill>
            <a:srgbClr val="747E9A"/>
          </a:solidFill>
          <a:ln/>
        </p:spPr>
      </p:sp>
      <p:sp>
        <p:nvSpPr>
          <p:cNvPr id="73" name="Shape 71"/>
          <p:cNvSpPr/>
          <p:nvPr/>
        </p:nvSpPr>
        <p:spPr>
          <a:xfrm>
            <a:off x="1737360" y="4206240"/>
            <a:ext cx="228600" cy="228600"/>
          </a:xfrm>
          <a:prstGeom prst="rect">
            <a:avLst/>
          </a:prstGeom>
          <a:solidFill>
            <a:srgbClr val="616C8B"/>
          </a:solidFill>
          <a:ln/>
        </p:spPr>
      </p:sp>
      <p:sp>
        <p:nvSpPr>
          <p:cNvPr id="74" name="Shape 72"/>
          <p:cNvSpPr/>
          <p:nvPr/>
        </p:nvSpPr>
        <p:spPr>
          <a:xfrm>
            <a:off x="1965960" y="4206240"/>
            <a:ext cx="228600" cy="228600"/>
          </a:xfrm>
          <a:prstGeom prst="rect">
            <a:avLst/>
          </a:prstGeom>
          <a:solidFill>
            <a:srgbClr val="545F81"/>
          </a:solidFill>
          <a:ln/>
        </p:spPr>
      </p:sp>
      <p:sp>
        <p:nvSpPr>
          <p:cNvPr id="75" name="Shape 73"/>
          <p:cNvSpPr/>
          <p:nvPr/>
        </p:nvSpPr>
        <p:spPr>
          <a:xfrm>
            <a:off x="2194560" y="4206240"/>
            <a:ext cx="228600" cy="228600"/>
          </a:xfrm>
          <a:prstGeom prst="rect">
            <a:avLst/>
          </a:prstGeom>
          <a:solidFill>
            <a:srgbClr val="858EA7"/>
          </a:solidFill>
          <a:ln/>
        </p:spPr>
      </p:sp>
      <p:sp>
        <p:nvSpPr>
          <p:cNvPr id="76" name="Shape 74"/>
          <p:cNvSpPr/>
          <p:nvPr/>
        </p:nvSpPr>
        <p:spPr>
          <a:xfrm>
            <a:off x="2423160" y="4206240"/>
            <a:ext cx="228600" cy="228600"/>
          </a:xfrm>
          <a:prstGeom prst="rect">
            <a:avLst/>
          </a:prstGeom>
          <a:solidFill>
            <a:srgbClr val="3D496F"/>
          </a:solidFill>
          <a:ln/>
        </p:spPr>
      </p:sp>
      <p:sp>
        <p:nvSpPr>
          <p:cNvPr id="77" name="Shape 75"/>
          <p:cNvSpPr/>
          <p:nvPr/>
        </p:nvSpPr>
        <p:spPr>
          <a:xfrm>
            <a:off x="2651760" y="4206240"/>
            <a:ext cx="228600" cy="228600"/>
          </a:xfrm>
          <a:prstGeom prst="rect">
            <a:avLst/>
          </a:prstGeom>
          <a:solidFill>
            <a:srgbClr val="F4F7FC"/>
          </a:solidFill>
          <a:ln/>
        </p:spPr>
      </p:sp>
      <p:sp>
        <p:nvSpPr>
          <p:cNvPr id="78" name="Shape 76"/>
          <p:cNvSpPr/>
          <p:nvPr/>
        </p:nvSpPr>
        <p:spPr>
          <a:xfrm>
            <a:off x="2880360" y="4206240"/>
            <a:ext cx="228600" cy="228600"/>
          </a:xfrm>
          <a:prstGeom prst="rect">
            <a:avLst/>
          </a:prstGeom>
          <a:solidFill>
            <a:srgbClr val="303E65"/>
          </a:solidFill>
          <a:ln/>
        </p:spPr>
      </p:sp>
      <p:sp>
        <p:nvSpPr>
          <p:cNvPr id="79" name="Shape 77"/>
          <p:cNvSpPr/>
          <p:nvPr/>
        </p:nvSpPr>
        <p:spPr>
          <a:xfrm>
            <a:off x="1051560" y="4434840"/>
            <a:ext cx="228600" cy="228600"/>
          </a:xfrm>
          <a:prstGeom prst="rect">
            <a:avLst/>
          </a:prstGeom>
          <a:solidFill>
            <a:srgbClr val="929BB1"/>
          </a:solidFill>
          <a:ln/>
        </p:spPr>
      </p:sp>
      <p:sp>
        <p:nvSpPr>
          <p:cNvPr id="80" name="Shape 78"/>
          <p:cNvSpPr/>
          <p:nvPr/>
        </p:nvSpPr>
        <p:spPr>
          <a:xfrm>
            <a:off x="1280160" y="4434840"/>
            <a:ext cx="228600" cy="228600"/>
          </a:xfrm>
          <a:prstGeom prst="rect">
            <a:avLst/>
          </a:prstGeom>
          <a:solidFill>
            <a:srgbClr val="37446B"/>
          </a:solidFill>
          <a:ln/>
        </p:spPr>
      </p:sp>
      <p:sp>
        <p:nvSpPr>
          <p:cNvPr id="81" name="Shape 79"/>
          <p:cNvSpPr/>
          <p:nvPr/>
        </p:nvSpPr>
        <p:spPr>
          <a:xfrm>
            <a:off x="1508760" y="4434840"/>
            <a:ext cx="228600" cy="228600"/>
          </a:xfrm>
          <a:prstGeom prst="rect">
            <a:avLst/>
          </a:prstGeom>
          <a:solidFill>
            <a:srgbClr val="BEC3D2"/>
          </a:solidFill>
          <a:ln/>
        </p:spPr>
      </p:sp>
      <p:sp>
        <p:nvSpPr>
          <p:cNvPr id="82" name="Shape 80"/>
          <p:cNvSpPr/>
          <p:nvPr/>
        </p:nvSpPr>
        <p:spPr>
          <a:xfrm>
            <a:off x="1737360" y="4434840"/>
            <a:ext cx="228600" cy="228600"/>
          </a:xfrm>
          <a:prstGeom prst="rect">
            <a:avLst/>
          </a:prstGeom>
          <a:solidFill>
            <a:srgbClr val="2F3C64"/>
          </a:solidFill>
          <a:ln/>
        </p:spPr>
      </p:sp>
      <p:sp>
        <p:nvSpPr>
          <p:cNvPr id="83" name="Shape 81"/>
          <p:cNvSpPr/>
          <p:nvPr/>
        </p:nvSpPr>
        <p:spPr>
          <a:xfrm>
            <a:off x="1965960" y="4434840"/>
            <a:ext cx="228600" cy="228600"/>
          </a:xfrm>
          <a:prstGeom prst="rect">
            <a:avLst/>
          </a:prstGeom>
          <a:solidFill>
            <a:srgbClr val="D3D8E3"/>
          </a:solidFill>
          <a:ln/>
        </p:spPr>
      </p:sp>
      <p:sp>
        <p:nvSpPr>
          <p:cNvPr id="84" name="Shape 82"/>
          <p:cNvSpPr/>
          <p:nvPr/>
        </p:nvSpPr>
        <p:spPr>
          <a:xfrm>
            <a:off x="2194560" y="4434840"/>
            <a:ext cx="228600" cy="228600"/>
          </a:xfrm>
          <a:prstGeom prst="rect">
            <a:avLst/>
          </a:prstGeom>
          <a:solidFill>
            <a:srgbClr val="323F67"/>
          </a:solidFill>
          <a:ln/>
        </p:spPr>
      </p:sp>
      <p:sp>
        <p:nvSpPr>
          <p:cNvPr id="85" name="Shape 83"/>
          <p:cNvSpPr/>
          <p:nvPr/>
        </p:nvSpPr>
        <p:spPr>
          <a:xfrm>
            <a:off x="2423160" y="4434840"/>
            <a:ext cx="228600" cy="228600"/>
          </a:xfrm>
          <a:prstGeom prst="rect">
            <a:avLst/>
          </a:prstGeom>
          <a:solidFill>
            <a:srgbClr val="A7AEC0"/>
          </a:solidFill>
          <a:ln/>
        </p:spPr>
      </p:sp>
      <p:sp>
        <p:nvSpPr>
          <p:cNvPr id="86" name="Shape 84"/>
          <p:cNvSpPr/>
          <p:nvPr/>
        </p:nvSpPr>
        <p:spPr>
          <a:xfrm>
            <a:off x="2651760" y="4434840"/>
            <a:ext cx="228600" cy="228600"/>
          </a:xfrm>
          <a:prstGeom prst="rect">
            <a:avLst/>
          </a:prstGeom>
          <a:solidFill>
            <a:srgbClr val="404D72"/>
          </a:solidFill>
          <a:ln/>
        </p:spPr>
      </p:sp>
      <p:sp>
        <p:nvSpPr>
          <p:cNvPr id="87" name="Shape 85"/>
          <p:cNvSpPr/>
          <p:nvPr/>
        </p:nvSpPr>
        <p:spPr>
          <a:xfrm>
            <a:off x="2880360" y="4434840"/>
            <a:ext cx="228600" cy="228600"/>
          </a:xfrm>
          <a:prstGeom prst="rect">
            <a:avLst/>
          </a:prstGeom>
          <a:solidFill>
            <a:srgbClr val="F4F7FC"/>
          </a:solidFill>
          <a:ln/>
        </p:spPr>
      </p:sp>
      <p:sp>
        <p:nvSpPr>
          <p:cNvPr id="88" name="Text 86"/>
          <p:cNvSpPr/>
          <p:nvPr/>
        </p:nvSpPr>
        <p:spPr>
          <a:xfrm>
            <a:off x="914400" y="4754880"/>
            <a:ext cx="2377440" cy="274320"/>
          </a:xfrm>
          <a:prstGeom prst="rect">
            <a:avLst/>
          </a:prstGeom>
          <a:noFill/>
          <a:ln/>
        </p:spPr>
        <p:txBody>
          <a:bodyPr wrap="square" lIns="0" tIns="0" rIns="0" bIns="0" rtlCol="0" anchor="ctr"/>
          <a:lstStyle/>
          <a:p>
            <a:pPr algn="ctr" indent="0" marL="0">
              <a:buNone/>
            </a:pPr>
            <a:r>
              <a:rPr lang="en-US" sz="1000" i="1" dirty="0">
                <a:solidFill>
                  <a:srgbClr val="5A6588"/>
                </a:solidFill>
                <a:latin typeface="Calibri" pitchFamily="34" charset="0"/>
                <a:ea typeface="Calibri" pitchFamily="34" charset="-122"/>
                <a:cs typeface="Calibri" pitchFamily="34" charset="-120"/>
              </a:rPr>
              <a:t>unstructured</a:t>
            </a:r>
            <a:endParaRPr lang="en-US" sz="1000" dirty="0"/>
          </a:p>
        </p:txBody>
      </p:sp>
      <p:sp>
        <p:nvSpPr>
          <p:cNvPr id="89" name="Text 87"/>
          <p:cNvSpPr/>
          <p:nvPr/>
        </p:nvSpPr>
        <p:spPr>
          <a:xfrm>
            <a:off x="3520440" y="3291840"/>
            <a:ext cx="914400" cy="365760"/>
          </a:xfrm>
          <a:prstGeom prst="rect">
            <a:avLst/>
          </a:prstGeom>
          <a:noFill/>
          <a:ln/>
        </p:spPr>
        <p:txBody>
          <a:bodyPr wrap="square" lIns="0" tIns="0" rIns="0" bIns="0" rtlCol="0" anchor="ctr"/>
          <a:lstStyle/>
          <a:p>
            <a:pPr algn="ctr" indent="0" marL="0">
              <a:buNone/>
            </a:pPr>
            <a:r>
              <a:rPr lang="en-US" sz="1700" b="1" dirty="0">
                <a:solidFill>
                  <a:srgbClr val="E8743B"/>
                </a:solidFill>
                <a:latin typeface="Cambria" pitchFamily="34" charset="0"/>
                <a:ea typeface="Cambria" pitchFamily="34" charset="-122"/>
                <a:cs typeface="Cambria" pitchFamily="34" charset="-120"/>
              </a:rPr>
              <a:t>RSR</a:t>
            </a:r>
            <a:endParaRPr lang="en-US" sz="1700" dirty="0"/>
          </a:p>
        </p:txBody>
      </p:sp>
      <p:sp>
        <p:nvSpPr>
          <p:cNvPr id="90" name="Shape 88"/>
          <p:cNvSpPr/>
          <p:nvPr/>
        </p:nvSpPr>
        <p:spPr>
          <a:xfrm>
            <a:off x="3520440" y="3703320"/>
            <a:ext cx="914400" cy="274320"/>
          </a:xfrm>
          <a:prstGeom prst="rightArrow">
            <a:avLst/>
          </a:prstGeom>
          <a:solidFill>
            <a:srgbClr val="E8743B"/>
          </a:solidFill>
          <a:ln/>
        </p:spPr>
      </p:sp>
      <p:sp>
        <p:nvSpPr>
          <p:cNvPr id="91" name="Text 89"/>
          <p:cNvSpPr/>
          <p:nvPr/>
        </p:nvSpPr>
        <p:spPr>
          <a:xfrm>
            <a:off x="4663440" y="2240280"/>
            <a:ext cx="2377440" cy="274320"/>
          </a:xfrm>
          <a:prstGeom prst="rect">
            <a:avLst/>
          </a:prstGeom>
          <a:noFill/>
          <a:ln/>
        </p:spPr>
        <p:txBody>
          <a:bodyPr wrap="square" lIns="0" tIns="0" rIns="0" bIns="0" rtlCol="0" anchor="ctr"/>
          <a:lstStyle/>
          <a:p>
            <a:pPr algn="ctr" indent="0" marL="0">
              <a:buNone/>
            </a:pPr>
            <a:r>
              <a:rPr lang="en-US" sz="1150" b="1" dirty="0">
                <a:solidFill>
                  <a:srgbClr val="5A6588"/>
                </a:solidFill>
                <a:latin typeface="Calibri" pitchFamily="34" charset="0"/>
                <a:ea typeface="Calibri" pitchFamily="34" charset="-122"/>
                <a:cs typeface="Calibri" pitchFamily="34" charset="-120"/>
              </a:rPr>
              <a:t>What people judge</a:t>
            </a:r>
            <a:endParaRPr lang="en-US" sz="1150" dirty="0"/>
          </a:p>
        </p:txBody>
      </p:sp>
      <p:sp>
        <p:nvSpPr>
          <p:cNvPr id="92" name="Shape 90"/>
          <p:cNvSpPr/>
          <p:nvPr/>
        </p:nvSpPr>
        <p:spPr>
          <a:xfrm>
            <a:off x="4800600" y="2606040"/>
            <a:ext cx="228600" cy="228600"/>
          </a:xfrm>
          <a:prstGeom prst="rect">
            <a:avLst/>
          </a:prstGeom>
          <a:solidFill>
            <a:srgbClr val="F4F7FC"/>
          </a:solidFill>
          <a:ln/>
        </p:spPr>
      </p:sp>
      <p:sp>
        <p:nvSpPr>
          <p:cNvPr id="93" name="Shape 91"/>
          <p:cNvSpPr/>
          <p:nvPr/>
        </p:nvSpPr>
        <p:spPr>
          <a:xfrm>
            <a:off x="5029200" y="2606040"/>
            <a:ext cx="228600" cy="228600"/>
          </a:xfrm>
          <a:prstGeom prst="rect">
            <a:avLst/>
          </a:prstGeom>
          <a:solidFill>
            <a:srgbClr val="D4E9EB"/>
          </a:solidFill>
          <a:ln/>
        </p:spPr>
      </p:sp>
      <p:sp>
        <p:nvSpPr>
          <p:cNvPr id="94" name="Shape 92"/>
          <p:cNvSpPr/>
          <p:nvPr/>
        </p:nvSpPr>
        <p:spPr>
          <a:xfrm>
            <a:off x="5257800" y="2606040"/>
            <a:ext cx="228600" cy="228600"/>
          </a:xfrm>
          <a:prstGeom prst="rect">
            <a:avLst/>
          </a:prstGeom>
          <a:solidFill>
            <a:srgbClr val="D4E9EB"/>
          </a:solidFill>
          <a:ln/>
        </p:spPr>
      </p:sp>
      <p:sp>
        <p:nvSpPr>
          <p:cNvPr id="95" name="Shape 93"/>
          <p:cNvSpPr/>
          <p:nvPr/>
        </p:nvSpPr>
        <p:spPr>
          <a:xfrm>
            <a:off x="5486400" y="2606040"/>
            <a:ext cx="228600" cy="228600"/>
          </a:xfrm>
          <a:prstGeom prst="rect">
            <a:avLst/>
          </a:prstGeom>
          <a:solidFill>
            <a:srgbClr val="42A89C"/>
          </a:solidFill>
          <a:ln/>
        </p:spPr>
      </p:sp>
      <p:sp>
        <p:nvSpPr>
          <p:cNvPr id="96" name="Shape 94"/>
          <p:cNvSpPr/>
          <p:nvPr/>
        </p:nvSpPr>
        <p:spPr>
          <a:xfrm>
            <a:off x="5715000" y="2606040"/>
            <a:ext cx="228600" cy="228600"/>
          </a:xfrm>
          <a:prstGeom prst="rect">
            <a:avLst/>
          </a:prstGeom>
          <a:solidFill>
            <a:srgbClr val="42A89C"/>
          </a:solidFill>
          <a:ln/>
        </p:spPr>
      </p:sp>
      <p:sp>
        <p:nvSpPr>
          <p:cNvPr id="97" name="Shape 95"/>
          <p:cNvSpPr/>
          <p:nvPr/>
        </p:nvSpPr>
        <p:spPr>
          <a:xfrm>
            <a:off x="5943600" y="2606040"/>
            <a:ext cx="228600" cy="228600"/>
          </a:xfrm>
          <a:prstGeom prst="rect">
            <a:avLst/>
          </a:prstGeom>
          <a:solidFill>
            <a:srgbClr val="42A89C"/>
          </a:solidFill>
          <a:ln/>
        </p:spPr>
      </p:sp>
      <p:sp>
        <p:nvSpPr>
          <p:cNvPr id="98" name="Shape 96"/>
          <p:cNvSpPr/>
          <p:nvPr/>
        </p:nvSpPr>
        <p:spPr>
          <a:xfrm>
            <a:off x="6172200" y="2606040"/>
            <a:ext cx="228600" cy="228600"/>
          </a:xfrm>
          <a:prstGeom prst="rect">
            <a:avLst/>
          </a:prstGeom>
          <a:solidFill>
            <a:srgbClr val="42A89C"/>
          </a:solidFill>
          <a:ln/>
        </p:spPr>
      </p:sp>
      <p:sp>
        <p:nvSpPr>
          <p:cNvPr id="99" name="Shape 97"/>
          <p:cNvSpPr/>
          <p:nvPr/>
        </p:nvSpPr>
        <p:spPr>
          <a:xfrm>
            <a:off x="6400800" y="2606040"/>
            <a:ext cx="228600" cy="228600"/>
          </a:xfrm>
          <a:prstGeom prst="rect">
            <a:avLst/>
          </a:prstGeom>
          <a:solidFill>
            <a:srgbClr val="42A89C"/>
          </a:solidFill>
          <a:ln/>
        </p:spPr>
      </p:sp>
      <p:sp>
        <p:nvSpPr>
          <p:cNvPr id="100" name="Shape 98"/>
          <p:cNvSpPr/>
          <p:nvPr/>
        </p:nvSpPr>
        <p:spPr>
          <a:xfrm>
            <a:off x="6629400" y="2606040"/>
            <a:ext cx="228600" cy="228600"/>
          </a:xfrm>
          <a:prstGeom prst="rect">
            <a:avLst/>
          </a:prstGeom>
          <a:solidFill>
            <a:srgbClr val="42A89C"/>
          </a:solidFill>
          <a:ln/>
        </p:spPr>
      </p:sp>
      <p:sp>
        <p:nvSpPr>
          <p:cNvPr id="101" name="Shape 99"/>
          <p:cNvSpPr/>
          <p:nvPr/>
        </p:nvSpPr>
        <p:spPr>
          <a:xfrm>
            <a:off x="4800600" y="2834640"/>
            <a:ext cx="228600" cy="228600"/>
          </a:xfrm>
          <a:prstGeom prst="rect">
            <a:avLst/>
          </a:prstGeom>
          <a:solidFill>
            <a:srgbClr val="D4E9EB"/>
          </a:solidFill>
          <a:ln/>
        </p:spPr>
      </p:sp>
      <p:sp>
        <p:nvSpPr>
          <p:cNvPr id="102" name="Shape 100"/>
          <p:cNvSpPr/>
          <p:nvPr/>
        </p:nvSpPr>
        <p:spPr>
          <a:xfrm>
            <a:off x="5029200" y="2834640"/>
            <a:ext cx="228600" cy="228600"/>
          </a:xfrm>
          <a:prstGeom prst="rect">
            <a:avLst/>
          </a:prstGeom>
          <a:solidFill>
            <a:srgbClr val="F4F7FC"/>
          </a:solidFill>
          <a:ln/>
        </p:spPr>
      </p:sp>
      <p:sp>
        <p:nvSpPr>
          <p:cNvPr id="103" name="Shape 101"/>
          <p:cNvSpPr/>
          <p:nvPr/>
        </p:nvSpPr>
        <p:spPr>
          <a:xfrm>
            <a:off x="5257800" y="2834640"/>
            <a:ext cx="228600" cy="228600"/>
          </a:xfrm>
          <a:prstGeom prst="rect">
            <a:avLst/>
          </a:prstGeom>
          <a:solidFill>
            <a:srgbClr val="D4E9EB"/>
          </a:solidFill>
          <a:ln/>
        </p:spPr>
      </p:sp>
      <p:sp>
        <p:nvSpPr>
          <p:cNvPr id="104" name="Shape 102"/>
          <p:cNvSpPr/>
          <p:nvPr/>
        </p:nvSpPr>
        <p:spPr>
          <a:xfrm>
            <a:off x="5486400" y="2834640"/>
            <a:ext cx="228600" cy="228600"/>
          </a:xfrm>
          <a:prstGeom prst="rect">
            <a:avLst/>
          </a:prstGeom>
          <a:solidFill>
            <a:srgbClr val="42A89C"/>
          </a:solidFill>
          <a:ln/>
        </p:spPr>
      </p:sp>
      <p:sp>
        <p:nvSpPr>
          <p:cNvPr id="105" name="Shape 103"/>
          <p:cNvSpPr/>
          <p:nvPr/>
        </p:nvSpPr>
        <p:spPr>
          <a:xfrm>
            <a:off x="5715000" y="2834640"/>
            <a:ext cx="228600" cy="228600"/>
          </a:xfrm>
          <a:prstGeom prst="rect">
            <a:avLst/>
          </a:prstGeom>
          <a:solidFill>
            <a:srgbClr val="42A89C"/>
          </a:solidFill>
          <a:ln/>
        </p:spPr>
      </p:sp>
      <p:sp>
        <p:nvSpPr>
          <p:cNvPr id="106" name="Shape 104"/>
          <p:cNvSpPr/>
          <p:nvPr/>
        </p:nvSpPr>
        <p:spPr>
          <a:xfrm>
            <a:off x="5943600" y="2834640"/>
            <a:ext cx="228600" cy="228600"/>
          </a:xfrm>
          <a:prstGeom prst="rect">
            <a:avLst/>
          </a:prstGeom>
          <a:solidFill>
            <a:srgbClr val="42A89C"/>
          </a:solidFill>
          <a:ln/>
        </p:spPr>
      </p:sp>
      <p:sp>
        <p:nvSpPr>
          <p:cNvPr id="107" name="Shape 105"/>
          <p:cNvSpPr/>
          <p:nvPr/>
        </p:nvSpPr>
        <p:spPr>
          <a:xfrm>
            <a:off x="6172200" y="2834640"/>
            <a:ext cx="228600" cy="228600"/>
          </a:xfrm>
          <a:prstGeom prst="rect">
            <a:avLst/>
          </a:prstGeom>
          <a:solidFill>
            <a:srgbClr val="42A89C"/>
          </a:solidFill>
          <a:ln/>
        </p:spPr>
      </p:sp>
      <p:sp>
        <p:nvSpPr>
          <p:cNvPr id="108" name="Shape 106"/>
          <p:cNvSpPr/>
          <p:nvPr/>
        </p:nvSpPr>
        <p:spPr>
          <a:xfrm>
            <a:off x="6400800" y="2834640"/>
            <a:ext cx="228600" cy="228600"/>
          </a:xfrm>
          <a:prstGeom prst="rect">
            <a:avLst/>
          </a:prstGeom>
          <a:solidFill>
            <a:srgbClr val="42A89C"/>
          </a:solidFill>
          <a:ln/>
        </p:spPr>
      </p:sp>
      <p:sp>
        <p:nvSpPr>
          <p:cNvPr id="109" name="Shape 107"/>
          <p:cNvSpPr/>
          <p:nvPr/>
        </p:nvSpPr>
        <p:spPr>
          <a:xfrm>
            <a:off x="6629400" y="2834640"/>
            <a:ext cx="228600" cy="228600"/>
          </a:xfrm>
          <a:prstGeom prst="rect">
            <a:avLst/>
          </a:prstGeom>
          <a:solidFill>
            <a:srgbClr val="42A89C"/>
          </a:solidFill>
          <a:ln/>
        </p:spPr>
      </p:sp>
      <p:sp>
        <p:nvSpPr>
          <p:cNvPr id="110" name="Shape 108"/>
          <p:cNvSpPr/>
          <p:nvPr/>
        </p:nvSpPr>
        <p:spPr>
          <a:xfrm>
            <a:off x="4800600" y="3063240"/>
            <a:ext cx="228600" cy="228600"/>
          </a:xfrm>
          <a:prstGeom prst="rect">
            <a:avLst/>
          </a:prstGeom>
          <a:solidFill>
            <a:srgbClr val="D4E9EB"/>
          </a:solidFill>
          <a:ln/>
        </p:spPr>
      </p:sp>
      <p:sp>
        <p:nvSpPr>
          <p:cNvPr id="111" name="Shape 109"/>
          <p:cNvSpPr/>
          <p:nvPr/>
        </p:nvSpPr>
        <p:spPr>
          <a:xfrm>
            <a:off x="5029200" y="3063240"/>
            <a:ext cx="228600" cy="228600"/>
          </a:xfrm>
          <a:prstGeom prst="rect">
            <a:avLst/>
          </a:prstGeom>
          <a:solidFill>
            <a:srgbClr val="D4E9EB"/>
          </a:solidFill>
          <a:ln/>
        </p:spPr>
      </p:sp>
      <p:sp>
        <p:nvSpPr>
          <p:cNvPr id="112" name="Shape 110"/>
          <p:cNvSpPr/>
          <p:nvPr/>
        </p:nvSpPr>
        <p:spPr>
          <a:xfrm>
            <a:off x="5257800" y="3063240"/>
            <a:ext cx="228600" cy="228600"/>
          </a:xfrm>
          <a:prstGeom prst="rect">
            <a:avLst/>
          </a:prstGeom>
          <a:solidFill>
            <a:srgbClr val="F4F7FC"/>
          </a:solidFill>
          <a:ln/>
        </p:spPr>
      </p:sp>
      <p:sp>
        <p:nvSpPr>
          <p:cNvPr id="113" name="Shape 111"/>
          <p:cNvSpPr/>
          <p:nvPr/>
        </p:nvSpPr>
        <p:spPr>
          <a:xfrm>
            <a:off x="5486400" y="3063240"/>
            <a:ext cx="228600" cy="228600"/>
          </a:xfrm>
          <a:prstGeom prst="rect">
            <a:avLst/>
          </a:prstGeom>
          <a:solidFill>
            <a:srgbClr val="42A89C"/>
          </a:solidFill>
          <a:ln/>
        </p:spPr>
      </p:sp>
      <p:sp>
        <p:nvSpPr>
          <p:cNvPr id="114" name="Shape 112"/>
          <p:cNvSpPr/>
          <p:nvPr/>
        </p:nvSpPr>
        <p:spPr>
          <a:xfrm>
            <a:off x="5715000" y="3063240"/>
            <a:ext cx="228600" cy="228600"/>
          </a:xfrm>
          <a:prstGeom prst="rect">
            <a:avLst/>
          </a:prstGeom>
          <a:solidFill>
            <a:srgbClr val="42A89C"/>
          </a:solidFill>
          <a:ln/>
        </p:spPr>
      </p:sp>
      <p:sp>
        <p:nvSpPr>
          <p:cNvPr id="115" name="Shape 113"/>
          <p:cNvSpPr/>
          <p:nvPr/>
        </p:nvSpPr>
        <p:spPr>
          <a:xfrm>
            <a:off x="5943600" y="3063240"/>
            <a:ext cx="228600" cy="228600"/>
          </a:xfrm>
          <a:prstGeom prst="rect">
            <a:avLst/>
          </a:prstGeom>
          <a:solidFill>
            <a:srgbClr val="42A89C"/>
          </a:solidFill>
          <a:ln/>
        </p:spPr>
      </p:sp>
      <p:sp>
        <p:nvSpPr>
          <p:cNvPr id="116" name="Shape 114"/>
          <p:cNvSpPr/>
          <p:nvPr/>
        </p:nvSpPr>
        <p:spPr>
          <a:xfrm>
            <a:off x="6172200" y="3063240"/>
            <a:ext cx="228600" cy="228600"/>
          </a:xfrm>
          <a:prstGeom prst="rect">
            <a:avLst/>
          </a:prstGeom>
          <a:solidFill>
            <a:srgbClr val="42A89C"/>
          </a:solidFill>
          <a:ln/>
        </p:spPr>
      </p:sp>
      <p:sp>
        <p:nvSpPr>
          <p:cNvPr id="117" name="Shape 115"/>
          <p:cNvSpPr/>
          <p:nvPr/>
        </p:nvSpPr>
        <p:spPr>
          <a:xfrm>
            <a:off x="6400800" y="3063240"/>
            <a:ext cx="228600" cy="228600"/>
          </a:xfrm>
          <a:prstGeom prst="rect">
            <a:avLst/>
          </a:prstGeom>
          <a:solidFill>
            <a:srgbClr val="42A89C"/>
          </a:solidFill>
          <a:ln/>
        </p:spPr>
      </p:sp>
      <p:sp>
        <p:nvSpPr>
          <p:cNvPr id="118" name="Shape 116"/>
          <p:cNvSpPr/>
          <p:nvPr/>
        </p:nvSpPr>
        <p:spPr>
          <a:xfrm>
            <a:off x="6629400" y="3063240"/>
            <a:ext cx="228600" cy="228600"/>
          </a:xfrm>
          <a:prstGeom prst="rect">
            <a:avLst/>
          </a:prstGeom>
          <a:solidFill>
            <a:srgbClr val="42A89C"/>
          </a:solidFill>
          <a:ln/>
        </p:spPr>
      </p:sp>
      <p:sp>
        <p:nvSpPr>
          <p:cNvPr id="119" name="Shape 117"/>
          <p:cNvSpPr/>
          <p:nvPr/>
        </p:nvSpPr>
        <p:spPr>
          <a:xfrm>
            <a:off x="4800600" y="3291840"/>
            <a:ext cx="228600" cy="228600"/>
          </a:xfrm>
          <a:prstGeom prst="rect">
            <a:avLst/>
          </a:prstGeom>
          <a:solidFill>
            <a:srgbClr val="42A89C"/>
          </a:solidFill>
          <a:ln/>
        </p:spPr>
      </p:sp>
      <p:sp>
        <p:nvSpPr>
          <p:cNvPr id="120" name="Shape 118"/>
          <p:cNvSpPr/>
          <p:nvPr/>
        </p:nvSpPr>
        <p:spPr>
          <a:xfrm>
            <a:off x="5029200" y="3291840"/>
            <a:ext cx="228600" cy="228600"/>
          </a:xfrm>
          <a:prstGeom prst="rect">
            <a:avLst/>
          </a:prstGeom>
          <a:solidFill>
            <a:srgbClr val="42A89C"/>
          </a:solidFill>
          <a:ln/>
        </p:spPr>
      </p:sp>
      <p:sp>
        <p:nvSpPr>
          <p:cNvPr id="121" name="Shape 119"/>
          <p:cNvSpPr/>
          <p:nvPr/>
        </p:nvSpPr>
        <p:spPr>
          <a:xfrm>
            <a:off x="5257800" y="3291840"/>
            <a:ext cx="228600" cy="228600"/>
          </a:xfrm>
          <a:prstGeom prst="rect">
            <a:avLst/>
          </a:prstGeom>
          <a:solidFill>
            <a:srgbClr val="42A89C"/>
          </a:solidFill>
          <a:ln/>
        </p:spPr>
      </p:sp>
      <p:sp>
        <p:nvSpPr>
          <p:cNvPr id="122" name="Shape 120"/>
          <p:cNvSpPr/>
          <p:nvPr/>
        </p:nvSpPr>
        <p:spPr>
          <a:xfrm>
            <a:off x="5486400" y="3291840"/>
            <a:ext cx="228600" cy="228600"/>
          </a:xfrm>
          <a:prstGeom prst="rect">
            <a:avLst/>
          </a:prstGeom>
          <a:solidFill>
            <a:srgbClr val="F4F7FC"/>
          </a:solidFill>
          <a:ln/>
        </p:spPr>
      </p:sp>
      <p:sp>
        <p:nvSpPr>
          <p:cNvPr id="123" name="Shape 121"/>
          <p:cNvSpPr/>
          <p:nvPr/>
        </p:nvSpPr>
        <p:spPr>
          <a:xfrm>
            <a:off x="5715000" y="3291840"/>
            <a:ext cx="228600" cy="228600"/>
          </a:xfrm>
          <a:prstGeom prst="rect">
            <a:avLst/>
          </a:prstGeom>
          <a:solidFill>
            <a:srgbClr val="D4E9EB"/>
          </a:solidFill>
          <a:ln/>
        </p:spPr>
      </p:sp>
      <p:sp>
        <p:nvSpPr>
          <p:cNvPr id="124" name="Shape 122"/>
          <p:cNvSpPr/>
          <p:nvPr/>
        </p:nvSpPr>
        <p:spPr>
          <a:xfrm>
            <a:off x="5943600" y="3291840"/>
            <a:ext cx="228600" cy="228600"/>
          </a:xfrm>
          <a:prstGeom prst="rect">
            <a:avLst/>
          </a:prstGeom>
          <a:solidFill>
            <a:srgbClr val="D4E9EB"/>
          </a:solidFill>
          <a:ln/>
        </p:spPr>
      </p:sp>
      <p:sp>
        <p:nvSpPr>
          <p:cNvPr id="125" name="Shape 123"/>
          <p:cNvSpPr/>
          <p:nvPr/>
        </p:nvSpPr>
        <p:spPr>
          <a:xfrm>
            <a:off x="6172200" y="3291840"/>
            <a:ext cx="228600" cy="228600"/>
          </a:xfrm>
          <a:prstGeom prst="rect">
            <a:avLst/>
          </a:prstGeom>
          <a:solidFill>
            <a:srgbClr val="42A89C"/>
          </a:solidFill>
          <a:ln/>
        </p:spPr>
      </p:sp>
      <p:sp>
        <p:nvSpPr>
          <p:cNvPr id="126" name="Shape 124"/>
          <p:cNvSpPr/>
          <p:nvPr/>
        </p:nvSpPr>
        <p:spPr>
          <a:xfrm>
            <a:off x="6400800" y="3291840"/>
            <a:ext cx="228600" cy="228600"/>
          </a:xfrm>
          <a:prstGeom prst="rect">
            <a:avLst/>
          </a:prstGeom>
          <a:solidFill>
            <a:srgbClr val="42A89C"/>
          </a:solidFill>
          <a:ln/>
        </p:spPr>
      </p:sp>
      <p:sp>
        <p:nvSpPr>
          <p:cNvPr id="127" name="Shape 125"/>
          <p:cNvSpPr/>
          <p:nvPr/>
        </p:nvSpPr>
        <p:spPr>
          <a:xfrm>
            <a:off x="6629400" y="3291840"/>
            <a:ext cx="228600" cy="228600"/>
          </a:xfrm>
          <a:prstGeom prst="rect">
            <a:avLst/>
          </a:prstGeom>
          <a:solidFill>
            <a:srgbClr val="42A89C"/>
          </a:solidFill>
          <a:ln/>
        </p:spPr>
      </p:sp>
      <p:sp>
        <p:nvSpPr>
          <p:cNvPr id="128" name="Shape 126"/>
          <p:cNvSpPr/>
          <p:nvPr/>
        </p:nvSpPr>
        <p:spPr>
          <a:xfrm>
            <a:off x="4800600" y="3520440"/>
            <a:ext cx="228600" cy="228600"/>
          </a:xfrm>
          <a:prstGeom prst="rect">
            <a:avLst/>
          </a:prstGeom>
          <a:solidFill>
            <a:srgbClr val="42A89C"/>
          </a:solidFill>
          <a:ln/>
        </p:spPr>
      </p:sp>
      <p:sp>
        <p:nvSpPr>
          <p:cNvPr id="129" name="Shape 127"/>
          <p:cNvSpPr/>
          <p:nvPr/>
        </p:nvSpPr>
        <p:spPr>
          <a:xfrm>
            <a:off x="5029200" y="3520440"/>
            <a:ext cx="228600" cy="228600"/>
          </a:xfrm>
          <a:prstGeom prst="rect">
            <a:avLst/>
          </a:prstGeom>
          <a:solidFill>
            <a:srgbClr val="42A89C"/>
          </a:solidFill>
          <a:ln/>
        </p:spPr>
      </p:sp>
      <p:sp>
        <p:nvSpPr>
          <p:cNvPr id="130" name="Shape 128"/>
          <p:cNvSpPr/>
          <p:nvPr/>
        </p:nvSpPr>
        <p:spPr>
          <a:xfrm>
            <a:off x="5257800" y="3520440"/>
            <a:ext cx="228600" cy="228600"/>
          </a:xfrm>
          <a:prstGeom prst="rect">
            <a:avLst/>
          </a:prstGeom>
          <a:solidFill>
            <a:srgbClr val="42A89C"/>
          </a:solidFill>
          <a:ln/>
        </p:spPr>
      </p:sp>
      <p:sp>
        <p:nvSpPr>
          <p:cNvPr id="131" name="Shape 129"/>
          <p:cNvSpPr/>
          <p:nvPr/>
        </p:nvSpPr>
        <p:spPr>
          <a:xfrm>
            <a:off x="5486400" y="3520440"/>
            <a:ext cx="228600" cy="228600"/>
          </a:xfrm>
          <a:prstGeom prst="rect">
            <a:avLst/>
          </a:prstGeom>
          <a:solidFill>
            <a:srgbClr val="D4E9EB"/>
          </a:solidFill>
          <a:ln/>
        </p:spPr>
      </p:sp>
      <p:sp>
        <p:nvSpPr>
          <p:cNvPr id="132" name="Shape 130"/>
          <p:cNvSpPr/>
          <p:nvPr/>
        </p:nvSpPr>
        <p:spPr>
          <a:xfrm>
            <a:off x="5715000" y="3520440"/>
            <a:ext cx="228600" cy="228600"/>
          </a:xfrm>
          <a:prstGeom prst="rect">
            <a:avLst/>
          </a:prstGeom>
          <a:solidFill>
            <a:srgbClr val="F4F7FC"/>
          </a:solidFill>
          <a:ln/>
        </p:spPr>
      </p:sp>
      <p:sp>
        <p:nvSpPr>
          <p:cNvPr id="133" name="Shape 131"/>
          <p:cNvSpPr/>
          <p:nvPr/>
        </p:nvSpPr>
        <p:spPr>
          <a:xfrm>
            <a:off x="5943600" y="3520440"/>
            <a:ext cx="228600" cy="228600"/>
          </a:xfrm>
          <a:prstGeom prst="rect">
            <a:avLst/>
          </a:prstGeom>
          <a:solidFill>
            <a:srgbClr val="D4E9EB"/>
          </a:solidFill>
          <a:ln/>
        </p:spPr>
      </p:sp>
      <p:sp>
        <p:nvSpPr>
          <p:cNvPr id="134" name="Shape 132"/>
          <p:cNvSpPr/>
          <p:nvPr/>
        </p:nvSpPr>
        <p:spPr>
          <a:xfrm>
            <a:off x="6172200" y="3520440"/>
            <a:ext cx="228600" cy="228600"/>
          </a:xfrm>
          <a:prstGeom prst="rect">
            <a:avLst/>
          </a:prstGeom>
          <a:solidFill>
            <a:srgbClr val="42A89C"/>
          </a:solidFill>
          <a:ln/>
        </p:spPr>
      </p:sp>
      <p:sp>
        <p:nvSpPr>
          <p:cNvPr id="135" name="Shape 133"/>
          <p:cNvSpPr/>
          <p:nvPr/>
        </p:nvSpPr>
        <p:spPr>
          <a:xfrm>
            <a:off x="6400800" y="3520440"/>
            <a:ext cx="228600" cy="228600"/>
          </a:xfrm>
          <a:prstGeom prst="rect">
            <a:avLst/>
          </a:prstGeom>
          <a:solidFill>
            <a:srgbClr val="42A89C"/>
          </a:solidFill>
          <a:ln/>
        </p:spPr>
      </p:sp>
      <p:sp>
        <p:nvSpPr>
          <p:cNvPr id="136" name="Shape 134"/>
          <p:cNvSpPr/>
          <p:nvPr/>
        </p:nvSpPr>
        <p:spPr>
          <a:xfrm>
            <a:off x="6629400" y="3520440"/>
            <a:ext cx="228600" cy="228600"/>
          </a:xfrm>
          <a:prstGeom prst="rect">
            <a:avLst/>
          </a:prstGeom>
          <a:solidFill>
            <a:srgbClr val="42A89C"/>
          </a:solidFill>
          <a:ln/>
        </p:spPr>
      </p:sp>
      <p:sp>
        <p:nvSpPr>
          <p:cNvPr id="137" name="Shape 135"/>
          <p:cNvSpPr/>
          <p:nvPr/>
        </p:nvSpPr>
        <p:spPr>
          <a:xfrm>
            <a:off x="4800600" y="3749040"/>
            <a:ext cx="228600" cy="228600"/>
          </a:xfrm>
          <a:prstGeom prst="rect">
            <a:avLst/>
          </a:prstGeom>
          <a:solidFill>
            <a:srgbClr val="42A89C"/>
          </a:solidFill>
          <a:ln/>
        </p:spPr>
      </p:sp>
      <p:sp>
        <p:nvSpPr>
          <p:cNvPr id="138" name="Shape 136"/>
          <p:cNvSpPr/>
          <p:nvPr/>
        </p:nvSpPr>
        <p:spPr>
          <a:xfrm>
            <a:off x="5029200" y="3749040"/>
            <a:ext cx="228600" cy="228600"/>
          </a:xfrm>
          <a:prstGeom prst="rect">
            <a:avLst/>
          </a:prstGeom>
          <a:solidFill>
            <a:srgbClr val="42A89C"/>
          </a:solidFill>
          <a:ln/>
        </p:spPr>
      </p:sp>
      <p:sp>
        <p:nvSpPr>
          <p:cNvPr id="139" name="Shape 137"/>
          <p:cNvSpPr/>
          <p:nvPr/>
        </p:nvSpPr>
        <p:spPr>
          <a:xfrm>
            <a:off x="5257800" y="3749040"/>
            <a:ext cx="228600" cy="228600"/>
          </a:xfrm>
          <a:prstGeom prst="rect">
            <a:avLst/>
          </a:prstGeom>
          <a:solidFill>
            <a:srgbClr val="42A89C"/>
          </a:solidFill>
          <a:ln/>
        </p:spPr>
      </p:sp>
      <p:sp>
        <p:nvSpPr>
          <p:cNvPr id="140" name="Shape 138"/>
          <p:cNvSpPr/>
          <p:nvPr/>
        </p:nvSpPr>
        <p:spPr>
          <a:xfrm>
            <a:off x="5486400" y="3749040"/>
            <a:ext cx="228600" cy="228600"/>
          </a:xfrm>
          <a:prstGeom prst="rect">
            <a:avLst/>
          </a:prstGeom>
          <a:solidFill>
            <a:srgbClr val="D4E9EB"/>
          </a:solidFill>
          <a:ln/>
        </p:spPr>
      </p:sp>
      <p:sp>
        <p:nvSpPr>
          <p:cNvPr id="141" name="Shape 139"/>
          <p:cNvSpPr/>
          <p:nvPr/>
        </p:nvSpPr>
        <p:spPr>
          <a:xfrm>
            <a:off x="5715000" y="3749040"/>
            <a:ext cx="228600" cy="228600"/>
          </a:xfrm>
          <a:prstGeom prst="rect">
            <a:avLst/>
          </a:prstGeom>
          <a:solidFill>
            <a:srgbClr val="D4E9EB"/>
          </a:solidFill>
          <a:ln/>
        </p:spPr>
      </p:sp>
      <p:sp>
        <p:nvSpPr>
          <p:cNvPr id="142" name="Shape 140"/>
          <p:cNvSpPr/>
          <p:nvPr/>
        </p:nvSpPr>
        <p:spPr>
          <a:xfrm>
            <a:off x="5943600" y="3749040"/>
            <a:ext cx="228600" cy="228600"/>
          </a:xfrm>
          <a:prstGeom prst="rect">
            <a:avLst/>
          </a:prstGeom>
          <a:solidFill>
            <a:srgbClr val="F4F7FC"/>
          </a:solidFill>
          <a:ln/>
        </p:spPr>
      </p:sp>
      <p:sp>
        <p:nvSpPr>
          <p:cNvPr id="143" name="Shape 141"/>
          <p:cNvSpPr/>
          <p:nvPr/>
        </p:nvSpPr>
        <p:spPr>
          <a:xfrm>
            <a:off x="6172200" y="3749040"/>
            <a:ext cx="228600" cy="228600"/>
          </a:xfrm>
          <a:prstGeom prst="rect">
            <a:avLst/>
          </a:prstGeom>
          <a:solidFill>
            <a:srgbClr val="42A89C"/>
          </a:solidFill>
          <a:ln/>
        </p:spPr>
      </p:sp>
      <p:sp>
        <p:nvSpPr>
          <p:cNvPr id="144" name="Shape 142"/>
          <p:cNvSpPr/>
          <p:nvPr/>
        </p:nvSpPr>
        <p:spPr>
          <a:xfrm>
            <a:off x="6400800" y="3749040"/>
            <a:ext cx="228600" cy="228600"/>
          </a:xfrm>
          <a:prstGeom prst="rect">
            <a:avLst/>
          </a:prstGeom>
          <a:solidFill>
            <a:srgbClr val="42A89C"/>
          </a:solidFill>
          <a:ln/>
        </p:spPr>
      </p:sp>
      <p:sp>
        <p:nvSpPr>
          <p:cNvPr id="145" name="Shape 143"/>
          <p:cNvSpPr/>
          <p:nvPr/>
        </p:nvSpPr>
        <p:spPr>
          <a:xfrm>
            <a:off x="6629400" y="3749040"/>
            <a:ext cx="228600" cy="228600"/>
          </a:xfrm>
          <a:prstGeom prst="rect">
            <a:avLst/>
          </a:prstGeom>
          <a:solidFill>
            <a:srgbClr val="42A89C"/>
          </a:solidFill>
          <a:ln/>
        </p:spPr>
      </p:sp>
      <p:sp>
        <p:nvSpPr>
          <p:cNvPr id="146" name="Shape 144"/>
          <p:cNvSpPr/>
          <p:nvPr/>
        </p:nvSpPr>
        <p:spPr>
          <a:xfrm>
            <a:off x="4800600" y="3977640"/>
            <a:ext cx="228600" cy="228600"/>
          </a:xfrm>
          <a:prstGeom prst="rect">
            <a:avLst/>
          </a:prstGeom>
          <a:solidFill>
            <a:srgbClr val="42A89C"/>
          </a:solidFill>
          <a:ln/>
        </p:spPr>
      </p:sp>
      <p:sp>
        <p:nvSpPr>
          <p:cNvPr id="147" name="Shape 145"/>
          <p:cNvSpPr/>
          <p:nvPr/>
        </p:nvSpPr>
        <p:spPr>
          <a:xfrm>
            <a:off x="5029200" y="3977640"/>
            <a:ext cx="228600" cy="228600"/>
          </a:xfrm>
          <a:prstGeom prst="rect">
            <a:avLst/>
          </a:prstGeom>
          <a:solidFill>
            <a:srgbClr val="42A89C"/>
          </a:solidFill>
          <a:ln/>
        </p:spPr>
      </p:sp>
      <p:sp>
        <p:nvSpPr>
          <p:cNvPr id="148" name="Shape 146"/>
          <p:cNvSpPr/>
          <p:nvPr/>
        </p:nvSpPr>
        <p:spPr>
          <a:xfrm>
            <a:off x="5257800" y="3977640"/>
            <a:ext cx="228600" cy="228600"/>
          </a:xfrm>
          <a:prstGeom prst="rect">
            <a:avLst/>
          </a:prstGeom>
          <a:solidFill>
            <a:srgbClr val="42A89C"/>
          </a:solidFill>
          <a:ln/>
        </p:spPr>
      </p:sp>
      <p:sp>
        <p:nvSpPr>
          <p:cNvPr id="149" name="Shape 147"/>
          <p:cNvSpPr/>
          <p:nvPr/>
        </p:nvSpPr>
        <p:spPr>
          <a:xfrm>
            <a:off x="5486400" y="3977640"/>
            <a:ext cx="228600" cy="228600"/>
          </a:xfrm>
          <a:prstGeom prst="rect">
            <a:avLst/>
          </a:prstGeom>
          <a:solidFill>
            <a:srgbClr val="42A89C"/>
          </a:solidFill>
          <a:ln/>
        </p:spPr>
      </p:sp>
      <p:sp>
        <p:nvSpPr>
          <p:cNvPr id="150" name="Shape 148"/>
          <p:cNvSpPr/>
          <p:nvPr/>
        </p:nvSpPr>
        <p:spPr>
          <a:xfrm>
            <a:off x="5715000" y="3977640"/>
            <a:ext cx="228600" cy="228600"/>
          </a:xfrm>
          <a:prstGeom prst="rect">
            <a:avLst/>
          </a:prstGeom>
          <a:solidFill>
            <a:srgbClr val="42A89C"/>
          </a:solidFill>
          <a:ln/>
        </p:spPr>
      </p:sp>
      <p:sp>
        <p:nvSpPr>
          <p:cNvPr id="151" name="Shape 149"/>
          <p:cNvSpPr/>
          <p:nvPr/>
        </p:nvSpPr>
        <p:spPr>
          <a:xfrm>
            <a:off x="5943600" y="3977640"/>
            <a:ext cx="228600" cy="228600"/>
          </a:xfrm>
          <a:prstGeom prst="rect">
            <a:avLst/>
          </a:prstGeom>
          <a:solidFill>
            <a:srgbClr val="42A89C"/>
          </a:solidFill>
          <a:ln/>
        </p:spPr>
      </p:sp>
      <p:sp>
        <p:nvSpPr>
          <p:cNvPr id="152" name="Shape 150"/>
          <p:cNvSpPr/>
          <p:nvPr/>
        </p:nvSpPr>
        <p:spPr>
          <a:xfrm>
            <a:off x="6172200" y="3977640"/>
            <a:ext cx="228600" cy="228600"/>
          </a:xfrm>
          <a:prstGeom prst="rect">
            <a:avLst/>
          </a:prstGeom>
          <a:solidFill>
            <a:srgbClr val="F4F7FC"/>
          </a:solidFill>
          <a:ln/>
        </p:spPr>
      </p:sp>
      <p:sp>
        <p:nvSpPr>
          <p:cNvPr id="153" name="Shape 151"/>
          <p:cNvSpPr/>
          <p:nvPr/>
        </p:nvSpPr>
        <p:spPr>
          <a:xfrm>
            <a:off x="6400800" y="3977640"/>
            <a:ext cx="228600" cy="228600"/>
          </a:xfrm>
          <a:prstGeom prst="rect">
            <a:avLst/>
          </a:prstGeom>
          <a:solidFill>
            <a:srgbClr val="D4E9EB"/>
          </a:solidFill>
          <a:ln/>
        </p:spPr>
      </p:sp>
      <p:sp>
        <p:nvSpPr>
          <p:cNvPr id="154" name="Shape 152"/>
          <p:cNvSpPr/>
          <p:nvPr/>
        </p:nvSpPr>
        <p:spPr>
          <a:xfrm>
            <a:off x="6629400" y="3977640"/>
            <a:ext cx="228600" cy="228600"/>
          </a:xfrm>
          <a:prstGeom prst="rect">
            <a:avLst/>
          </a:prstGeom>
          <a:solidFill>
            <a:srgbClr val="D4E9EB"/>
          </a:solidFill>
          <a:ln/>
        </p:spPr>
      </p:sp>
      <p:sp>
        <p:nvSpPr>
          <p:cNvPr id="155" name="Shape 153"/>
          <p:cNvSpPr/>
          <p:nvPr/>
        </p:nvSpPr>
        <p:spPr>
          <a:xfrm>
            <a:off x="4800600" y="4206240"/>
            <a:ext cx="228600" cy="228600"/>
          </a:xfrm>
          <a:prstGeom prst="rect">
            <a:avLst/>
          </a:prstGeom>
          <a:solidFill>
            <a:srgbClr val="42A89C"/>
          </a:solidFill>
          <a:ln/>
        </p:spPr>
      </p:sp>
      <p:sp>
        <p:nvSpPr>
          <p:cNvPr id="156" name="Shape 154"/>
          <p:cNvSpPr/>
          <p:nvPr/>
        </p:nvSpPr>
        <p:spPr>
          <a:xfrm>
            <a:off x="5029200" y="4206240"/>
            <a:ext cx="228600" cy="228600"/>
          </a:xfrm>
          <a:prstGeom prst="rect">
            <a:avLst/>
          </a:prstGeom>
          <a:solidFill>
            <a:srgbClr val="42A89C"/>
          </a:solidFill>
          <a:ln/>
        </p:spPr>
      </p:sp>
      <p:sp>
        <p:nvSpPr>
          <p:cNvPr id="157" name="Shape 155"/>
          <p:cNvSpPr/>
          <p:nvPr/>
        </p:nvSpPr>
        <p:spPr>
          <a:xfrm>
            <a:off x="5257800" y="4206240"/>
            <a:ext cx="228600" cy="228600"/>
          </a:xfrm>
          <a:prstGeom prst="rect">
            <a:avLst/>
          </a:prstGeom>
          <a:solidFill>
            <a:srgbClr val="42A89C"/>
          </a:solidFill>
          <a:ln/>
        </p:spPr>
      </p:sp>
      <p:sp>
        <p:nvSpPr>
          <p:cNvPr id="158" name="Shape 156"/>
          <p:cNvSpPr/>
          <p:nvPr/>
        </p:nvSpPr>
        <p:spPr>
          <a:xfrm>
            <a:off x="5486400" y="4206240"/>
            <a:ext cx="228600" cy="228600"/>
          </a:xfrm>
          <a:prstGeom prst="rect">
            <a:avLst/>
          </a:prstGeom>
          <a:solidFill>
            <a:srgbClr val="42A89C"/>
          </a:solidFill>
          <a:ln/>
        </p:spPr>
      </p:sp>
      <p:sp>
        <p:nvSpPr>
          <p:cNvPr id="159" name="Shape 157"/>
          <p:cNvSpPr/>
          <p:nvPr/>
        </p:nvSpPr>
        <p:spPr>
          <a:xfrm>
            <a:off x="5715000" y="4206240"/>
            <a:ext cx="228600" cy="228600"/>
          </a:xfrm>
          <a:prstGeom prst="rect">
            <a:avLst/>
          </a:prstGeom>
          <a:solidFill>
            <a:srgbClr val="42A89C"/>
          </a:solidFill>
          <a:ln/>
        </p:spPr>
      </p:sp>
      <p:sp>
        <p:nvSpPr>
          <p:cNvPr id="160" name="Shape 158"/>
          <p:cNvSpPr/>
          <p:nvPr/>
        </p:nvSpPr>
        <p:spPr>
          <a:xfrm>
            <a:off x="5943600" y="4206240"/>
            <a:ext cx="228600" cy="228600"/>
          </a:xfrm>
          <a:prstGeom prst="rect">
            <a:avLst/>
          </a:prstGeom>
          <a:solidFill>
            <a:srgbClr val="42A89C"/>
          </a:solidFill>
          <a:ln/>
        </p:spPr>
      </p:sp>
      <p:sp>
        <p:nvSpPr>
          <p:cNvPr id="161" name="Shape 159"/>
          <p:cNvSpPr/>
          <p:nvPr/>
        </p:nvSpPr>
        <p:spPr>
          <a:xfrm>
            <a:off x="6172200" y="4206240"/>
            <a:ext cx="228600" cy="228600"/>
          </a:xfrm>
          <a:prstGeom prst="rect">
            <a:avLst/>
          </a:prstGeom>
          <a:solidFill>
            <a:srgbClr val="D4E9EB"/>
          </a:solidFill>
          <a:ln/>
        </p:spPr>
      </p:sp>
      <p:sp>
        <p:nvSpPr>
          <p:cNvPr id="162" name="Shape 160"/>
          <p:cNvSpPr/>
          <p:nvPr/>
        </p:nvSpPr>
        <p:spPr>
          <a:xfrm>
            <a:off x="6400800" y="4206240"/>
            <a:ext cx="228600" cy="228600"/>
          </a:xfrm>
          <a:prstGeom prst="rect">
            <a:avLst/>
          </a:prstGeom>
          <a:solidFill>
            <a:srgbClr val="F4F7FC"/>
          </a:solidFill>
          <a:ln/>
        </p:spPr>
      </p:sp>
      <p:sp>
        <p:nvSpPr>
          <p:cNvPr id="163" name="Shape 161"/>
          <p:cNvSpPr/>
          <p:nvPr/>
        </p:nvSpPr>
        <p:spPr>
          <a:xfrm>
            <a:off x="6629400" y="4206240"/>
            <a:ext cx="228600" cy="228600"/>
          </a:xfrm>
          <a:prstGeom prst="rect">
            <a:avLst/>
          </a:prstGeom>
          <a:solidFill>
            <a:srgbClr val="D4E9EB"/>
          </a:solidFill>
          <a:ln/>
        </p:spPr>
      </p:sp>
      <p:sp>
        <p:nvSpPr>
          <p:cNvPr id="164" name="Shape 162"/>
          <p:cNvSpPr/>
          <p:nvPr/>
        </p:nvSpPr>
        <p:spPr>
          <a:xfrm>
            <a:off x="4800600" y="4434840"/>
            <a:ext cx="228600" cy="228600"/>
          </a:xfrm>
          <a:prstGeom prst="rect">
            <a:avLst/>
          </a:prstGeom>
          <a:solidFill>
            <a:srgbClr val="42A89C"/>
          </a:solidFill>
          <a:ln/>
        </p:spPr>
      </p:sp>
      <p:sp>
        <p:nvSpPr>
          <p:cNvPr id="165" name="Shape 163"/>
          <p:cNvSpPr/>
          <p:nvPr/>
        </p:nvSpPr>
        <p:spPr>
          <a:xfrm>
            <a:off x="5029200" y="4434840"/>
            <a:ext cx="228600" cy="228600"/>
          </a:xfrm>
          <a:prstGeom prst="rect">
            <a:avLst/>
          </a:prstGeom>
          <a:solidFill>
            <a:srgbClr val="42A89C"/>
          </a:solidFill>
          <a:ln/>
        </p:spPr>
      </p:sp>
      <p:sp>
        <p:nvSpPr>
          <p:cNvPr id="166" name="Shape 164"/>
          <p:cNvSpPr/>
          <p:nvPr/>
        </p:nvSpPr>
        <p:spPr>
          <a:xfrm>
            <a:off x="5257800" y="4434840"/>
            <a:ext cx="228600" cy="228600"/>
          </a:xfrm>
          <a:prstGeom prst="rect">
            <a:avLst/>
          </a:prstGeom>
          <a:solidFill>
            <a:srgbClr val="42A89C"/>
          </a:solidFill>
          <a:ln/>
        </p:spPr>
      </p:sp>
      <p:sp>
        <p:nvSpPr>
          <p:cNvPr id="167" name="Shape 165"/>
          <p:cNvSpPr/>
          <p:nvPr/>
        </p:nvSpPr>
        <p:spPr>
          <a:xfrm>
            <a:off x="5486400" y="4434840"/>
            <a:ext cx="228600" cy="228600"/>
          </a:xfrm>
          <a:prstGeom prst="rect">
            <a:avLst/>
          </a:prstGeom>
          <a:solidFill>
            <a:srgbClr val="42A89C"/>
          </a:solidFill>
          <a:ln/>
        </p:spPr>
      </p:sp>
      <p:sp>
        <p:nvSpPr>
          <p:cNvPr id="168" name="Shape 166"/>
          <p:cNvSpPr/>
          <p:nvPr/>
        </p:nvSpPr>
        <p:spPr>
          <a:xfrm>
            <a:off x="5715000" y="4434840"/>
            <a:ext cx="228600" cy="228600"/>
          </a:xfrm>
          <a:prstGeom prst="rect">
            <a:avLst/>
          </a:prstGeom>
          <a:solidFill>
            <a:srgbClr val="42A89C"/>
          </a:solidFill>
          <a:ln/>
        </p:spPr>
      </p:sp>
      <p:sp>
        <p:nvSpPr>
          <p:cNvPr id="169" name="Shape 167"/>
          <p:cNvSpPr/>
          <p:nvPr/>
        </p:nvSpPr>
        <p:spPr>
          <a:xfrm>
            <a:off x="5943600" y="4434840"/>
            <a:ext cx="228600" cy="228600"/>
          </a:xfrm>
          <a:prstGeom prst="rect">
            <a:avLst/>
          </a:prstGeom>
          <a:solidFill>
            <a:srgbClr val="42A89C"/>
          </a:solidFill>
          <a:ln/>
        </p:spPr>
      </p:sp>
      <p:sp>
        <p:nvSpPr>
          <p:cNvPr id="170" name="Shape 168"/>
          <p:cNvSpPr/>
          <p:nvPr/>
        </p:nvSpPr>
        <p:spPr>
          <a:xfrm>
            <a:off x="6172200" y="4434840"/>
            <a:ext cx="228600" cy="228600"/>
          </a:xfrm>
          <a:prstGeom prst="rect">
            <a:avLst/>
          </a:prstGeom>
          <a:solidFill>
            <a:srgbClr val="D4E9EB"/>
          </a:solidFill>
          <a:ln/>
        </p:spPr>
      </p:sp>
      <p:sp>
        <p:nvSpPr>
          <p:cNvPr id="171" name="Shape 169"/>
          <p:cNvSpPr/>
          <p:nvPr/>
        </p:nvSpPr>
        <p:spPr>
          <a:xfrm>
            <a:off x="6400800" y="4434840"/>
            <a:ext cx="228600" cy="228600"/>
          </a:xfrm>
          <a:prstGeom prst="rect">
            <a:avLst/>
          </a:prstGeom>
          <a:solidFill>
            <a:srgbClr val="D4E9EB"/>
          </a:solidFill>
          <a:ln/>
        </p:spPr>
      </p:sp>
      <p:sp>
        <p:nvSpPr>
          <p:cNvPr id="172" name="Shape 170"/>
          <p:cNvSpPr/>
          <p:nvPr/>
        </p:nvSpPr>
        <p:spPr>
          <a:xfrm>
            <a:off x="6629400" y="4434840"/>
            <a:ext cx="228600" cy="228600"/>
          </a:xfrm>
          <a:prstGeom prst="rect">
            <a:avLst/>
          </a:prstGeom>
          <a:solidFill>
            <a:srgbClr val="F4F7FC"/>
          </a:solidFill>
          <a:ln/>
        </p:spPr>
      </p:sp>
      <p:sp>
        <p:nvSpPr>
          <p:cNvPr id="173" name="Text 171"/>
          <p:cNvSpPr/>
          <p:nvPr/>
        </p:nvSpPr>
        <p:spPr>
          <a:xfrm>
            <a:off x="4663440" y="4754880"/>
            <a:ext cx="2377440" cy="274320"/>
          </a:xfrm>
          <a:prstGeom prst="rect">
            <a:avLst/>
          </a:prstGeom>
          <a:noFill/>
          <a:ln/>
        </p:spPr>
        <p:txBody>
          <a:bodyPr wrap="square" lIns="0" tIns="0" rIns="0" bIns="0" rtlCol="0" anchor="ctr"/>
          <a:lstStyle/>
          <a:p>
            <a:pPr algn="ctr" indent="0" marL="0">
              <a:buNone/>
            </a:pPr>
            <a:r>
              <a:rPr lang="en-US" sz="1000" i="1" dirty="0">
                <a:solidFill>
                  <a:srgbClr val="5A6588"/>
                </a:solidFill>
                <a:latin typeface="Calibri" pitchFamily="34" charset="0"/>
                <a:ea typeface="Calibri" pitchFamily="34" charset="-122"/>
                <a:cs typeface="Calibri" pitchFamily="34" charset="-120"/>
              </a:rPr>
              <a:t>clean conceptual blocks</a:t>
            </a:r>
            <a:endParaRPr lang="en-US" sz="1000" dirty="0"/>
          </a:p>
        </p:txBody>
      </p:sp>
      <p:sp>
        <p:nvSpPr>
          <p:cNvPr id="174" name="Shape 172"/>
          <p:cNvSpPr/>
          <p:nvPr/>
        </p:nvSpPr>
        <p:spPr>
          <a:xfrm>
            <a:off x="7772400" y="2057400"/>
            <a:ext cx="3840480" cy="1554480"/>
          </a:xfrm>
          <a:prstGeom prst="roundRect">
            <a:avLst>
              <a:gd name="adj" fmla="val 4706"/>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175" name="Text 173"/>
          <p:cNvSpPr/>
          <p:nvPr/>
        </p:nvSpPr>
        <p:spPr>
          <a:xfrm>
            <a:off x="8046720" y="2212848"/>
            <a:ext cx="3291840" cy="274320"/>
          </a:xfrm>
          <a:prstGeom prst="rect">
            <a:avLst/>
          </a:prstGeom>
          <a:noFill/>
          <a:ln/>
        </p:spPr>
        <p:txBody>
          <a:bodyPr wrap="square" lIns="0" tIns="0" rIns="0" bIns="0" rtlCol="0" anchor="ctr"/>
          <a:lstStyle/>
          <a:p>
            <a:pPr indent="0" marL="0">
              <a:buNone/>
            </a:pPr>
            <a:r>
              <a:rPr lang="en-US" sz="1500" b="1" dirty="0">
                <a:solidFill>
                  <a:srgbClr val="F2C14E"/>
                </a:solidFill>
                <a:latin typeface="Cambria" pitchFamily="34" charset="0"/>
                <a:ea typeface="Cambria" pitchFamily="34" charset="-122"/>
                <a:cs typeface="Cambria" pitchFamily="34" charset="-120"/>
              </a:rPr>
              <a:t>The trick</a:t>
            </a:r>
            <a:endParaRPr lang="en-US" sz="1500" dirty="0"/>
          </a:p>
        </p:txBody>
      </p:sp>
      <p:sp>
        <p:nvSpPr>
          <p:cNvPr id="176" name="Text 174"/>
          <p:cNvSpPr/>
          <p:nvPr/>
        </p:nvSpPr>
        <p:spPr>
          <a:xfrm>
            <a:off x="8046720" y="2523744"/>
            <a:ext cx="3291840" cy="868680"/>
          </a:xfrm>
          <a:prstGeom prst="rect">
            <a:avLst/>
          </a:prstGeom>
          <a:noFill/>
          <a:ln/>
        </p:spPr>
        <p:txBody>
          <a:bodyPr wrap="square" lIns="0" tIns="0" rIns="0" bIns="0" rtlCol="0" anchor="ctr"/>
          <a:lstStyle/>
          <a:p>
            <a:pPr indent="0" marL="0">
              <a:buNone/>
            </a:pPr>
            <a:r>
              <a:rPr lang="en-US" sz="1150" dirty="0">
                <a:solidFill>
                  <a:srgbClr val="AEBBD8"/>
                </a:solidFill>
                <a:latin typeface="Calibri" pitchFamily="34" charset="0"/>
                <a:ea typeface="Calibri" pitchFamily="34" charset="-122"/>
                <a:cs typeface="Calibri" pitchFamily="34" charset="-120"/>
              </a:rPr>
              <a:t>We only care about the ORDER of similarities. But ranking means sorting, and sorting has no gradient - so we use a smooth, differentiable stand-in for rank.</a:t>
            </a:r>
            <a:endParaRPr lang="en-US" sz="1150" dirty="0"/>
          </a:p>
        </p:txBody>
      </p:sp>
      <p:sp>
        <p:nvSpPr>
          <p:cNvPr id="177" name="Shape 175"/>
          <p:cNvSpPr/>
          <p:nvPr/>
        </p:nvSpPr>
        <p:spPr>
          <a:xfrm>
            <a:off x="7772400" y="3749040"/>
            <a:ext cx="3840480" cy="1554480"/>
          </a:xfrm>
          <a:prstGeom prst="roundRect">
            <a:avLst>
              <a:gd name="adj" fmla="val 4706"/>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78" name="Text 176"/>
          <p:cNvSpPr/>
          <p:nvPr/>
        </p:nvSpPr>
        <p:spPr>
          <a:xfrm>
            <a:off x="8046720" y="3913632"/>
            <a:ext cx="3291840" cy="320040"/>
          </a:xfrm>
          <a:prstGeom prst="rect">
            <a:avLst/>
          </a:prstGeom>
          <a:noFill/>
          <a:ln/>
        </p:spPr>
        <p:txBody>
          <a:bodyPr wrap="square" lIns="0" tIns="0" rIns="0" bIns="0" rtlCol="0" anchor="ctr"/>
          <a:lstStyle/>
          <a:p>
            <a:pPr indent="0" marL="0">
              <a:buNone/>
            </a:pPr>
            <a:r>
              <a:rPr lang="en-US" sz="1500" b="1" dirty="0">
                <a:solidFill>
                  <a:srgbClr val="141B34"/>
                </a:solidFill>
                <a:latin typeface="Cambria" pitchFamily="34" charset="0"/>
                <a:ea typeface="Cambria" pitchFamily="34" charset="-122"/>
                <a:cs typeface="Cambria" pitchFamily="34" charset="-120"/>
              </a:rPr>
              <a:t>Loss  =  1 - soft Spearman</a:t>
            </a:r>
            <a:endParaRPr lang="en-US" sz="1500" dirty="0"/>
          </a:p>
        </p:txBody>
      </p:sp>
      <p:sp>
        <p:nvSpPr>
          <p:cNvPr id="179" name="Text 177"/>
          <p:cNvSpPr/>
          <p:nvPr/>
        </p:nvSpPr>
        <p:spPr>
          <a:xfrm>
            <a:off x="8046720" y="4261104"/>
            <a:ext cx="3291840" cy="914400"/>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Zero when the model ranks pairs exactly as people do. Masked language modelling runs alongside it so the model stays a working language model.</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ACT 2  |  WHERE WE DIVERGED</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Same idea, two very different builds</a:t>
            </a:r>
            <a:endParaRPr lang="en-US" sz="32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indent="0" marL="0">
              <a:buNone/>
            </a:pPr>
            <a:r>
              <a:rPr lang="en-US" sz="1350" dirty="0">
                <a:solidFill>
                  <a:srgbClr val="5A6588"/>
                </a:solidFill>
                <a:latin typeface="Calibri" pitchFamily="34" charset="0"/>
                <a:ea typeface="Calibri" pitchFamily="34" charset="-122"/>
                <a:cs typeface="Calibri" pitchFamily="34" charset="-120"/>
              </a:rPr>
              <a:t>We arrived at this from different directions - Barry from his own prototype, me from Mark Ormerod's thesis chapter. Two choices turned out to matter enormously.</a:t>
            </a:r>
            <a:endParaRPr lang="en-US" sz="1350" dirty="0"/>
          </a:p>
        </p:txBody>
      </p:sp>
      <p:sp>
        <p:nvSpPr>
          <p:cNvPr id="5" name="Shape 3"/>
          <p:cNvSpPr/>
          <p:nvPr/>
        </p:nvSpPr>
        <p:spPr>
          <a:xfrm>
            <a:off x="548640" y="1965960"/>
            <a:ext cx="2468880" cy="475488"/>
          </a:xfrm>
          <a:prstGeom prst="rect">
            <a:avLst/>
          </a:prstGeom>
          <a:solidFill>
            <a:srgbClr val="141B34"/>
          </a:solidFill>
          <a:ln/>
        </p:spPr>
      </p:sp>
      <p:sp>
        <p:nvSpPr>
          <p:cNvPr id="6" name="Text 4"/>
          <p:cNvSpPr/>
          <p:nvPr/>
        </p:nvSpPr>
        <p:spPr>
          <a:xfrm>
            <a:off x="685800" y="1965960"/>
            <a:ext cx="219456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p>
        </p:txBody>
      </p:sp>
      <p:sp>
        <p:nvSpPr>
          <p:cNvPr id="7" name="Shape 5"/>
          <p:cNvSpPr/>
          <p:nvPr/>
        </p:nvSpPr>
        <p:spPr>
          <a:xfrm>
            <a:off x="3017520" y="1965960"/>
            <a:ext cx="3017520" cy="475488"/>
          </a:xfrm>
          <a:prstGeom prst="rect">
            <a:avLst/>
          </a:prstGeom>
          <a:solidFill>
            <a:srgbClr val="141B34"/>
          </a:solidFill>
          <a:ln/>
        </p:spPr>
      </p:sp>
      <p:sp>
        <p:nvSpPr>
          <p:cNvPr id="8" name="Text 6"/>
          <p:cNvSpPr/>
          <p:nvPr/>
        </p:nvSpPr>
        <p:spPr>
          <a:xfrm>
            <a:off x="3154680" y="1965960"/>
            <a:ext cx="27432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Barry's RoBERTa</a:t>
            </a:r>
            <a:endParaRPr lang="en-US" sz="1200" dirty="0"/>
          </a:p>
        </p:txBody>
      </p:sp>
      <p:sp>
        <p:nvSpPr>
          <p:cNvPr id="9" name="Shape 7"/>
          <p:cNvSpPr/>
          <p:nvPr/>
        </p:nvSpPr>
        <p:spPr>
          <a:xfrm>
            <a:off x="6035040" y="1965960"/>
            <a:ext cx="3017520" cy="475488"/>
          </a:xfrm>
          <a:prstGeom prst="rect">
            <a:avLst/>
          </a:prstGeom>
          <a:solidFill>
            <a:srgbClr val="141B34"/>
          </a:solidFill>
          <a:ln/>
        </p:spPr>
      </p:sp>
      <p:sp>
        <p:nvSpPr>
          <p:cNvPr id="10" name="Text 8"/>
          <p:cNvSpPr/>
          <p:nvPr/>
        </p:nvSpPr>
        <p:spPr>
          <a:xfrm>
            <a:off x="6172200" y="1965960"/>
            <a:ext cx="27432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My BERT</a:t>
            </a:r>
            <a:endParaRPr lang="en-US" sz="1200" dirty="0"/>
          </a:p>
        </p:txBody>
      </p:sp>
      <p:sp>
        <p:nvSpPr>
          <p:cNvPr id="11" name="Shape 9"/>
          <p:cNvSpPr/>
          <p:nvPr/>
        </p:nvSpPr>
        <p:spPr>
          <a:xfrm>
            <a:off x="9052560" y="1965960"/>
            <a:ext cx="2560320" cy="475488"/>
          </a:xfrm>
          <a:prstGeom prst="rect">
            <a:avLst/>
          </a:prstGeom>
          <a:solidFill>
            <a:srgbClr val="141B34"/>
          </a:solidFill>
          <a:ln/>
        </p:spPr>
      </p:sp>
      <p:sp>
        <p:nvSpPr>
          <p:cNvPr id="12" name="Text 10"/>
          <p:cNvSpPr/>
          <p:nvPr/>
        </p:nvSpPr>
        <p:spPr>
          <a:xfrm>
            <a:off x="9189720" y="1965960"/>
            <a:ext cx="22860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Consequence</a:t>
            </a:r>
            <a:endParaRPr lang="en-US" sz="1200" dirty="0"/>
          </a:p>
        </p:txBody>
      </p:sp>
      <p:sp>
        <p:nvSpPr>
          <p:cNvPr id="13" name="Shape 11"/>
          <p:cNvSpPr/>
          <p:nvPr/>
        </p:nvSpPr>
        <p:spPr>
          <a:xfrm>
            <a:off x="548640" y="2441448"/>
            <a:ext cx="2468880" cy="475488"/>
          </a:xfrm>
          <a:prstGeom prst="rect">
            <a:avLst/>
          </a:prstGeom>
          <a:solidFill>
            <a:srgbClr val="FFFFFF"/>
          </a:solidFill>
          <a:ln w="12700">
            <a:solidFill>
              <a:srgbClr val="E3E8F2"/>
            </a:solidFill>
            <a:prstDash val="solid"/>
          </a:ln>
        </p:spPr>
      </p:sp>
      <p:sp>
        <p:nvSpPr>
          <p:cNvPr id="14" name="Shape 12"/>
          <p:cNvSpPr/>
          <p:nvPr/>
        </p:nvSpPr>
        <p:spPr>
          <a:xfrm>
            <a:off x="3017520" y="2441448"/>
            <a:ext cx="3017520" cy="475488"/>
          </a:xfrm>
          <a:prstGeom prst="rect">
            <a:avLst/>
          </a:prstGeom>
          <a:solidFill>
            <a:srgbClr val="FFFFFF"/>
          </a:solidFill>
          <a:ln w="12700">
            <a:solidFill>
              <a:srgbClr val="E3E8F2"/>
            </a:solidFill>
            <a:prstDash val="solid"/>
          </a:ln>
        </p:spPr>
      </p:sp>
      <p:sp>
        <p:nvSpPr>
          <p:cNvPr id="15" name="Shape 13"/>
          <p:cNvSpPr/>
          <p:nvPr/>
        </p:nvSpPr>
        <p:spPr>
          <a:xfrm>
            <a:off x="6035040" y="2441448"/>
            <a:ext cx="3017520" cy="475488"/>
          </a:xfrm>
          <a:prstGeom prst="rect">
            <a:avLst/>
          </a:prstGeom>
          <a:solidFill>
            <a:srgbClr val="FFFFFF"/>
          </a:solidFill>
          <a:ln w="12700">
            <a:solidFill>
              <a:srgbClr val="E3E8F2"/>
            </a:solidFill>
            <a:prstDash val="solid"/>
          </a:ln>
        </p:spPr>
      </p:sp>
      <p:sp>
        <p:nvSpPr>
          <p:cNvPr id="16" name="Shape 14"/>
          <p:cNvSpPr/>
          <p:nvPr/>
        </p:nvSpPr>
        <p:spPr>
          <a:xfrm>
            <a:off x="9052560" y="2441448"/>
            <a:ext cx="2560320" cy="475488"/>
          </a:xfrm>
          <a:prstGeom prst="rect">
            <a:avLst/>
          </a:prstGeom>
          <a:solidFill>
            <a:srgbClr val="FFFFFF"/>
          </a:solidFill>
          <a:ln w="12700">
            <a:solidFill>
              <a:srgbClr val="E3E8F2"/>
            </a:solidFill>
            <a:prstDash val="solid"/>
          </a:ln>
        </p:spPr>
      </p:sp>
      <p:sp>
        <p:nvSpPr>
          <p:cNvPr id="17" name="Text 15"/>
          <p:cNvSpPr/>
          <p:nvPr/>
        </p:nvSpPr>
        <p:spPr>
          <a:xfrm>
            <a:off x="685800" y="2441448"/>
            <a:ext cx="2194560" cy="475488"/>
          </a:xfrm>
          <a:prstGeom prst="rect">
            <a:avLst/>
          </a:prstGeom>
          <a:noFill/>
          <a:ln/>
        </p:spPr>
        <p:txBody>
          <a:bodyPr wrap="square" lIns="0" tIns="0" rIns="0" bIns="0" rtlCol="0" anchor="ctr"/>
          <a:lstStyle/>
          <a:p>
            <a:pPr indent="0" marL="0">
              <a:buNone/>
            </a:pPr>
            <a:r>
              <a:rPr lang="en-US" sz="1150" dirty="0">
                <a:solidFill>
                  <a:srgbClr val="141B34"/>
                </a:solidFill>
                <a:latin typeface="Calibri" pitchFamily="34" charset="0"/>
                <a:ea typeface="Calibri" pitchFamily="34" charset="-122"/>
                <a:cs typeface="Calibri" pitchFamily="34" charset="-120"/>
              </a:rPr>
              <a:t>Backbone</a:t>
            </a:r>
            <a:endParaRPr lang="en-US" sz="1150" dirty="0"/>
          </a:p>
        </p:txBody>
      </p:sp>
      <p:sp>
        <p:nvSpPr>
          <p:cNvPr id="18" name="Text 16"/>
          <p:cNvSpPr/>
          <p:nvPr/>
        </p:nvSpPr>
        <p:spPr>
          <a:xfrm>
            <a:off x="3154680" y="2441448"/>
            <a:ext cx="2743200" cy="475488"/>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roberta-base</a:t>
            </a:r>
            <a:endParaRPr lang="en-US" sz="1150" dirty="0"/>
          </a:p>
        </p:txBody>
      </p:sp>
      <p:sp>
        <p:nvSpPr>
          <p:cNvPr id="19" name="Text 17"/>
          <p:cNvSpPr/>
          <p:nvPr/>
        </p:nvSpPr>
        <p:spPr>
          <a:xfrm>
            <a:off x="6172200" y="2441448"/>
            <a:ext cx="2743200" cy="475488"/>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bert-base-uncased</a:t>
            </a:r>
            <a:endParaRPr lang="en-US" sz="1150" dirty="0"/>
          </a:p>
        </p:txBody>
      </p:sp>
      <p:sp>
        <p:nvSpPr>
          <p:cNvPr id="20" name="Text 18"/>
          <p:cNvSpPr/>
          <p:nvPr/>
        </p:nvSpPr>
        <p:spPr>
          <a:xfrm>
            <a:off x="9189720" y="2441448"/>
            <a:ext cx="2286000" cy="475488"/>
          </a:xfrm>
          <a:prstGeom prst="rect">
            <a:avLst/>
          </a:prstGeom>
          <a:noFill/>
          <a:ln/>
        </p:spPr>
        <p:txBody>
          <a:bodyPr wrap="square" lIns="0" tIns="0" rIns="0" bIns="0" rtlCol="0" anchor="ctr"/>
          <a:lstStyle/>
          <a:p>
            <a:pPr indent="0" marL="0">
              <a:buNone/>
            </a:pPr>
            <a:r>
              <a:rPr lang="en-US" sz="1100" dirty="0">
                <a:solidFill>
                  <a:srgbClr val="B9C4DC"/>
                </a:solidFill>
                <a:latin typeface="Calibri" pitchFamily="34" charset="0"/>
                <a:ea typeface="Calibri" pitchFamily="34" charset="-122"/>
                <a:cs typeface="Calibri" pitchFamily="34" charset="-120"/>
              </a:rPr>
              <a:t>cosmetic</a:t>
            </a:r>
            <a:endParaRPr lang="en-US" sz="1100" dirty="0"/>
          </a:p>
        </p:txBody>
      </p:sp>
      <p:sp>
        <p:nvSpPr>
          <p:cNvPr id="21" name="Shape 19"/>
          <p:cNvSpPr/>
          <p:nvPr/>
        </p:nvSpPr>
        <p:spPr>
          <a:xfrm>
            <a:off x="548640" y="2916936"/>
            <a:ext cx="2468880" cy="475488"/>
          </a:xfrm>
          <a:prstGeom prst="rect">
            <a:avLst/>
          </a:prstGeom>
          <a:solidFill>
            <a:srgbClr val="FDF1E9"/>
          </a:solidFill>
          <a:ln w="12700">
            <a:solidFill>
              <a:srgbClr val="E3E8F2"/>
            </a:solidFill>
            <a:prstDash val="solid"/>
          </a:ln>
        </p:spPr>
      </p:sp>
      <p:sp>
        <p:nvSpPr>
          <p:cNvPr id="22" name="Shape 20"/>
          <p:cNvSpPr/>
          <p:nvPr/>
        </p:nvSpPr>
        <p:spPr>
          <a:xfrm>
            <a:off x="3017520" y="2916936"/>
            <a:ext cx="3017520" cy="475488"/>
          </a:xfrm>
          <a:prstGeom prst="rect">
            <a:avLst/>
          </a:prstGeom>
          <a:solidFill>
            <a:srgbClr val="FDF1E9"/>
          </a:solidFill>
          <a:ln w="12700">
            <a:solidFill>
              <a:srgbClr val="E3E8F2"/>
            </a:solidFill>
            <a:prstDash val="solid"/>
          </a:ln>
        </p:spPr>
      </p:sp>
      <p:sp>
        <p:nvSpPr>
          <p:cNvPr id="23" name="Shape 21"/>
          <p:cNvSpPr/>
          <p:nvPr/>
        </p:nvSpPr>
        <p:spPr>
          <a:xfrm>
            <a:off x="6035040" y="2916936"/>
            <a:ext cx="3017520" cy="475488"/>
          </a:xfrm>
          <a:prstGeom prst="rect">
            <a:avLst/>
          </a:prstGeom>
          <a:solidFill>
            <a:srgbClr val="FDF1E9"/>
          </a:solidFill>
          <a:ln w="12700">
            <a:solidFill>
              <a:srgbClr val="E3E8F2"/>
            </a:solidFill>
            <a:prstDash val="solid"/>
          </a:ln>
        </p:spPr>
      </p:sp>
      <p:sp>
        <p:nvSpPr>
          <p:cNvPr id="24" name="Shape 22"/>
          <p:cNvSpPr/>
          <p:nvPr/>
        </p:nvSpPr>
        <p:spPr>
          <a:xfrm>
            <a:off x="9052560" y="2916936"/>
            <a:ext cx="2560320" cy="475488"/>
          </a:xfrm>
          <a:prstGeom prst="rect">
            <a:avLst/>
          </a:prstGeom>
          <a:solidFill>
            <a:srgbClr val="FDF1E9"/>
          </a:solidFill>
          <a:ln w="12700">
            <a:solidFill>
              <a:srgbClr val="E3E8F2"/>
            </a:solidFill>
            <a:prstDash val="solid"/>
          </a:ln>
        </p:spPr>
      </p:sp>
      <p:sp>
        <p:nvSpPr>
          <p:cNvPr id="25" name="Text 23"/>
          <p:cNvSpPr/>
          <p:nvPr/>
        </p:nvSpPr>
        <p:spPr>
          <a:xfrm>
            <a:off x="685800" y="2916936"/>
            <a:ext cx="2194560" cy="475488"/>
          </a:xfrm>
          <a:prstGeom prst="rect">
            <a:avLst/>
          </a:prstGeom>
          <a:noFill/>
          <a:ln/>
        </p:spPr>
        <p:txBody>
          <a:bodyPr wrap="square" lIns="0" tIns="0" rIns="0" bIns="0" rtlCol="0" anchor="ctr"/>
          <a:lstStyle/>
          <a:p>
            <a:pPr indent="0" marL="0">
              <a:buNone/>
            </a:pPr>
            <a:r>
              <a:rPr lang="en-US" sz="1150" b="1" dirty="0">
                <a:solidFill>
                  <a:srgbClr val="141B34"/>
                </a:solidFill>
                <a:latin typeface="Calibri" pitchFamily="34" charset="0"/>
                <a:ea typeface="Calibri" pitchFamily="34" charset="-122"/>
                <a:cs typeface="Calibri" pitchFamily="34" charset="-120"/>
              </a:rPr>
              <a:t>RSR context</a:t>
            </a:r>
            <a:endParaRPr lang="en-US" sz="1150" dirty="0"/>
          </a:p>
        </p:txBody>
      </p:sp>
      <p:sp>
        <p:nvSpPr>
          <p:cNvPr id="26" name="Text 24"/>
          <p:cNvSpPr/>
          <p:nvPr/>
        </p:nvSpPr>
        <p:spPr>
          <a:xfrm>
            <a:off x="3154680" y="2916936"/>
            <a:ext cx="2743200" cy="475488"/>
          </a:xfrm>
          <a:prstGeom prst="rect">
            <a:avLst/>
          </a:prstGeom>
          <a:noFill/>
          <a:ln/>
        </p:spPr>
        <p:txBody>
          <a:bodyPr wrap="square" lIns="0" tIns="0" rIns="0" bIns="0" rtlCol="0" anchor="ctr"/>
          <a:lstStyle/>
          <a:p>
            <a:pPr indent="0" marL="0">
              <a:buNone/>
            </a:pPr>
            <a:r>
              <a:rPr lang="en-US" sz="1150" dirty="0">
                <a:solidFill>
                  <a:srgbClr val="141B34"/>
                </a:solidFill>
                <a:latin typeface="Calibri" pitchFamily="34" charset="0"/>
                <a:ea typeface="Calibri" pitchFamily="34" charset="-122"/>
                <a:cs typeface="Calibri" pitchFamily="34" charset="-120"/>
              </a:rPr>
              <a:t>template: 'The word is X.'</a:t>
            </a:r>
            <a:endParaRPr lang="en-US" sz="1150" dirty="0"/>
          </a:p>
        </p:txBody>
      </p:sp>
      <p:sp>
        <p:nvSpPr>
          <p:cNvPr id="27" name="Text 25"/>
          <p:cNvSpPr/>
          <p:nvPr/>
        </p:nvSpPr>
        <p:spPr>
          <a:xfrm>
            <a:off x="6172200" y="2916936"/>
            <a:ext cx="2743200" cy="475488"/>
          </a:xfrm>
          <a:prstGeom prst="rect">
            <a:avLst/>
          </a:prstGeom>
          <a:noFill/>
          <a:ln/>
        </p:spPr>
        <p:txBody>
          <a:bodyPr wrap="square" lIns="0" tIns="0" rIns="0" bIns="0" rtlCol="0" anchor="ctr"/>
          <a:lstStyle/>
          <a:p>
            <a:pPr indent="0" marL="0">
              <a:buNone/>
            </a:pPr>
            <a:r>
              <a:rPr lang="en-US" sz="1150" dirty="0">
                <a:solidFill>
                  <a:srgbClr val="141B34"/>
                </a:solidFill>
                <a:latin typeface="Calibri" pitchFamily="34" charset="0"/>
                <a:ea typeface="Calibri" pitchFamily="34" charset="-122"/>
                <a:cs typeface="Calibri" pitchFamily="34" charset="-120"/>
              </a:rPr>
              <a:t>real Wikipedia sentences</a:t>
            </a:r>
            <a:endParaRPr lang="en-US" sz="1150" dirty="0"/>
          </a:p>
        </p:txBody>
      </p:sp>
      <p:sp>
        <p:nvSpPr>
          <p:cNvPr id="28" name="Text 26"/>
          <p:cNvSpPr/>
          <p:nvPr/>
        </p:nvSpPr>
        <p:spPr>
          <a:xfrm>
            <a:off x="9189720" y="2916936"/>
            <a:ext cx="2286000" cy="475488"/>
          </a:xfrm>
          <a:prstGeom prst="rect">
            <a:avLst/>
          </a:prstGeom>
          <a:noFill/>
          <a:ln/>
        </p:spPr>
        <p:txBody>
          <a:bodyPr wrap="square" lIns="0" tIns="0" rIns="0" bIns="0" rtlCol="0" anchor="ctr"/>
          <a:lstStyle/>
          <a:p>
            <a:pPr indent="0" marL="0">
              <a:buNone/>
            </a:pPr>
            <a:r>
              <a:rPr lang="en-US" sz="1100" b="1" dirty="0">
                <a:solidFill>
                  <a:srgbClr val="E8743B"/>
                </a:solidFill>
                <a:latin typeface="Calibri" pitchFamily="34" charset="0"/>
                <a:ea typeface="Calibri" pitchFamily="34" charset="-122"/>
                <a:cs typeface="Calibri" pitchFamily="34" charset="-120"/>
              </a:rPr>
              <a:t>CRITICAL</a:t>
            </a:r>
            <a:endParaRPr lang="en-US" sz="1100" dirty="0"/>
          </a:p>
        </p:txBody>
      </p:sp>
      <p:sp>
        <p:nvSpPr>
          <p:cNvPr id="29" name="Shape 27"/>
          <p:cNvSpPr/>
          <p:nvPr/>
        </p:nvSpPr>
        <p:spPr>
          <a:xfrm>
            <a:off x="548640" y="3392424"/>
            <a:ext cx="2468880" cy="475488"/>
          </a:xfrm>
          <a:prstGeom prst="rect">
            <a:avLst/>
          </a:prstGeom>
          <a:solidFill>
            <a:srgbClr val="FDF1E9"/>
          </a:solidFill>
          <a:ln w="12700">
            <a:solidFill>
              <a:srgbClr val="E3E8F2"/>
            </a:solidFill>
            <a:prstDash val="solid"/>
          </a:ln>
        </p:spPr>
      </p:sp>
      <p:sp>
        <p:nvSpPr>
          <p:cNvPr id="30" name="Shape 28"/>
          <p:cNvSpPr/>
          <p:nvPr/>
        </p:nvSpPr>
        <p:spPr>
          <a:xfrm>
            <a:off x="3017520" y="3392424"/>
            <a:ext cx="3017520" cy="475488"/>
          </a:xfrm>
          <a:prstGeom prst="rect">
            <a:avLst/>
          </a:prstGeom>
          <a:solidFill>
            <a:srgbClr val="FDF1E9"/>
          </a:solidFill>
          <a:ln w="12700">
            <a:solidFill>
              <a:srgbClr val="E3E8F2"/>
            </a:solidFill>
            <a:prstDash val="solid"/>
          </a:ln>
        </p:spPr>
      </p:sp>
      <p:sp>
        <p:nvSpPr>
          <p:cNvPr id="31" name="Shape 29"/>
          <p:cNvSpPr/>
          <p:nvPr/>
        </p:nvSpPr>
        <p:spPr>
          <a:xfrm>
            <a:off x="6035040" y="3392424"/>
            <a:ext cx="3017520" cy="475488"/>
          </a:xfrm>
          <a:prstGeom prst="rect">
            <a:avLst/>
          </a:prstGeom>
          <a:solidFill>
            <a:srgbClr val="FDF1E9"/>
          </a:solidFill>
          <a:ln w="12700">
            <a:solidFill>
              <a:srgbClr val="E3E8F2"/>
            </a:solidFill>
            <a:prstDash val="solid"/>
          </a:ln>
        </p:spPr>
      </p:sp>
      <p:sp>
        <p:nvSpPr>
          <p:cNvPr id="32" name="Shape 30"/>
          <p:cNvSpPr/>
          <p:nvPr/>
        </p:nvSpPr>
        <p:spPr>
          <a:xfrm>
            <a:off x="9052560" y="3392424"/>
            <a:ext cx="2560320" cy="475488"/>
          </a:xfrm>
          <a:prstGeom prst="rect">
            <a:avLst/>
          </a:prstGeom>
          <a:solidFill>
            <a:srgbClr val="FDF1E9"/>
          </a:solidFill>
          <a:ln w="12700">
            <a:solidFill>
              <a:srgbClr val="E3E8F2"/>
            </a:solidFill>
            <a:prstDash val="solid"/>
          </a:ln>
        </p:spPr>
      </p:sp>
      <p:sp>
        <p:nvSpPr>
          <p:cNvPr id="33" name="Text 31"/>
          <p:cNvSpPr/>
          <p:nvPr/>
        </p:nvSpPr>
        <p:spPr>
          <a:xfrm>
            <a:off x="685800" y="3392424"/>
            <a:ext cx="2194560" cy="475488"/>
          </a:xfrm>
          <a:prstGeom prst="rect">
            <a:avLst/>
          </a:prstGeom>
          <a:noFill/>
          <a:ln/>
        </p:spPr>
        <p:txBody>
          <a:bodyPr wrap="square" lIns="0" tIns="0" rIns="0" bIns="0" rtlCol="0" anchor="ctr"/>
          <a:lstStyle/>
          <a:p>
            <a:pPr indent="0" marL="0">
              <a:buNone/>
            </a:pPr>
            <a:r>
              <a:rPr lang="en-US" sz="1150" b="1" dirty="0">
                <a:solidFill>
                  <a:srgbClr val="141B34"/>
                </a:solidFill>
                <a:latin typeface="Calibri" pitchFamily="34" charset="0"/>
                <a:ea typeface="Calibri" pitchFamily="34" charset="-122"/>
                <a:cs typeface="Calibri" pitchFamily="34" charset="-120"/>
              </a:rPr>
              <a:t>Mixing the losses</a:t>
            </a:r>
            <a:endParaRPr lang="en-US" sz="1150" dirty="0"/>
          </a:p>
        </p:txBody>
      </p:sp>
      <p:sp>
        <p:nvSpPr>
          <p:cNvPr id="34" name="Text 32"/>
          <p:cNvSpPr/>
          <p:nvPr/>
        </p:nvSpPr>
        <p:spPr>
          <a:xfrm>
            <a:off x="3154680" y="3392424"/>
            <a:ext cx="2743200" cy="475488"/>
          </a:xfrm>
          <a:prstGeom prst="rect">
            <a:avLst/>
          </a:prstGeom>
          <a:noFill/>
          <a:ln/>
        </p:spPr>
        <p:txBody>
          <a:bodyPr wrap="square" lIns="0" tIns="0" rIns="0" bIns="0" rtlCol="0" anchor="ctr"/>
          <a:lstStyle/>
          <a:p>
            <a:pPr indent="0" marL="0">
              <a:buNone/>
            </a:pPr>
            <a:r>
              <a:rPr lang="en-US" sz="1150" dirty="0">
                <a:solidFill>
                  <a:srgbClr val="141B34"/>
                </a:solidFill>
                <a:latin typeface="Calibri" pitchFamily="34" charset="0"/>
                <a:ea typeface="Calibri" pitchFamily="34" charset="-122"/>
                <a:cs typeface="Calibri" pitchFamily="34" charset="-120"/>
              </a:rPr>
              <a:t>alternate: 3 MLM then 1 RSR</a:t>
            </a:r>
            <a:endParaRPr lang="en-US" sz="1150" dirty="0"/>
          </a:p>
        </p:txBody>
      </p:sp>
      <p:sp>
        <p:nvSpPr>
          <p:cNvPr id="35" name="Text 33"/>
          <p:cNvSpPr/>
          <p:nvPr/>
        </p:nvSpPr>
        <p:spPr>
          <a:xfrm>
            <a:off x="6172200" y="3392424"/>
            <a:ext cx="2743200" cy="475488"/>
          </a:xfrm>
          <a:prstGeom prst="rect">
            <a:avLst/>
          </a:prstGeom>
          <a:noFill/>
          <a:ln/>
        </p:spPr>
        <p:txBody>
          <a:bodyPr wrap="square" lIns="0" tIns="0" rIns="0" bIns="0" rtlCol="0" anchor="ctr"/>
          <a:lstStyle/>
          <a:p>
            <a:pPr indent="0" marL="0">
              <a:buNone/>
            </a:pPr>
            <a:r>
              <a:rPr lang="en-US" sz="1150" dirty="0">
                <a:solidFill>
                  <a:srgbClr val="141B34"/>
                </a:solidFill>
                <a:latin typeface="Calibri" pitchFamily="34" charset="0"/>
                <a:ea typeface="Calibri" pitchFamily="34" charset="-122"/>
                <a:cs typeface="Calibri" pitchFamily="34" charset="-120"/>
              </a:rPr>
              <a:t>weighted: both, every batch</a:t>
            </a:r>
            <a:endParaRPr lang="en-US" sz="1150" dirty="0"/>
          </a:p>
        </p:txBody>
      </p:sp>
      <p:sp>
        <p:nvSpPr>
          <p:cNvPr id="36" name="Text 34"/>
          <p:cNvSpPr/>
          <p:nvPr/>
        </p:nvSpPr>
        <p:spPr>
          <a:xfrm>
            <a:off x="9189720" y="3392424"/>
            <a:ext cx="2286000" cy="475488"/>
          </a:xfrm>
          <a:prstGeom prst="rect">
            <a:avLst/>
          </a:prstGeom>
          <a:noFill/>
          <a:ln/>
        </p:spPr>
        <p:txBody>
          <a:bodyPr wrap="square" lIns="0" tIns="0" rIns="0" bIns="0" rtlCol="0" anchor="ctr"/>
          <a:lstStyle/>
          <a:p>
            <a:pPr indent="0" marL="0">
              <a:buNone/>
            </a:pPr>
            <a:r>
              <a:rPr lang="en-US" sz="1100" b="1" dirty="0">
                <a:solidFill>
                  <a:srgbClr val="E8743B"/>
                </a:solidFill>
                <a:latin typeface="Calibri" pitchFamily="34" charset="0"/>
                <a:ea typeface="Calibri" pitchFamily="34" charset="-122"/>
                <a:cs typeface="Calibri" pitchFamily="34" charset="-120"/>
              </a:rPr>
              <a:t>CRITICAL</a:t>
            </a:r>
            <a:endParaRPr lang="en-US" sz="1100" dirty="0"/>
          </a:p>
        </p:txBody>
      </p:sp>
      <p:sp>
        <p:nvSpPr>
          <p:cNvPr id="37" name="Shape 35"/>
          <p:cNvSpPr/>
          <p:nvPr/>
        </p:nvSpPr>
        <p:spPr>
          <a:xfrm>
            <a:off x="548640" y="3867912"/>
            <a:ext cx="2468880" cy="475488"/>
          </a:xfrm>
          <a:prstGeom prst="rect">
            <a:avLst/>
          </a:prstGeom>
          <a:solidFill>
            <a:srgbClr val="F7F9FD"/>
          </a:solidFill>
          <a:ln w="12700">
            <a:solidFill>
              <a:srgbClr val="E3E8F2"/>
            </a:solidFill>
            <a:prstDash val="solid"/>
          </a:ln>
        </p:spPr>
      </p:sp>
      <p:sp>
        <p:nvSpPr>
          <p:cNvPr id="38" name="Shape 36"/>
          <p:cNvSpPr/>
          <p:nvPr/>
        </p:nvSpPr>
        <p:spPr>
          <a:xfrm>
            <a:off x="3017520" y="3867912"/>
            <a:ext cx="3017520" cy="475488"/>
          </a:xfrm>
          <a:prstGeom prst="rect">
            <a:avLst/>
          </a:prstGeom>
          <a:solidFill>
            <a:srgbClr val="F7F9FD"/>
          </a:solidFill>
          <a:ln w="12700">
            <a:solidFill>
              <a:srgbClr val="E3E8F2"/>
            </a:solidFill>
            <a:prstDash val="solid"/>
          </a:ln>
        </p:spPr>
      </p:sp>
      <p:sp>
        <p:nvSpPr>
          <p:cNvPr id="39" name="Shape 37"/>
          <p:cNvSpPr/>
          <p:nvPr/>
        </p:nvSpPr>
        <p:spPr>
          <a:xfrm>
            <a:off x="6035040" y="3867912"/>
            <a:ext cx="3017520" cy="475488"/>
          </a:xfrm>
          <a:prstGeom prst="rect">
            <a:avLst/>
          </a:prstGeom>
          <a:solidFill>
            <a:srgbClr val="F7F9FD"/>
          </a:solidFill>
          <a:ln w="12700">
            <a:solidFill>
              <a:srgbClr val="E3E8F2"/>
            </a:solidFill>
            <a:prstDash val="solid"/>
          </a:ln>
        </p:spPr>
      </p:sp>
      <p:sp>
        <p:nvSpPr>
          <p:cNvPr id="40" name="Shape 38"/>
          <p:cNvSpPr/>
          <p:nvPr/>
        </p:nvSpPr>
        <p:spPr>
          <a:xfrm>
            <a:off x="9052560" y="3867912"/>
            <a:ext cx="2560320" cy="475488"/>
          </a:xfrm>
          <a:prstGeom prst="rect">
            <a:avLst/>
          </a:prstGeom>
          <a:solidFill>
            <a:srgbClr val="F7F9FD"/>
          </a:solidFill>
          <a:ln w="12700">
            <a:solidFill>
              <a:srgbClr val="E3E8F2"/>
            </a:solidFill>
            <a:prstDash val="solid"/>
          </a:ln>
        </p:spPr>
      </p:sp>
      <p:sp>
        <p:nvSpPr>
          <p:cNvPr id="41" name="Text 39"/>
          <p:cNvSpPr/>
          <p:nvPr/>
        </p:nvSpPr>
        <p:spPr>
          <a:xfrm>
            <a:off x="685800" y="3867912"/>
            <a:ext cx="2194560" cy="475488"/>
          </a:xfrm>
          <a:prstGeom prst="rect">
            <a:avLst/>
          </a:prstGeom>
          <a:noFill/>
          <a:ln/>
        </p:spPr>
        <p:txBody>
          <a:bodyPr wrap="square" lIns="0" tIns="0" rIns="0" bIns="0" rtlCol="0" anchor="ctr"/>
          <a:lstStyle/>
          <a:p>
            <a:pPr indent="0" marL="0">
              <a:buNone/>
            </a:pPr>
            <a:r>
              <a:rPr lang="en-US" sz="1150" dirty="0">
                <a:solidFill>
                  <a:srgbClr val="141B34"/>
                </a:solidFill>
                <a:latin typeface="Calibri" pitchFamily="34" charset="0"/>
                <a:ea typeface="Calibri" pitchFamily="34" charset="-122"/>
                <a:cs typeface="Calibri" pitchFamily="34" charset="-120"/>
              </a:rPr>
              <a:t>Read-out layer</a:t>
            </a:r>
            <a:endParaRPr lang="en-US" sz="1150" dirty="0"/>
          </a:p>
        </p:txBody>
      </p:sp>
      <p:sp>
        <p:nvSpPr>
          <p:cNvPr id="42" name="Text 40"/>
          <p:cNvSpPr/>
          <p:nvPr/>
        </p:nvSpPr>
        <p:spPr>
          <a:xfrm>
            <a:off x="3154680" y="3867912"/>
            <a:ext cx="2743200" cy="475488"/>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layer 5</a:t>
            </a:r>
            <a:endParaRPr lang="en-US" sz="1150" dirty="0"/>
          </a:p>
        </p:txBody>
      </p:sp>
      <p:sp>
        <p:nvSpPr>
          <p:cNvPr id="43" name="Text 41"/>
          <p:cNvSpPr/>
          <p:nvPr/>
        </p:nvSpPr>
        <p:spPr>
          <a:xfrm>
            <a:off x="6172200" y="3867912"/>
            <a:ext cx="2743200" cy="475488"/>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layer 12 (then probed 0-12)</a:t>
            </a:r>
            <a:endParaRPr lang="en-US" sz="1150" dirty="0"/>
          </a:p>
        </p:txBody>
      </p:sp>
      <p:sp>
        <p:nvSpPr>
          <p:cNvPr id="44" name="Text 42"/>
          <p:cNvSpPr/>
          <p:nvPr/>
        </p:nvSpPr>
        <p:spPr>
          <a:xfrm>
            <a:off x="9189720" y="3867912"/>
            <a:ext cx="2286000" cy="475488"/>
          </a:xfrm>
          <a:prstGeom prst="rect">
            <a:avLst/>
          </a:prstGeom>
          <a:noFill/>
          <a:ln/>
        </p:spPr>
        <p:txBody>
          <a:bodyPr wrap="square" lIns="0" tIns="0" rIns="0" bIns="0" rtlCol="0" anchor="ctr"/>
          <a:lstStyle/>
          <a:p>
            <a:pPr indent="0" marL="0">
              <a:buNone/>
            </a:pPr>
            <a:r>
              <a:rPr lang="en-US" sz="1100" dirty="0">
                <a:solidFill>
                  <a:srgbClr val="B9C4DC"/>
                </a:solidFill>
                <a:latin typeface="Calibri" pitchFamily="34" charset="0"/>
                <a:ea typeface="Calibri" pitchFamily="34" charset="-122"/>
                <a:cs typeface="Calibri" pitchFamily="34" charset="-120"/>
              </a:rPr>
              <a:t>moderate</a:t>
            </a:r>
            <a:endParaRPr lang="en-US" sz="1100" dirty="0"/>
          </a:p>
        </p:txBody>
      </p:sp>
      <p:sp>
        <p:nvSpPr>
          <p:cNvPr id="45" name="Shape 43"/>
          <p:cNvSpPr/>
          <p:nvPr/>
        </p:nvSpPr>
        <p:spPr>
          <a:xfrm>
            <a:off x="548640" y="4343400"/>
            <a:ext cx="2468880" cy="475488"/>
          </a:xfrm>
          <a:prstGeom prst="rect">
            <a:avLst/>
          </a:prstGeom>
          <a:solidFill>
            <a:srgbClr val="FFFFFF"/>
          </a:solidFill>
          <a:ln w="12700">
            <a:solidFill>
              <a:srgbClr val="E3E8F2"/>
            </a:solidFill>
            <a:prstDash val="solid"/>
          </a:ln>
        </p:spPr>
      </p:sp>
      <p:sp>
        <p:nvSpPr>
          <p:cNvPr id="46" name="Shape 44"/>
          <p:cNvSpPr/>
          <p:nvPr/>
        </p:nvSpPr>
        <p:spPr>
          <a:xfrm>
            <a:off x="3017520" y="4343400"/>
            <a:ext cx="3017520" cy="475488"/>
          </a:xfrm>
          <a:prstGeom prst="rect">
            <a:avLst/>
          </a:prstGeom>
          <a:solidFill>
            <a:srgbClr val="FFFFFF"/>
          </a:solidFill>
          <a:ln w="12700">
            <a:solidFill>
              <a:srgbClr val="E3E8F2"/>
            </a:solidFill>
            <a:prstDash val="solid"/>
          </a:ln>
        </p:spPr>
      </p:sp>
      <p:sp>
        <p:nvSpPr>
          <p:cNvPr id="47" name="Shape 45"/>
          <p:cNvSpPr/>
          <p:nvPr/>
        </p:nvSpPr>
        <p:spPr>
          <a:xfrm>
            <a:off x="6035040" y="4343400"/>
            <a:ext cx="3017520" cy="475488"/>
          </a:xfrm>
          <a:prstGeom prst="rect">
            <a:avLst/>
          </a:prstGeom>
          <a:solidFill>
            <a:srgbClr val="FFFFFF"/>
          </a:solidFill>
          <a:ln w="12700">
            <a:solidFill>
              <a:srgbClr val="E3E8F2"/>
            </a:solidFill>
            <a:prstDash val="solid"/>
          </a:ln>
        </p:spPr>
      </p:sp>
      <p:sp>
        <p:nvSpPr>
          <p:cNvPr id="48" name="Shape 46"/>
          <p:cNvSpPr/>
          <p:nvPr/>
        </p:nvSpPr>
        <p:spPr>
          <a:xfrm>
            <a:off x="9052560" y="4343400"/>
            <a:ext cx="2560320" cy="475488"/>
          </a:xfrm>
          <a:prstGeom prst="rect">
            <a:avLst/>
          </a:prstGeom>
          <a:solidFill>
            <a:srgbClr val="FFFFFF"/>
          </a:solidFill>
          <a:ln w="12700">
            <a:solidFill>
              <a:srgbClr val="E3E8F2"/>
            </a:solidFill>
            <a:prstDash val="solid"/>
          </a:ln>
        </p:spPr>
      </p:sp>
      <p:sp>
        <p:nvSpPr>
          <p:cNvPr id="49" name="Text 47"/>
          <p:cNvSpPr/>
          <p:nvPr/>
        </p:nvSpPr>
        <p:spPr>
          <a:xfrm>
            <a:off x="685800" y="4343400"/>
            <a:ext cx="2194560" cy="475488"/>
          </a:xfrm>
          <a:prstGeom prst="rect">
            <a:avLst/>
          </a:prstGeom>
          <a:noFill/>
          <a:ln/>
        </p:spPr>
        <p:txBody>
          <a:bodyPr wrap="square" lIns="0" tIns="0" rIns="0" bIns="0" rtlCol="0" anchor="ctr"/>
          <a:lstStyle/>
          <a:p>
            <a:pPr indent="0" marL="0">
              <a:buNone/>
            </a:pPr>
            <a:r>
              <a:rPr lang="en-US" sz="1150" dirty="0">
                <a:solidFill>
                  <a:srgbClr val="141B34"/>
                </a:solidFill>
                <a:latin typeface="Calibri" pitchFamily="34" charset="0"/>
                <a:ea typeface="Calibri" pitchFamily="34" charset="-122"/>
                <a:cs typeface="Calibri" pitchFamily="34" charset="-120"/>
              </a:rPr>
              <a:t>Early stopping</a:t>
            </a:r>
            <a:endParaRPr lang="en-US" sz="1150" dirty="0"/>
          </a:p>
        </p:txBody>
      </p:sp>
      <p:sp>
        <p:nvSpPr>
          <p:cNvPr id="50" name="Text 48"/>
          <p:cNvSpPr/>
          <p:nvPr/>
        </p:nvSpPr>
        <p:spPr>
          <a:xfrm>
            <a:off x="3154680" y="4343400"/>
            <a:ext cx="2743200" cy="475488"/>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none, fixed 8000 steps</a:t>
            </a:r>
            <a:endParaRPr lang="en-US" sz="1150" dirty="0"/>
          </a:p>
        </p:txBody>
      </p:sp>
      <p:sp>
        <p:nvSpPr>
          <p:cNvPr id="51" name="Text 49"/>
          <p:cNvSpPr/>
          <p:nvPr/>
        </p:nvSpPr>
        <p:spPr>
          <a:xfrm>
            <a:off x="6172200" y="4343400"/>
            <a:ext cx="2743200" cy="475488"/>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keep best checkpoint</a:t>
            </a:r>
            <a:endParaRPr lang="en-US" sz="1150" dirty="0"/>
          </a:p>
        </p:txBody>
      </p:sp>
      <p:sp>
        <p:nvSpPr>
          <p:cNvPr id="52" name="Text 50"/>
          <p:cNvSpPr/>
          <p:nvPr/>
        </p:nvSpPr>
        <p:spPr>
          <a:xfrm>
            <a:off x="9189720" y="4343400"/>
            <a:ext cx="2286000" cy="475488"/>
          </a:xfrm>
          <a:prstGeom prst="rect">
            <a:avLst/>
          </a:prstGeom>
          <a:noFill/>
          <a:ln/>
        </p:spPr>
        <p:txBody>
          <a:bodyPr wrap="square" lIns="0" tIns="0" rIns="0" bIns="0" rtlCol="0" anchor="ctr"/>
          <a:lstStyle/>
          <a:p>
            <a:pPr indent="0" marL="0">
              <a:buNone/>
            </a:pPr>
            <a:r>
              <a:rPr lang="en-US" sz="1100" dirty="0">
                <a:solidFill>
                  <a:srgbClr val="B9C4DC"/>
                </a:solidFill>
                <a:latin typeface="Calibri" pitchFamily="34" charset="0"/>
                <a:ea typeface="Calibri" pitchFamily="34" charset="-122"/>
                <a:cs typeface="Calibri" pitchFamily="34" charset="-120"/>
              </a:rPr>
              <a:t>moderate</a:t>
            </a:r>
            <a:endParaRPr lang="en-US" sz="1100" dirty="0"/>
          </a:p>
        </p:txBody>
      </p:sp>
      <p:sp>
        <p:nvSpPr>
          <p:cNvPr id="53" name="Shape 51"/>
          <p:cNvSpPr/>
          <p:nvPr/>
        </p:nvSpPr>
        <p:spPr>
          <a:xfrm>
            <a:off x="548640" y="4846320"/>
            <a:ext cx="5394960" cy="1325880"/>
          </a:xfrm>
          <a:prstGeom prst="roundRect">
            <a:avLst>
              <a:gd name="adj" fmla="val 5517"/>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54" name="Text 52"/>
          <p:cNvSpPr/>
          <p:nvPr/>
        </p:nvSpPr>
        <p:spPr>
          <a:xfrm>
            <a:off x="822960" y="4983480"/>
            <a:ext cx="4846320" cy="274320"/>
          </a:xfrm>
          <a:prstGeom prst="rect">
            <a:avLst/>
          </a:prstGeom>
          <a:noFill/>
          <a:ln/>
        </p:spPr>
        <p:txBody>
          <a:bodyPr wrap="square" lIns="0" tIns="0" rIns="0" bIns="0" rtlCol="0" anchor="ctr"/>
          <a:lstStyle/>
          <a:p>
            <a:pPr indent="0" marL="0">
              <a:buNone/>
            </a:pPr>
            <a:r>
              <a:rPr lang="en-US" sz="1400" b="1" dirty="0">
                <a:solidFill>
                  <a:srgbClr val="F2C14E"/>
                </a:solidFill>
                <a:latin typeface="Cambria" pitchFamily="34" charset="0"/>
                <a:ea typeface="Cambria" pitchFamily="34" charset="-122"/>
                <a:cs typeface="Cambria" pitchFamily="34" charset="-120"/>
              </a:rPr>
              <a:t>Why templates?</a:t>
            </a:r>
            <a:endParaRPr lang="en-US" sz="1400" dirty="0"/>
          </a:p>
        </p:txBody>
      </p:sp>
      <p:sp>
        <p:nvSpPr>
          <p:cNvPr id="55" name="Text 53"/>
          <p:cNvSpPr/>
          <p:nvPr/>
        </p:nvSpPr>
        <p:spPr>
          <a:xfrm>
            <a:off x="822960" y="5285232"/>
            <a:ext cx="4846320" cy="777240"/>
          </a:xfrm>
          <a:prstGeom prst="rect">
            <a:avLst/>
          </a:prstGeom>
          <a:noFill/>
          <a:ln/>
        </p:spPr>
        <p:txBody>
          <a:bodyPr wrap="square" lIns="0" tIns="0" rIns="0" bIns="0" rtlCol="0" anchor="ctr"/>
          <a:lstStyle/>
          <a:p>
            <a:pPr indent="0" marL="0">
              <a:buNone/>
            </a:pPr>
            <a:r>
              <a:rPr lang="en-US" sz="1150" dirty="0">
                <a:solidFill>
                  <a:srgbClr val="AEBBD8"/>
                </a:solidFill>
                <a:latin typeface="Calibri" pitchFamily="34" charset="0"/>
                <a:ea typeface="Calibri" pitchFamily="34" charset="-122"/>
                <a:cs typeface="Calibri" pitchFamily="34" charset="-120"/>
              </a:rPr>
              <a:t>Barry's reasoning: a null context gives a sterile signal. Every word sits in the identical frame, so attention has nothing to latch onto and the loss touches pure lexical geometry.</a:t>
            </a:r>
            <a:endParaRPr lang="en-US" sz="1150" dirty="0"/>
          </a:p>
        </p:txBody>
      </p:sp>
      <p:sp>
        <p:nvSpPr>
          <p:cNvPr id="56" name="Shape 54"/>
          <p:cNvSpPr/>
          <p:nvPr/>
        </p:nvSpPr>
        <p:spPr>
          <a:xfrm>
            <a:off x="6217920" y="4846320"/>
            <a:ext cx="5394960" cy="1325880"/>
          </a:xfrm>
          <a:prstGeom prst="roundRect">
            <a:avLst>
              <a:gd name="adj" fmla="val 5517"/>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57" name="Text 55"/>
          <p:cNvSpPr/>
          <p:nvPr/>
        </p:nvSpPr>
        <p:spPr>
          <a:xfrm>
            <a:off x="6492240" y="4983480"/>
            <a:ext cx="4846320" cy="274320"/>
          </a:xfrm>
          <a:prstGeom prst="rect">
            <a:avLst/>
          </a:prstGeom>
          <a:noFill/>
          <a:ln/>
        </p:spPr>
        <p:txBody>
          <a:bodyPr wrap="square" lIns="0" tIns="0" rIns="0" bIns="0" rtlCol="0" anchor="ctr"/>
          <a:lstStyle/>
          <a:p>
            <a:pPr indent="0" marL="0">
              <a:buNone/>
            </a:pPr>
            <a:r>
              <a:rPr lang="en-US" sz="1400" b="1" dirty="0">
                <a:solidFill>
                  <a:srgbClr val="141B34"/>
                </a:solidFill>
                <a:latin typeface="Cambria" pitchFamily="34" charset="0"/>
                <a:ea typeface="Cambria" pitchFamily="34" charset="-122"/>
                <a:cs typeface="Cambria" pitchFamily="34" charset="-120"/>
              </a:rPr>
              <a:t>Why real sentences?</a:t>
            </a:r>
            <a:endParaRPr lang="en-US" sz="1400" dirty="0"/>
          </a:p>
        </p:txBody>
      </p:sp>
      <p:sp>
        <p:nvSpPr>
          <p:cNvPr id="58" name="Text 56"/>
          <p:cNvSpPr/>
          <p:nvPr/>
        </p:nvSpPr>
        <p:spPr>
          <a:xfrm>
            <a:off x="6492240" y="5285232"/>
            <a:ext cx="4846320" cy="777240"/>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My reasoning: BERT is a contextual model, so reshaping it in context is the honest test - and it is how the model will actually be used downstream.</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ACT 2  |  WHAT MY BUILD PRODUCED</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My BERT result: it generalises</a:t>
            </a:r>
            <a:endParaRPr lang="en-US" sz="3200" dirty="0"/>
          </a:p>
        </p:txBody>
      </p:sp>
      <p:sp>
        <p:nvSpPr>
          <p:cNvPr id="4" name="Text 2"/>
          <p:cNvSpPr/>
          <p:nvPr/>
        </p:nvSpPr>
        <p:spPr>
          <a:xfrm>
            <a:off x="502920" y="1371600"/>
            <a:ext cx="7498080" cy="411480"/>
          </a:xfrm>
          <a:prstGeom prst="rect">
            <a:avLst/>
          </a:prstGeom>
          <a:noFill/>
          <a:ln/>
        </p:spPr>
        <p:txBody>
          <a:bodyPr wrap="square" lIns="0" tIns="0" rIns="0" bIns="0" rtlCol="0" anchor="ctr"/>
          <a:lstStyle/>
          <a:p>
            <a:pPr indent="0" marL="0">
              <a:buNone/>
            </a:pPr>
            <a:r>
              <a:rPr lang="en-US" sz="1300" dirty="0">
                <a:solidFill>
                  <a:srgbClr val="5A6588"/>
                </a:solidFill>
                <a:latin typeface="Calibri" pitchFamily="34" charset="0"/>
                <a:ea typeface="Calibri" pitchFamily="34" charset="-122"/>
                <a:cs typeface="Calibri" pitchFamily="34" charset="-120"/>
              </a:rPr>
              <a:t>Held-out SimLex-999, five seeds, against a control trained for exactly the same steps without RSR. Split by whether each pair's words were supervised.</a:t>
            </a:r>
            <a:endParaRPr lang="en-US" sz="1300" dirty="0"/>
          </a:p>
        </p:txBody>
      </p:sp>
      <p:graphicFrame>
        <p:nvGraphicFramePr>
          <p:cNvPr id="5" name="Chart 0" descr=""/>
          <p:cNvGraphicFramePr/>
          <p:nvPr/>
        </p:nvGraphicFramePr>
        <p:xfrm>
          <a:off x="457200" y="1828800"/>
          <a:ext cx="7589520" cy="37490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75320" y="1783080"/>
            <a:ext cx="3337560" cy="2103120"/>
          </a:xfrm>
          <a:prstGeom prst="roundRect">
            <a:avLst>
              <a:gd name="adj" fmla="val 3478"/>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7" name="Text 4"/>
          <p:cNvSpPr/>
          <p:nvPr/>
        </p:nvSpPr>
        <p:spPr>
          <a:xfrm>
            <a:off x="8503920" y="1965960"/>
            <a:ext cx="2880360" cy="274320"/>
          </a:xfrm>
          <a:prstGeom prst="rect">
            <a:avLst/>
          </a:prstGeom>
          <a:noFill/>
          <a:ln/>
        </p:spPr>
        <p:txBody>
          <a:bodyPr wrap="square" lIns="0" tIns="0" rIns="0" bIns="0" rtlCol="0" anchor="ctr"/>
          <a:lstStyle/>
          <a:p>
            <a:pPr indent="0" marL="0">
              <a:buNone/>
            </a:pPr>
            <a:r>
              <a:rPr lang="en-US" sz="1100" b="1" spc="100" kern="0" dirty="0">
                <a:solidFill>
                  <a:srgbClr val="E8743B"/>
                </a:solidFill>
                <a:latin typeface="Calibri" pitchFamily="34" charset="0"/>
                <a:ea typeface="Calibri" pitchFamily="34" charset="-122"/>
                <a:cs typeface="Calibri" pitchFamily="34" charset="-120"/>
              </a:rPr>
              <a:t>NEVER SUPERVISED</a:t>
            </a:r>
            <a:endParaRPr lang="en-US" sz="1100" dirty="0"/>
          </a:p>
        </p:txBody>
      </p:sp>
      <p:sp>
        <p:nvSpPr>
          <p:cNvPr id="8" name="Text 5"/>
          <p:cNvSpPr/>
          <p:nvPr/>
        </p:nvSpPr>
        <p:spPr>
          <a:xfrm>
            <a:off x="8503920" y="2240280"/>
            <a:ext cx="288036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+0.053</a:t>
            </a:r>
            <a:endParaRPr lang="en-US" sz="4400" dirty="0"/>
          </a:p>
        </p:txBody>
      </p:sp>
      <p:sp>
        <p:nvSpPr>
          <p:cNvPr id="9" name="Text 6"/>
          <p:cNvSpPr/>
          <p:nvPr/>
        </p:nvSpPr>
        <p:spPr>
          <a:xfrm>
            <a:off x="8503920" y="3017520"/>
            <a:ext cx="2880360" cy="274320"/>
          </a:xfrm>
          <a:prstGeom prst="rect">
            <a:avLst/>
          </a:prstGeom>
          <a:noFill/>
          <a:ln/>
        </p:spPr>
        <p:txBody>
          <a:bodyPr wrap="square" lIns="0" tIns="0" rIns="0" bIns="0" rtlCol="0" anchor="ctr"/>
          <a:lstStyle/>
          <a:p>
            <a:pPr indent="0" marL="0">
              <a:buNone/>
            </a:pPr>
            <a:r>
              <a:rPr lang="en-US" sz="1200" dirty="0">
                <a:solidFill>
                  <a:srgbClr val="AEBBD8"/>
                </a:solidFill>
                <a:latin typeface="Calibri" pitchFamily="34" charset="0"/>
                <a:ea typeface="Calibri" pitchFamily="34" charset="-122"/>
                <a:cs typeface="Calibri" pitchFamily="34" charset="-120"/>
              </a:rPr>
              <a:t>over the matched control</a:t>
            </a:r>
            <a:endParaRPr lang="en-US" sz="1200" dirty="0"/>
          </a:p>
        </p:txBody>
      </p:sp>
      <p:sp>
        <p:nvSpPr>
          <p:cNvPr id="10" name="Text 7"/>
          <p:cNvSpPr/>
          <p:nvPr/>
        </p:nvSpPr>
        <p:spPr>
          <a:xfrm>
            <a:off x="8503920" y="3337560"/>
            <a:ext cx="2880360" cy="365760"/>
          </a:xfrm>
          <a:prstGeom prst="rect">
            <a:avLst/>
          </a:prstGeom>
          <a:noFill/>
          <a:ln/>
        </p:spPr>
        <p:txBody>
          <a:bodyPr wrap="square" lIns="0" tIns="0" rIns="0" bIns="0" rtlCol="0" anchor="ctr"/>
          <a:lstStyle/>
          <a:p>
            <a:pPr indent="0" marL="0">
              <a:buNone/>
            </a:pPr>
            <a:r>
              <a:rPr lang="en-US" sz="1100" dirty="0">
                <a:solidFill>
                  <a:srgbClr val="F2C14E"/>
                </a:solidFill>
                <a:latin typeface="Calibri" pitchFamily="34" charset="0"/>
                <a:ea typeface="Calibri" pitchFamily="34" charset="-122"/>
                <a:cs typeface="Calibri" pitchFamily="34" charset="-120"/>
              </a:rPr>
              <a:t>p = 0.00002, positive in all 5 seeds</a:t>
            </a:r>
            <a:endParaRPr lang="en-US" sz="1100" dirty="0"/>
          </a:p>
        </p:txBody>
      </p:sp>
      <p:sp>
        <p:nvSpPr>
          <p:cNvPr id="11" name="Shape 8"/>
          <p:cNvSpPr/>
          <p:nvPr/>
        </p:nvSpPr>
        <p:spPr>
          <a:xfrm>
            <a:off x="8275320" y="4069080"/>
            <a:ext cx="3337560" cy="1508760"/>
          </a:xfrm>
          <a:prstGeom prst="roundRect">
            <a:avLst>
              <a:gd name="adj" fmla="val 4848"/>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2" name="Text 9"/>
          <p:cNvSpPr/>
          <p:nvPr/>
        </p:nvSpPr>
        <p:spPr>
          <a:xfrm>
            <a:off x="8503920" y="4224528"/>
            <a:ext cx="2880360" cy="274320"/>
          </a:xfrm>
          <a:prstGeom prst="rect">
            <a:avLst/>
          </a:prstGeom>
          <a:noFill/>
          <a:ln/>
        </p:spPr>
        <p:txBody>
          <a:bodyPr wrap="square" lIns="0" tIns="0" rIns="0" bIns="0" rtlCol="0" anchor="ctr"/>
          <a:lstStyle/>
          <a:p>
            <a:pPr indent="0" marL="0">
              <a:buNone/>
            </a:pPr>
            <a:r>
              <a:rPr lang="en-US" sz="1300" b="1" dirty="0">
                <a:solidFill>
                  <a:srgbClr val="141B34"/>
                </a:solidFill>
                <a:latin typeface="Cambria" pitchFamily="34" charset="0"/>
                <a:ea typeface="Cambria" pitchFamily="34" charset="-122"/>
                <a:cs typeface="Cambria" pitchFamily="34" charset="-120"/>
              </a:rPr>
              <a:t>Why this is the number to watch</a:t>
            </a:r>
            <a:endParaRPr lang="en-US" sz="1300" dirty="0"/>
          </a:p>
        </p:txBody>
      </p:sp>
      <p:sp>
        <p:nvSpPr>
          <p:cNvPr id="13" name="Text 10"/>
          <p:cNvSpPr/>
          <p:nvPr/>
        </p:nvSpPr>
        <p:spPr>
          <a:xfrm>
            <a:off x="8503920" y="4526280"/>
            <a:ext cx="2880360" cy="960120"/>
          </a:xfrm>
          <a:prstGeom prst="rect">
            <a:avLst/>
          </a:prstGeom>
          <a:noFill/>
          <a:ln/>
        </p:spPr>
        <p:txBody>
          <a:bodyPr wrap="square" lIns="0" tIns="0" rIns="0" bIns="0" rtlCol="0" anchor="ctr"/>
          <a:lstStyle/>
          <a:p>
            <a:pPr indent="0" marL="0">
              <a:buNone/>
            </a:pPr>
            <a:r>
              <a:rPr lang="en-US" sz="1100" dirty="0">
                <a:solidFill>
                  <a:srgbClr val="5A6588"/>
                </a:solidFill>
                <a:latin typeface="Calibri" pitchFamily="34" charset="0"/>
                <a:ea typeface="Calibri" pitchFamily="34" charset="-122"/>
                <a:cs typeface="Calibri" pitchFamily="34" charset="-120"/>
              </a:rPr>
              <a:t>Those words received no human rating at all. There is nothing to memorise, so a gain there means the geometry itself moved - not a lookup table.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B"/>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ACT 2  |  THOUGHT PROCESS</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A detour: were we even reading from the right place?</a:t>
            </a:r>
            <a:endParaRPr lang="en-US" sz="3200" dirty="0"/>
          </a:p>
        </p:txBody>
      </p:sp>
      <p:sp>
        <p:nvSpPr>
          <p:cNvPr id="4" name="Text 2"/>
          <p:cNvSpPr/>
          <p:nvPr/>
        </p:nvSpPr>
        <p:spPr>
          <a:xfrm>
            <a:off x="548640" y="1371600"/>
            <a:ext cx="4846320" cy="1051560"/>
          </a:xfrm>
          <a:prstGeom prst="rect">
            <a:avLst/>
          </a:prstGeom>
          <a:noFill/>
          <a:ln/>
        </p:spPr>
        <p:txBody>
          <a:bodyPr wrap="square" lIns="0" tIns="0" rIns="0" bIns="0" rtlCol="0" anchor="ctr"/>
          <a:lstStyle/>
          <a:p>
            <a:pPr indent="0" marL="0">
              <a:buNone/>
            </a:pPr>
            <a:r>
              <a:rPr lang="en-US" sz="1350" dirty="0">
                <a:solidFill>
                  <a:srgbClr val="5A6588"/>
                </a:solidFill>
                <a:latin typeface="Calibri" pitchFamily="34" charset="0"/>
                <a:ea typeface="Calibri" pitchFamily="34" charset="-122"/>
                <a:cs typeface="Calibri" pitchFamily="34" charset="-120"/>
              </a:rPr>
              <a:t>A colleague's RoBERTa plot suggested the final layer was the worst place to read meaning from. Before trusting any of our numbers, I checked it on BERT - no training, just score all 13 layers.</a:t>
            </a:r>
            <a:endParaRPr lang="en-US" sz="1350" dirty="0"/>
          </a:p>
        </p:txBody>
      </p:sp>
      <p:sp>
        <p:nvSpPr>
          <p:cNvPr id="5" name="Shape 3"/>
          <p:cNvSpPr/>
          <p:nvPr/>
        </p:nvSpPr>
        <p:spPr>
          <a:xfrm>
            <a:off x="548640" y="2560320"/>
            <a:ext cx="2331720" cy="1371600"/>
          </a:xfrm>
          <a:prstGeom prst="roundRect">
            <a:avLst>
              <a:gd name="adj" fmla="val 5333"/>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6" name="Text 4"/>
          <p:cNvSpPr/>
          <p:nvPr/>
        </p:nvSpPr>
        <p:spPr>
          <a:xfrm>
            <a:off x="548640" y="2706624"/>
            <a:ext cx="2331720" cy="548640"/>
          </a:xfrm>
          <a:prstGeom prst="rect">
            <a:avLst/>
          </a:prstGeom>
          <a:noFill/>
          <a:ln/>
        </p:spPr>
        <p:txBody>
          <a:bodyPr wrap="square" lIns="0" tIns="0" rIns="0" bIns="0" rtlCol="0" anchor="ctr"/>
          <a:lstStyle/>
          <a:p>
            <a:pPr algn="ctr" indent="0" marL="0">
              <a:buNone/>
            </a:pPr>
            <a:r>
              <a:rPr lang="en-US" sz="2900" b="1" dirty="0">
                <a:solidFill>
                  <a:srgbClr val="E8743B"/>
                </a:solidFill>
                <a:latin typeface="Cambria" pitchFamily="34" charset="0"/>
                <a:ea typeface="Cambria" pitchFamily="34" charset="-122"/>
                <a:cs typeface="Cambria" pitchFamily="34" charset="-120"/>
              </a:rPr>
              <a:t>0.523</a:t>
            </a:r>
            <a:endParaRPr lang="en-US" sz="2900" dirty="0"/>
          </a:p>
        </p:txBody>
      </p:sp>
      <p:sp>
        <p:nvSpPr>
          <p:cNvPr id="7" name="Text 5"/>
          <p:cNvSpPr/>
          <p:nvPr/>
        </p:nvSpPr>
        <p:spPr>
          <a:xfrm>
            <a:off x="548640" y="3255264"/>
            <a:ext cx="23317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layer 7 - the peak</a:t>
            </a:r>
            <a:endParaRPr lang="en-US" sz="1100" dirty="0"/>
          </a:p>
        </p:txBody>
      </p:sp>
      <p:sp>
        <p:nvSpPr>
          <p:cNvPr id="8" name="Shape 6"/>
          <p:cNvSpPr/>
          <p:nvPr/>
        </p:nvSpPr>
        <p:spPr>
          <a:xfrm>
            <a:off x="3063240" y="2560320"/>
            <a:ext cx="2331720" cy="1371600"/>
          </a:xfrm>
          <a:prstGeom prst="roundRect">
            <a:avLst>
              <a:gd name="adj" fmla="val 5333"/>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9" name="Text 7"/>
          <p:cNvSpPr/>
          <p:nvPr/>
        </p:nvSpPr>
        <p:spPr>
          <a:xfrm>
            <a:off x="3063240" y="2706624"/>
            <a:ext cx="2331720" cy="548640"/>
          </a:xfrm>
          <a:prstGeom prst="rect">
            <a:avLst/>
          </a:prstGeom>
          <a:noFill/>
          <a:ln/>
        </p:spPr>
        <p:txBody>
          <a:bodyPr wrap="square" lIns="0" tIns="0" rIns="0" bIns="0" rtlCol="0" anchor="ctr"/>
          <a:lstStyle/>
          <a:p>
            <a:pPr algn="ctr" indent="0" marL="0">
              <a:buNone/>
            </a:pPr>
            <a:r>
              <a:rPr lang="en-US" sz="2900" b="1" dirty="0">
                <a:solidFill>
                  <a:srgbClr val="5A6588"/>
                </a:solidFill>
                <a:latin typeface="Cambria" pitchFamily="34" charset="0"/>
                <a:ea typeface="Cambria" pitchFamily="34" charset="-122"/>
                <a:cs typeface="Cambria" pitchFamily="34" charset="-120"/>
              </a:rPr>
              <a:t>0.492</a:t>
            </a:r>
            <a:endParaRPr lang="en-US" sz="2900" dirty="0"/>
          </a:p>
        </p:txBody>
      </p:sp>
      <p:sp>
        <p:nvSpPr>
          <p:cNvPr id="10" name="Text 8"/>
          <p:cNvSpPr/>
          <p:nvPr/>
        </p:nvSpPr>
        <p:spPr>
          <a:xfrm>
            <a:off x="3063240" y="3255264"/>
            <a:ext cx="2331720" cy="274320"/>
          </a:xfrm>
          <a:prstGeom prst="rect">
            <a:avLst/>
          </a:prstGeom>
          <a:noFill/>
          <a:ln/>
        </p:spPr>
        <p:txBody>
          <a:bodyPr wrap="square" lIns="0" tIns="0" rIns="0" bIns="0" rtlCol="0" anchor="ctr"/>
          <a:lstStyle/>
          <a:p>
            <a:pPr algn="ctr" indent="0" marL="0">
              <a:buNone/>
            </a:pPr>
            <a:r>
              <a:rPr lang="en-US" sz="1100" dirty="0">
                <a:solidFill>
                  <a:srgbClr val="141B34"/>
                </a:solidFill>
                <a:latin typeface="Calibri" pitchFamily="34" charset="0"/>
                <a:ea typeface="Calibri" pitchFamily="34" charset="-122"/>
                <a:cs typeface="Calibri" pitchFamily="34" charset="-120"/>
              </a:rPr>
              <a:t>layer 12 - what I used</a:t>
            </a:r>
            <a:endParaRPr lang="en-US" sz="1100" dirty="0"/>
          </a:p>
        </p:txBody>
      </p:sp>
      <p:sp>
        <p:nvSpPr>
          <p:cNvPr id="11" name="Text 9"/>
          <p:cNvSpPr/>
          <p:nvPr/>
        </p:nvSpPr>
        <p:spPr>
          <a:xfrm>
            <a:off x="548640" y="4114800"/>
            <a:ext cx="4846320" cy="914400"/>
          </a:xfrm>
          <a:prstGeom prst="rect">
            <a:avLst/>
          </a:prstGeom>
          <a:noFill/>
          <a:ln/>
        </p:spPr>
        <p:txBody>
          <a:bodyPr wrap="square" lIns="0" tIns="0" rIns="0" bIns="0" rtlCol="0" anchor="ctr"/>
          <a:lstStyle/>
          <a:p>
            <a:pPr indent="0" marL="0">
              <a:buNone/>
            </a:pPr>
            <a:r>
              <a:rPr lang="en-US" sz="1250" dirty="0">
                <a:solidFill>
                  <a:srgbClr val="5A6588"/>
                </a:solidFill>
                <a:latin typeface="Calibri" pitchFamily="34" charset="0"/>
                <a:ea typeface="Calibri" pitchFamily="34" charset="-122"/>
                <a:cs typeface="Calibri" pitchFamily="34" charset="-120"/>
              </a:rPr>
              <a:t>Confirmed, and it replicates Vulic et al. (2020): the top layers specialise for predicting masked tokens and shed general lexical structure. Barry had already landed on layer 5 for the same reason.</a:t>
            </a:r>
            <a:endParaRPr lang="en-US" sz="1250" dirty="0"/>
          </a:p>
        </p:txBody>
      </p:sp>
      <p:sp>
        <p:nvSpPr>
          <p:cNvPr id="12" name="Text 10"/>
          <p:cNvSpPr/>
          <p:nvPr/>
        </p:nvSpPr>
        <p:spPr>
          <a:xfrm>
            <a:off x="548640" y="5029200"/>
            <a:ext cx="4846320" cy="548640"/>
          </a:xfrm>
          <a:prstGeom prst="rect">
            <a:avLst/>
          </a:prstGeom>
          <a:noFill/>
          <a:ln/>
        </p:spPr>
        <p:txBody>
          <a:bodyPr wrap="square" lIns="0" tIns="0" rIns="0" bIns="0" rtlCol="0" anchor="ctr"/>
          <a:lstStyle/>
          <a:p>
            <a:pPr indent="0" marL="0">
              <a:buNone/>
            </a:pPr>
            <a:r>
              <a:rPr lang="en-US" sz="1200" b="1" i="1" dirty="0">
                <a:solidFill>
                  <a:srgbClr val="141B34"/>
                </a:solidFill>
                <a:latin typeface="Calibri" pitchFamily="34" charset="0"/>
                <a:ea typeface="Calibri" pitchFamily="34" charset="-122"/>
                <a:cs typeface="Calibri" pitchFamily="34" charset="-120"/>
              </a:rPr>
              <a:t>Sequel: freezing all but one layer barely worked at all - RSR needs the whole network to move.</a:t>
            </a:r>
            <a:endParaRPr lang="en-US" sz="1200" dirty="0"/>
          </a:p>
        </p:txBody>
      </p:sp>
      <p:graphicFrame>
        <p:nvGraphicFramePr>
          <p:cNvPr id="13" name="Chart 0" descr=""/>
          <p:cNvGraphicFramePr/>
          <p:nvPr/>
        </p:nvGraphicFramePr>
        <p:xfrm>
          <a:off x="5669280" y="1417320"/>
          <a:ext cx="5943600" cy="41605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ACT 3  |  MAKING THE COMPARISON FAIR</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Rebuilding Barry's experiments from scratch</a:t>
            </a:r>
            <a:endParaRPr lang="en-US" sz="3200" dirty="0"/>
          </a:p>
        </p:txBody>
      </p:sp>
      <p:sp>
        <p:nvSpPr>
          <p:cNvPr id="4" name="Text 2"/>
          <p:cNvSpPr/>
          <p:nvPr/>
        </p:nvSpPr>
        <p:spPr>
          <a:xfrm>
            <a:off x="548640" y="1353312"/>
            <a:ext cx="6949440" cy="502920"/>
          </a:xfrm>
          <a:prstGeom prst="rect">
            <a:avLst/>
          </a:prstGeom>
          <a:noFill/>
          <a:ln/>
        </p:spPr>
        <p:txBody>
          <a:bodyPr wrap="square" lIns="0" tIns="0" rIns="0" bIns="0" rtlCol="0" anchor="ctr"/>
          <a:lstStyle/>
          <a:p>
            <a:pPr indent="0" marL="0">
              <a:buNone/>
            </a:pPr>
            <a:r>
              <a:rPr lang="en-US" sz="1300" dirty="0">
                <a:solidFill>
                  <a:srgbClr val="5A6588"/>
                </a:solidFill>
                <a:latin typeface="Calibri" pitchFamily="34" charset="0"/>
                <a:ea typeface="Calibri" pitchFamily="34" charset="-122"/>
                <a:cs typeface="Calibri" pitchFamily="34" charset="-120"/>
              </a:rPr>
              <a:t>Before claiming our builds differ, I had to reproduce his. Fresh setup, every dataset regenerated with his own scripts, full grid on our GPU.</a:t>
            </a:r>
            <a:endParaRPr lang="en-US" sz="1300" dirty="0"/>
          </a:p>
        </p:txBody>
      </p:sp>
      <p:sp>
        <p:nvSpPr>
          <p:cNvPr id="5" name="Shape 3"/>
          <p:cNvSpPr/>
          <p:nvPr/>
        </p:nvSpPr>
        <p:spPr>
          <a:xfrm>
            <a:off x="548640" y="1965960"/>
            <a:ext cx="2651760" cy="438912"/>
          </a:xfrm>
          <a:prstGeom prst="rect">
            <a:avLst/>
          </a:prstGeom>
          <a:solidFill>
            <a:srgbClr val="141B34"/>
          </a:solidFill>
          <a:ln/>
        </p:spPr>
      </p:sp>
      <p:sp>
        <p:nvSpPr>
          <p:cNvPr id="6" name="Text 4"/>
          <p:cNvSpPr/>
          <p:nvPr/>
        </p:nvSpPr>
        <p:spPr>
          <a:xfrm>
            <a:off x="658368" y="1965960"/>
            <a:ext cx="2432304" cy="43891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Mode</a:t>
            </a:r>
            <a:endParaRPr lang="en-US" sz="1150" dirty="0"/>
          </a:p>
        </p:txBody>
      </p:sp>
      <p:sp>
        <p:nvSpPr>
          <p:cNvPr id="7" name="Shape 5"/>
          <p:cNvSpPr/>
          <p:nvPr/>
        </p:nvSpPr>
        <p:spPr>
          <a:xfrm>
            <a:off x="3200400" y="1965960"/>
            <a:ext cx="1143000" cy="438912"/>
          </a:xfrm>
          <a:prstGeom prst="rect">
            <a:avLst/>
          </a:prstGeom>
          <a:solidFill>
            <a:srgbClr val="141B34"/>
          </a:solidFill>
          <a:ln/>
        </p:spPr>
      </p:sp>
      <p:sp>
        <p:nvSpPr>
          <p:cNvPr id="8" name="Text 6"/>
          <p:cNvSpPr/>
          <p:nvPr/>
        </p:nvSpPr>
        <p:spPr>
          <a:xfrm>
            <a:off x="3310128" y="1965960"/>
            <a:ext cx="923544"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Mine</a:t>
            </a:r>
            <a:endParaRPr lang="en-US" sz="1150" dirty="0"/>
          </a:p>
        </p:txBody>
      </p:sp>
      <p:sp>
        <p:nvSpPr>
          <p:cNvPr id="9" name="Shape 7"/>
          <p:cNvSpPr/>
          <p:nvPr/>
        </p:nvSpPr>
        <p:spPr>
          <a:xfrm>
            <a:off x="4343400" y="1965960"/>
            <a:ext cx="1143000" cy="438912"/>
          </a:xfrm>
          <a:prstGeom prst="rect">
            <a:avLst/>
          </a:prstGeom>
          <a:solidFill>
            <a:srgbClr val="141B34"/>
          </a:solidFill>
          <a:ln/>
        </p:spPr>
      </p:sp>
      <p:sp>
        <p:nvSpPr>
          <p:cNvPr id="10" name="Text 8"/>
          <p:cNvSpPr/>
          <p:nvPr/>
        </p:nvSpPr>
        <p:spPr>
          <a:xfrm>
            <a:off x="4453128" y="1965960"/>
            <a:ext cx="923544"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His</a:t>
            </a:r>
            <a:endParaRPr lang="en-US" sz="1150" dirty="0"/>
          </a:p>
        </p:txBody>
      </p:sp>
      <p:sp>
        <p:nvSpPr>
          <p:cNvPr id="11" name="Shape 9"/>
          <p:cNvSpPr/>
          <p:nvPr/>
        </p:nvSpPr>
        <p:spPr>
          <a:xfrm>
            <a:off x="5486400" y="1965960"/>
            <a:ext cx="2011680" cy="438912"/>
          </a:xfrm>
          <a:prstGeom prst="rect">
            <a:avLst/>
          </a:prstGeom>
          <a:solidFill>
            <a:srgbClr val="141B34"/>
          </a:solidFill>
          <a:ln/>
        </p:spPr>
      </p:sp>
      <p:sp>
        <p:nvSpPr>
          <p:cNvPr id="12" name="Text 10"/>
          <p:cNvSpPr/>
          <p:nvPr/>
        </p:nvSpPr>
        <p:spPr>
          <a:xfrm>
            <a:off x="5596128" y="1965960"/>
            <a:ext cx="1792224" cy="43891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Verdict</a:t>
            </a:r>
            <a:endParaRPr lang="en-US" sz="1150" dirty="0"/>
          </a:p>
        </p:txBody>
      </p:sp>
      <p:sp>
        <p:nvSpPr>
          <p:cNvPr id="13" name="Shape 11"/>
          <p:cNvSpPr/>
          <p:nvPr/>
        </p:nvSpPr>
        <p:spPr>
          <a:xfrm>
            <a:off x="548640" y="2404872"/>
            <a:ext cx="2651760" cy="438912"/>
          </a:xfrm>
          <a:prstGeom prst="rect">
            <a:avLst/>
          </a:prstGeom>
          <a:solidFill>
            <a:srgbClr val="FFFFFF"/>
          </a:solidFill>
          <a:ln w="12700">
            <a:solidFill>
              <a:srgbClr val="E3E8F2"/>
            </a:solidFill>
            <a:prstDash val="solid"/>
          </a:ln>
        </p:spPr>
      </p:sp>
      <p:sp>
        <p:nvSpPr>
          <p:cNvPr id="14" name="Shape 12"/>
          <p:cNvSpPr/>
          <p:nvPr/>
        </p:nvSpPr>
        <p:spPr>
          <a:xfrm>
            <a:off x="3200400" y="2404872"/>
            <a:ext cx="1143000" cy="438912"/>
          </a:xfrm>
          <a:prstGeom prst="rect">
            <a:avLst/>
          </a:prstGeom>
          <a:solidFill>
            <a:srgbClr val="FFFFFF"/>
          </a:solidFill>
          <a:ln w="12700">
            <a:solidFill>
              <a:srgbClr val="E3E8F2"/>
            </a:solidFill>
            <a:prstDash val="solid"/>
          </a:ln>
        </p:spPr>
      </p:sp>
      <p:sp>
        <p:nvSpPr>
          <p:cNvPr id="15" name="Shape 13"/>
          <p:cNvSpPr/>
          <p:nvPr/>
        </p:nvSpPr>
        <p:spPr>
          <a:xfrm>
            <a:off x="4343400" y="2404872"/>
            <a:ext cx="1143000" cy="438912"/>
          </a:xfrm>
          <a:prstGeom prst="rect">
            <a:avLst/>
          </a:prstGeom>
          <a:solidFill>
            <a:srgbClr val="FFFFFF"/>
          </a:solidFill>
          <a:ln w="12700">
            <a:solidFill>
              <a:srgbClr val="E3E8F2"/>
            </a:solidFill>
            <a:prstDash val="solid"/>
          </a:ln>
        </p:spPr>
      </p:sp>
      <p:sp>
        <p:nvSpPr>
          <p:cNvPr id="16" name="Shape 14"/>
          <p:cNvSpPr/>
          <p:nvPr/>
        </p:nvSpPr>
        <p:spPr>
          <a:xfrm>
            <a:off x="5486400" y="2404872"/>
            <a:ext cx="2011680" cy="438912"/>
          </a:xfrm>
          <a:prstGeom prst="rect">
            <a:avLst/>
          </a:prstGeom>
          <a:solidFill>
            <a:srgbClr val="FFFFFF"/>
          </a:solidFill>
          <a:ln w="12700">
            <a:solidFill>
              <a:srgbClr val="E3E8F2"/>
            </a:solidFill>
            <a:prstDash val="solid"/>
          </a:ln>
        </p:spPr>
      </p:sp>
      <p:sp>
        <p:nvSpPr>
          <p:cNvPr id="17" name="Text 15"/>
          <p:cNvSpPr/>
          <p:nvPr/>
        </p:nvSpPr>
        <p:spPr>
          <a:xfrm>
            <a:off x="658368" y="2404872"/>
            <a:ext cx="2432304" cy="438912"/>
          </a:xfrm>
          <a:prstGeom prst="rect">
            <a:avLst/>
          </a:prstGeom>
          <a:noFill/>
          <a:ln/>
        </p:spPr>
        <p:txBody>
          <a:bodyPr wrap="square" lIns="0" tIns="0" rIns="0" bIns="0" rtlCol="0" anchor="ctr"/>
          <a:lstStyle/>
          <a:p>
            <a:pPr indent="0" marL="0">
              <a:buNone/>
            </a:pPr>
            <a:r>
              <a:rPr lang="en-US" sz="1100" dirty="0">
                <a:solidFill>
                  <a:srgbClr val="141B34"/>
                </a:solidFill>
                <a:latin typeface="Calibri" pitchFamily="34" charset="0"/>
                <a:ea typeface="Calibri" pitchFamily="34" charset="-122"/>
                <a:cs typeface="Calibri" pitchFamily="34" charset="-120"/>
              </a:rPr>
              <a:t>baseline (step 0)</a:t>
            </a:r>
            <a:endParaRPr lang="en-US" sz="1100" dirty="0"/>
          </a:p>
        </p:txBody>
      </p:sp>
      <p:sp>
        <p:nvSpPr>
          <p:cNvPr id="18" name="Text 16"/>
          <p:cNvSpPr/>
          <p:nvPr/>
        </p:nvSpPr>
        <p:spPr>
          <a:xfrm>
            <a:off x="3200400" y="2404872"/>
            <a:ext cx="1143000" cy="438912"/>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0.570</a:t>
            </a:r>
            <a:endParaRPr lang="en-US" sz="1100" dirty="0"/>
          </a:p>
        </p:txBody>
      </p:sp>
      <p:sp>
        <p:nvSpPr>
          <p:cNvPr id="19" name="Text 17"/>
          <p:cNvSpPr/>
          <p:nvPr/>
        </p:nvSpPr>
        <p:spPr>
          <a:xfrm>
            <a:off x="4343400" y="2404872"/>
            <a:ext cx="1143000" cy="438912"/>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0.557</a:t>
            </a:r>
            <a:endParaRPr lang="en-US" sz="1100" dirty="0"/>
          </a:p>
        </p:txBody>
      </p:sp>
      <p:sp>
        <p:nvSpPr>
          <p:cNvPr id="20" name="Text 18"/>
          <p:cNvSpPr/>
          <p:nvPr/>
        </p:nvSpPr>
        <p:spPr>
          <a:xfrm>
            <a:off x="5596128" y="2404872"/>
            <a:ext cx="1792224" cy="438912"/>
          </a:xfrm>
          <a:prstGeom prst="rect">
            <a:avLst/>
          </a:prstGeom>
          <a:noFill/>
          <a:ln/>
        </p:spPr>
        <p:txBody>
          <a:bodyPr wrap="square" lIns="0" tIns="0" rIns="0" bIns="0" rtlCol="0" anchor="ctr"/>
          <a:lstStyle/>
          <a:p>
            <a:pPr indent="0" marL="0">
              <a:buNone/>
            </a:pPr>
            <a:r>
              <a:rPr lang="en-US" sz="1050" dirty="0">
                <a:solidFill>
                  <a:srgbClr val="5A6588"/>
                </a:solidFill>
                <a:latin typeface="Calibri" pitchFamily="34" charset="0"/>
                <a:ea typeface="Calibri" pitchFamily="34" charset="-122"/>
                <a:cs typeface="Calibri" pitchFamily="34" charset="-120"/>
              </a:rPr>
              <a:t>matches</a:t>
            </a:r>
            <a:endParaRPr lang="en-US" sz="1050" dirty="0"/>
          </a:p>
        </p:txBody>
      </p:sp>
      <p:sp>
        <p:nvSpPr>
          <p:cNvPr id="21" name="Shape 19"/>
          <p:cNvSpPr/>
          <p:nvPr/>
        </p:nvSpPr>
        <p:spPr>
          <a:xfrm>
            <a:off x="548640" y="2843784"/>
            <a:ext cx="2651760" cy="438912"/>
          </a:xfrm>
          <a:prstGeom prst="rect">
            <a:avLst/>
          </a:prstGeom>
          <a:solidFill>
            <a:srgbClr val="F7F9FD"/>
          </a:solidFill>
          <a:ln w="12700">
            <a:solidFill>
              <a:srgbClr val="E3E8F2"/>
            </a:solidFill>
            <a:prstDash val="solid"/>
          </a:ln>
        </p:spPr>
      </p:sp>
      <p:sp>
        <p:nvSpPr>
          <p:cNvPr id="22" name="Shape 20"/>
          <p:cNvSpPr/>
          <p:nvPr/>
        </p:nvSpPr>
        <p:spPr>
          <a:xfrm>
            <a:off x="3200400" y="2843784"/>
            <a:ext cx="1143000" cy="438912"/>
          </a:xfrm>
          <a:prstGeom prst="rect">
            <a:avLst/>
          </a:prstGeom>
          <a:solidFill>
            <a:srgbClr val="F7F9FD"/>
          </a:solidFill>
          <a:ln w="12700">
            <a:solidFill>
              <a:srgbClr val="E3E8F2"/>
            </a:solidFill>
            <a:prstDash val="solid"/>
          </a:ln>
        </p:spPr>
      </p:sp>
      <p:sp>
        <p:nvSpPr>
          <p:cNvPr id="23" name="Shape 21"/>
          <p:cNvSpPr/>
          <p:nvPr/>
        </p:nvSpPr>
        <p:spPr>
          <a:xfrm>
            <a:off x="4343400" y="2843784"/>
            <a:ext cx="1143000" cy="438912"/>
          </a:xfrm>
          <a:prstGeom prst="rect">
            <a:avLst/>
          </a:prstGeom>
          <a:solidFill>
            <a:srgbClr val="F7F9FD"/>
          </a:solidFill>
          <a:ln w="12700">
            <a:solidFill>
              <a:srgbClr val="E3E8F2"/>
            </a:solidFill>
            <a:prstDash val="solid"/>
          </a:ln>
        </p:spPr>
      </p:sp>
      <p:sp>
        <p:nvSpPr>
          <p:cNvPr id="24" name="Shape 22"/>
          <p:cNvSpPr/>
          <p:nvPr/>
        </p:nvSpPr>
        <p:spPr>
          <a:xfrm>
            <a:off x="5486400" y="2843784"/>
            <a:ext cx="2011680" cy="438912"/>
          </a:xfrm>
          <a:prstGeom prst="rect">
            <a:avLst/>
          </a:prstGeom>
          <a:solidFill>
            <a:srgbClr val="F7F9FD"/>
          </a:solidFill>
          <a:ln w="12700">
            <a:solidFill>
              <a:srgbClr val="E3E8F2"/>
            </a:solidFill>
            <a:prstDash val="solid"/>
          </a:ln>
        </p:spPr>
      </p:sp>
      <p:sp>
        <p:nvSpPr>
          <p:cNvPr id="25" name="Text 23"/>
          <p:cNvSpPr/>
          <p:nvPr/>
        </p:nvSpPr>
        <p:spPr>
          <a:xfrm>
            <a:off x="658368" y="2843784"/>
            <a:ext cx="2432304" cy="438912"/>
          </a:xfrm>
          <a:prstGeom prst="rect">
            <a:avLst/>
          </a:prstGeom>
          <a:noFill/>
          <a:ln/>
        </p:spPr>
        <p:txBody>
          <a:bodyPr wrap="square" lIns="0" tIns="0" rIns="0" bIns="0" rtlCol="0" anchor="ctr"/>
          <a:lstStyle/>
          <a:p>
            <a:pPr indent="0" marL="0">
              <a:buNone/>
            </a:pPr>
            <a:r>
              <a:rPr lang="en-US" sz="1100" dirty="0">
                <a:solidFill>
                  <a:srgbClr val="141B34"/>
                </a:solidFill>
                <a:latin typeface="Calibri" pitchFamily="34" charset="0"/>
                <a:ea typeface="Calibri" pitchFamily="34" charset="-122"/>
                <a:cs typeface="Calibri" pitchFamily="34" charset="-120"/>
              </a:rPr>
              <a:t>vanilla_all</a:t>
            </a:r>
            <a:endParaRPr lang="en-US" sz="1100" dirty="0"/>
          </a:p>
        </p:txBody>
      </p:sp>
      <p:sp>
        <p:nvSpPr>
          <p:cNvPr id="26" name="Text 24"/>
          <p:cNvSpPr/>
          <p:nvPr/>
        </p:nvSpPr>
        <p:spPr>
          <a:xfrm>
            <a:off x="3200400" y="2843784"/>
            <a:ext cx="1143000" cy="438912"/>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0.560</a:t>
            </a:r>
            <a:endParaRPr lang="en-US" sz="1100" dirty="0"/>
          </a:p>
        </p:txBody>
      </p:sp>
      <p:sp>
        <p:nvSpPr>
          <p:cNvPr id="27" name="Text 25"/>
          <p:cNvSpPr/>
          <p:nvPr/>
        </p:nvSpPr>
        <p:spPr>
          <a:xfrm>
            <a:off x="4343400" y="2843784"/>
            <a:ext cx="1143000" cy="438912"/>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0.549</a:t>
            </a:r>
            <a:endParaRPr lang="en-US" sz="1100" dirty="0"/>
          </a:p>
        </p:txBody>
      </p:sp>
      <p:sp>
        <p:nvSpPr>
          <p:cNvPr id="28" name="Text 26"/>
          <p:cNvSpPr/>
          <p:nvPr/>
        </p:nvSpPr>
        <p:spPr>
          <a:xfrm>
            <a:off x="5596128" y="2843784"/>
            <a:ext cx="1792224" cy="438912"/>
          </a:xfrm>
          <a:prstGeom prst="rect">
            <a:avLst/>
          </a:prstGeom>
          <a:noFill/>
          <a:ln/>
        </p:spPr>
        <p:txBody>
          <a:bodyPr wrap="square" lIns="0" tIns="0" rIns="0" bIns="0" rtlCol="0" anchor="ctr"/>
          <a:lstStyle/>
          <a:p>
            <a:pPr indent="0" marL="0">
              <a:buNone/>
            </a:pPr>
            <a:r>
              <a:rPr lang="en-US" sz="1050" dirty="0">
                <a:solidFill>
                  <a:srgbClr val="5A6588"/>
                </a:solidFill>
                <a:latin typeface="Calibri" pitchFamily="34" charset="0"/>
                <a:ea typeface="Calibri" pitchFamily="34" charset="-122"/>
                <a:cs typeface="Calibri" pitchFamily="34" charset="-120"/>
              </a:rPr>
              <a:t>flat, as reported</a:t>
            </a:r>
            <a:endParaRPr lang="en-US" sz="1050" dirty="0"/>
          </a:p>
        </p:txBody>
      </p:sp>
      <p:sp>
        <p:nvSpPr>
          <p:cNvPr id="29" name="Shape 27"/>
          <p:cNvSpPr/>
          <p:nvPr/>
        </p:nvSpPr>
        <p:spPr>
          <a:xfrm>
            <a:off x="548640" y="3282696"/>
            <a:ext cx="2651760" cy="438912"/>
          </a:xfrm>
          <a:prstGeom prst="rect">
            <a:avLst/>
          </a:prstGeom>
          <a:solidFill>
            <a:srgbClr val="FFFFFF"/>
          </a:solidFill>
          <a:ln w="12700">
            <a:solidFill>
              <a:srgbClr val="E3E8F2"/>
            </a:solidFill>
            <a:prstDash val="solid"/>
          </a:ln>
        </p:spPr>
      </p:sp>
      <p:sp>
        <p:nvSpPr>
          <p:cNvPr id="30" name="Shape 28"/>
          <p:cNvSpPr/>
          <p:nvPr/>
        </p:nvSpPr>
        <p:spPr>
          <a:xfrm>
            <a:off x="3200400" y="3282696"/>
            <a:ext cx="1143000" cy="438912"/>
          </a:xfrm>
          <a:prstGeom prst="rect">
            <a:avLst/>
          </a:prstGeom>
          <a:solidFill>
            <a:srgbClr val="FFFFFF"/>
          </a:solidFill>
          <a:ln w="12700">
            <a:solidFill>
              <a:srgbClr val="E3E8F2"/>
            </a:solidFill>
            <a:prstDash val="solid"/>
          </a:ln>
        </p:spPr>
      </p:sp>
      <p:sp>
        <p:nvSpPr>
          <p:cNvPr id="31" name="Shape 29"/>
          <p:cNvSpPr/>
          <p:nvPr/>
        </p:nvSpPr>
        <p:spPr>
          <a:xfrm>
            <a:off x="4343400" y="3282696"/>
            <a:ext cx="1143000" cy="438912"/>
          </a:xfrm>
          <a:prstGeom prst="rect">
            <a:avLst/>
          </a:prstGeom>
          <a:solidFill>
            <a:srgbClr val="FFFFFF"/>
          </a:solidFill>
          <a:ln w="12700">
            <a:solidFill>
              <a:srgbClr val="E3E8F2"/>
            </a:solidFill>
            <a:prstDash val="solid"/>
          </a:ln>
        </p:spPr>
      </p:sp>
      <p:sp>
        <p:nvSpPr>
          <p:cNvPr id="32" name="Shape 30"/>
          <p:cNvSpPr/>
          <p:nvPr/>
        </p:nvSpPr>
        <p:spPr>
          <a:xfrm>
            <a:off x="5486400" y="3282696"/>
            <a:ext cx="2011680" cy="438912"/>
          </a:xfrm>
          <a:prstGeom prst="rect">
            <a:avLst/>
          </a:prstGeom>
          <a:solidFill>
            <a:srgbClr val="FFFFFF"/>
          </a:solidFill>
          <a:ln w="12700">
            <a:solidFill>
              <a:srgbClr val="E3E8F2"/>
            </a:solidFill>
            <a:prstDash val="solid"/>
          </a:ln>
        </p:spPr>
      </p:sp>
      <p:sp>
        <p:nvSpPr>
          <p:cNvPr id="33" name="Text 31"/>
          <p:cNvSpPr/>
          <p:nvPr/>
        </p:nvSpPr>
        <p:spPr>
          <a:xfrm>
            <a:off x="658368" y="3282696"/>
            <a:ext cx="2432304" cy="438912"/>
          </a:xfrm>
          <a:prstGeom prst="rect">
            <a:avLst/>
          </a:prstGeom>
          <a:noFill/>
          <a:ln/>
        </p:spPr>
        <p:txBody>
          <a:bodyPr wrap="square" lIns="0" tIns="0" rIns="0" bIns="0" rtlCol="0" anchor="ctr"/>
          <a:lstStyle/>
          <a:p>
            <a:pPr indent="0" marL="0">
              <a:buNone/>
            </a:pPr>
            <a:r>
              <a:rPr lang="en-US" sz="1100" dirty="0">
                <a:solidFill>
                  <a:srgbClr val="141B34"/>
                </a:solidFill>
                <a:latin typeface="Calibri" pitchFamily="34" charset="0"/>
                <a:ea typeface="Calibri" pitchFamily="34" charset="-122"/>
                <a:cs typeface="Calibri" pitchFamily="34" charset="-120"/>
              </a:rPr>
              <a:t>vanilla_targetwords</a:t>
            </a:r>
            <a:endParaRPr lang="en-US" sz="1100" dirty="0"/>
          </a:p>
        </p:txBody>
      </p:sp>
      <p:sp>
        <p:nvSpPr>
          <p:cNvPr id="34" name="Text 32"/>
          <p:cNvSpPr/>
          <p:nvPr/>
        </p:nvSpPr>
        <p:spPr>
          <a:xfrm>
            <a:off x="3200400" y="3282696"/>
            <a:ext cx="1143000" cy="438912"/>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0.571</a:t>
            </a:r>
            <a:endParaRPr lang="en-US" sz="1100" dirty="0"/>
          </a:p>
        </p:txBody>
      </p:sp>
      <p:sp>
        <p:nvSpPr>
          <p:cNvPr id="35" name="Text 33"/>
          <p:cNvSpPr/>
          <p:nvPr/>
        </p:nvSpPr>
        <p:spPr>
          <a:xfrm>
            <a:off x="4343400" y="3282696"/>
            <a:ext cx="1143000" cy="438912"/>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0.558</a:t>
            </a:r>
            <a:endParaRPr lang="en-US" sz="1100" dirty="0"/>
          </a:p>
        </p:txBody>
      </p:sp>
      <p:sp>
        <p:nvSpPr>
          <p:cNvPr id="36" name="Text 34"/>
          <p:cNvSpPr/>
          <p:nvPr/>
        </p:nvSpPr>
        <p:spPr>
          <a:xfrm>
            <a:off x="5596128" y="3282696"/>
            <a:ext cx="1792224" cy="438912"/>
          </a:xfrm>
          <a:prstGeom prst="rect">
            <a:avLst/>
          </a:prstGeom>
          <a:noFill/>
          <a:ln/>
        </p:spPr>
        <p:txBody>
          <a:bodyPr wrap="square" lIns="0" tIns="0" rIns="0" bIns="0" rtlCol="0" anchor="ctr"/>
          <a:lstStyle/>
          <a:p>
            <a:pPr indent="0" marL="0">
              <a:buNone/>
            </a:pPr>
            <a:r>
              <a:rPr lang="en-US" sz="1050" dirty="0">
                <a:solidFill>
                  <a:srgbClr val="5A6588"/>
                </a:solidFill>
                <a:latin typeface="Calibri" pitchFamily="34" charset="0"/>
                <a:ea typeface="Calibri" pitchFamily="34" charset="-122"/>
                <a:cs typeface="Calibri" pitchFamily="34" charset="-120"/>
              </a:rPr>
              <a:t>flat, as reported</a:t>
            </a:r>
            <a:endParaRPr lang="en-US" sz="1050" dirty="0"/>
          </a:p>
        </p:txBody>
      </p:sp>
      <p:sp>
        <p:nvSpPr>
          <p:cNvPr id="37" name="Shape 35"/>
          <p:cNvSpPr/>
          <p:nvPr/>
        </p:nvSpPr>
        <p:spPr>
          <a:xfrm>
            <a:off x="548640" y="3721608"/>
            <a:ext cx="2651760" cy="438912"/>
          </a:xfrm>
          <a:prstGeom prst="rect">
            <a:avLst/>
          </a:prstGeom>
          <a:solidFill>
            <a:srgbClr val="EAF6F4"/>
          </a:solidFill>
          <a:ln w="12700">
            <a:solidFill>
              <a:srgbClr val="E3E8F2"/>
            </a:solidFill>
            <a:prstDash val="solid"/>
          </a:ln>
        </p:spPr>
      </p:sp>
      <p:sp>
        <p:nvSpPr>
          <p:cNvPr id="38" name="Shape 36"/>
          <p:cNvSpPr/>
          <p:nvPr/>
        </p:nvSpPr>
        <p:spPr>
          <a:xfrm>
            <a:off x="3200400" y="3721608"/>
            <a:ext cx="1143000" cy="438912"/>
          </a:xfrm>
          <a:prstGeom prst="rect">
            <a:avLst/>
          </a:prstGeom>
          <a:solidFill>
            <a:srgbClr val="EAF6F4"/>
          </a:solidFill>
          <a:ln w="12700">
            <a:solidFill>
              <a:srgbClr val="E3E8F2"/>
            </a:solidFill>
            <a:prstDash val="solid"/>
          </a:ln>
        </p:spPr>
      </p:sp>
      <p:sp>
        <p:nvSpPr>
          <p:cNvPr id="39" name="Shape 37"/>
          <p:cNvSpPr/>
          <p:nvPr/>
        </p:nvSpPr>
        <p:spPr>
          <a:xfrm>
            <a:off x="4343400" y="3721608"/>
            <a:ext cx="1143000" cy="438912"/>
          </a:xfrm>
          <a:prstGeom prst="rect">
            <a:avLst/>
          </a:prstGeom>
          <a:solidFill>
            <a:srgbClr val="EAF6F4"/>
          </a:solidFill>
          <a:ln w="12700">
            <a:solidFill>
              <a:srgbClr val="E3E8F2"/>
            </a:solidFill>
            <a:prstDash val="solid"/>
          </a:ln>
        </p:spPr>
      </p:sp>
      <p:sp>
        <p:nvSpPr>
          <p:cNvPr id="40" name="Shape 38"/>
          <p:cNvSpPr/>
          <p:nvPr/>
        </p:nvSpPr>
        <p:spPr>
          <a:xfrm>
            <a:off x="5486400" y="3721608"/>
            <a:ext cx="2011680" cy="438912"/>
          </a:xfrm>
          <a:prstGeom prst="rect">
            <a:avLst/>
          </a:prstGeom>
          <a:solidFill>
            <a:srgbClr val="EAF6F4"/>
          </a:solidFill>
          <a:ln w="12700">
            <a:solidFill>
              <a:srgbClr val="E3E8F2"/>
            </a:solidFill>
            <a:prstDash val="solid"/>
          </a:ln>
        </p:spPr>
      </p:sp>
      <p:sp>
        <p:nvSpPr>
          <p:cNvPr id="41" name="Text 39"/>
          <p:cNvSpPr/>
          <p:nvPr/>
        </p:nvSpPr>
        <p:spPr>
          <a:xfrm>
            <a:off x="658368" y="3721608"/>
            <a:ext cx="2432304" cy="438912"/>
          </a:xfrm>
          <a:prstGeom prst="rect">
            <a:avLst/>
          </a:prstGeom>
          <a:noFill/>
          <a:ln/>
        </p:spPr>
        <p:txBody>
          <a:bodyPr wrap="square" lIns="0" tIns="0" rIns="0" bIns="0" rtlCol="0" anchor="ctr"/>
          <a:lstStyle/>
          <a:p>
            <a:pPr indent="0" marL="0">
              <a:buNone/>
            </a:pPr>
            <a:r>
              <a:rPr lang="en-US" sz="1100" b="1" dirty="0">
                <a:solidFill>
                  <a:srgbClr val="141B34"/>
                </a:solidFill>
                <a:latin typeface="Calibri" pitchFamily="34" charset="0"/>
                <a:ea typeface="Calibri" pitchFamily="34" charset="-122"/>
                <a:cs typeface="Calibri" pitchFamily="34" charset="-120"/>
              </a:rPr>
              <a:t>rsr_all (templates)</a:t>
            </a:r>
            <a:endParaRPr lang="en-US" sz="1100" dirty="0"/>
          </a:p>
        </p:txBody>
      </p:sp>
      <p:sp>
        <p:nvSpPr>
          <p:cNvPr id="42" name="Text 40"/>
          <p:cNvSpPr/>
          <p:nvPr/>
        </p:nvSpPr>
        <p:spPr>
          <a:xfrm>
            <a:off x="3200400" y="3721608"/>
            <a:ext cx="1143000" cy="438912"/>
          </a:xfrm>
          <a:prstGeom prst="rect">
            <a:avLst/>
          </a:prstGeom>
          <a:noFill/>
          <a:ln/>
        </p:spPr>
        <p:txBody>
          <a:bodyPr wrap="square" lIns="0" tIns="0" rIns="0" bIns="0" rtlCol="0" anchor="ctr"/>
          <a:lstStyle/>
          <a:p>
            <a:pPr algn="ctr" indent="0" marL="0">
              <a:buNone/>
            </a:pPr>
            <a:r>
              <a:rPr lang="en-US" sz="1100" b="1" dirty="0">
                <a:solidFill>
                  <a:srgbClr val="2A9D8F"/>
                </a:solidFill>
                <a:latin typeface="Calibri" pitchFamily="34" charset="0"/>
                <a:ea typeface="Calibri" pitchFamily="34" charset="-122"/>
                <a:cs typeface="Calibri" pitchFamily="34" charset="-120"/>
              </a:rPr>
              <a:t>0.627</a:t>
            </a:r>
            <a:endParaRPr lang="en-US" sz="1100" dirty="0"/>
          </a:p>
        </p:txBody>
      </p:sp>
      <p:sp>
        <p:nvSpPr>
          <p:cNvPr id="43" name="Text 41"/>
          <p:cNvSpPr/>
          <p:nvPr/>
        </p:nvSpPr>
        <p:spPr>
          <a:xfrm>
            <a:off x="4343400" y="3721608"/>
            <a:ext cx="1143000" cy="438912"/>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0.611</a:t>
            </a:r>
            <a:endParaRPr lang="en-US" sz="1100" dirty="0"/>
          </a:p>
        </p:txBody>
      </p:sp>
      <p:sp>
        <p:nvSpPr>
          <p:cNvPr id="44" name="Text 42"/>
          <p:cNvSpPr/>
          <p:nvPr/>
        </p:nvSpPr>
        <p:spPr>
          <a:xfrm>
            <a:off x="5596128" y="3721608"/>
            <a:ext cx="1792224" cy="438912"/>
          </a:xfrm>
          <a:prstGeom prst="rect">
            <a:avLst/>
          </a:prstGeom>
          <a:noFill/>
          <a:ln/>
        </p:spPr>
        <p:txBody>
          <a:bodyPr wrap="square" lIns="0" tIns="0" rIns="0" bIns="0" rtlCol="0" anchor="ctr"/>
          <a:lstStyle/>
          <a:p>
            <a:pPr indent="0" marL="0">
              <a:buNone/>
            </a:pPr>
            <a:r>
              <a:rPr lang="en-US" sz="1050" b="1" dirty="0">
                <a:solidFill>
                  <a:srgbClr val="2A9D8F"/>
                </a:solidFill>
                <a:latin typeface="Calibri" pitchFamily="34" charset="0"/>
                <a:ea typeface="Calibri" pitchFamily="34" charset="-122"/>
                <a:cs typeface="Calibri" pitchFamily="34" charset="-120"/>
              </a:rPr>
              <a:t>helps - confirmed</a:t>
            </a:r>
            <a:endParaRPr lang="en-US" sz="1050" dirty="0"/>
          </a:p>
        </p:txBody>
      </p:sp>
      <p:sp>
        <p:nvSpPr>
          <p:cNvPr id="45" name="Shape 43"/>
          <p:cNvSpPr/>
          <p:nvPr/>
        </p:nvSpPr>
        <p:spPr>
          <a:xfrm>
            <a:off x="548640" y="4160520"/>
            <a:ext cx="2651760" cy="438912"/>
          </a:xfrm>
          <a:prstGeom prst="rect">
            <a:avLst/>
          </a:prstGeom>
          <a:solidFill>
            <a:srgbClr val="FDF1E9"/>
          </a:solidFill>
          <a:ln w="12700">
            <a:solidFill>
              <a:srgbClr val="E3E8F2"/>
            </a:solidFill>
            <a:prstDash val="solid"/>
          </a:ln>
        </p:spPr>
      </p:sp>
      <p:sp>
        <p:nvSpPr>
          <p:cNvPr id="46" name="Shape 44"/>
          <p:cNvSpPr/>
          <p:nvPr/>
        </p:nvSpPr>
        <p:spPr>
          <a:xfrm>
            <a:off x="3200400" y="4160520"/>
            <a:ext cx="1143000" cy="438912"/>
          </a:xfrm>
          <a:prstGeom prst="rect">
            <a:avLst/>
          </a:prstGeom>
          <a:solidFill>
            <a:srgbClr val="FDF1E9"/>
          </a:solidFill>
          <a:ln w="12700">
            <a:solidFill>
              <a:srgbClr val="E3E8F2"/>
            </a:solidFill>
            <a:prstDash val="solid"/>
          </a:ln>
        </p:spPr>
      </p:sp>
      <p:sp>
        <p:nvSpPr>
          <p:cNvPr id="47" name="Shape 45"/>
          <p:cNvSpPr/>
          <p:nvPr/>
        </p:nvSpPr>
        <p:spPr>
          <a:xfrm>
            <a:off x="4343400" y="4160520"/>
            <a:ext cx="1143000" cy="438912"/>
          </a:xfrm>
          <a:prstGeom prst="rect">
            <a:avLst/>
          </a:prstGeom>
          <a:solidFill>
            <a:srgbClr val="FDF1E9"/>
          </a:solidFill>
          <a:ln w="12700">
            <a:solidFill>
              <a:srgbClr val="E3E8F2"/>
            </a:solidFill>
            <a:prstDash val="solid"/>
          </a:ln>
        </p:spPr>
      </p:sp>
      <p:sp>
        <p:nvSpPr>
          <p:cNvPr id="48" name="Shape 46"/>
          <p:cNvSpPr/>
          <p:nvPr/>
        </p:nvSpPr>
        <p:spPr>
          <a:xfrm>
            <a:off x="5486400" y="4160520"/>
            <a:ext cx="2011680" cy="438912"/>
          </a:xfrm>
          <a:prstGeom prst="rect">
            <a:avLst/>
          </a:prstGeom>
          <a:solidFill>
            <a:srgbClr val="FDF1E9"/>
          </a:solidFill>
          <a:ln w="12700">
            <a:solidFill>
              <a:srgbClr val="E3E8F2"/>
            </a:solidFill>
            <a:prstDash val="solid"/>
          </a:ln>
        </p:spPr>
      </p:sp>
      <p:sp>
        <p:nvSpPr>
          <p:cNvPr id="49" name="Text 47"/>
          <p:cNvSpPr/>
          <p:nvPr/>
        </p:nvSpPr>
        <p:spPr>
          <a:xfrm>
            <a:off x="658368" y="4160520"/>
            <a:ext cx="2432304" cy="438912"/>
          </a:xfrm>
          <a:prstGeom prst="rect">
            <a:avLst/>
          </a:prstGeom>
          <a:noFill/>
          <a:ln/>
        </p:spPr>
        <p:txBody>
          <a:bodyPr wrap="square" lIns="0" tIns="0" rIns="0" bIns="0" rtlCol="0" anchor="ctr"/>
          <a:lstStyle/>
          <a:p>
            <a:pPr indent="0" marL="0">
              <a:buNone/>
            </a:pPr>
            <a:r>
              <a:rPr lang="en-US" sz="1100" b="1" dirty="0">
                <a:solidFill>
                  <a:srgbClr val="141B34"/>
                </a:solidFill>
                <a:latin typeface="Calibri" pitchFamily="34" charset="0"/>
                <a:ea typeface="Calibri" pitchFamily="34" charset="-122"/>
                <a:cs typeface="Calibri" pitchFamily="34" charset="-120"/>
              </a:rPr>
              <a:t>rsr_targetwords (real)</a:t>
            </a:r>
            <a:endParaRPr lang="en-US" sz="1100" dirty="0"/>
          </a:p>
        </p:txBody>
      </p:sp>
      <p:sp>
        <p:nvSpPr>
          <p:cNvPr id="50" name="Text 48"/>
          <p:cNvSpPr/>
          <p:nvPr/>
        </p:nvSpPr>
        <p:spPr>
          <a:xfrm>
            <a:off x="3200400" y="4160520"/>
            <a:ext cx="1143000" cy="438912"/>
          </a:xfrm>
          <a:prstGeom prst="rect">
            <a:avLst/>
          </a:prstGeom>
          <a:noFill/>
          <a:ln/>
        </p:spPr>
        <p:txBody>
          <a:bodyPr wrap="square" lIns="0" tIns="0" rIns="0" bIns="0" rtlCol="0" anchor="ctr"/>
          <a:lstStyle/>
          <a:p>
            <a:pPr algn="ctr" indent="0" marL="0">
              <a:buNone/>
            </a:pPr>
            <a:r>
              <a:rPr lang="en-US" sz="1100" b="1" dirty="0">
                <a:solidFill>
                  <a:srgbClr val="E8743B"/>
                </a:solidFill>
                <a:latin typeface="Calibri" pitchFamily="34" charset="0"/>
                <a:ea typeface="Calibri" pitchFamily="34" charset="-122"/>
                <a:cs typeface="Calibri" pitchFamily="34" charset="-120"/>
              </a:rPr>
              <a:t>0.477</a:t>
            </a:r>
            <a:endParaRPr lang="en-US" sz="1100" dirty="0"/>
          </a:p>
        </p:txBody>
      </p:sp>
      <p:sp>
        <p:nvSpPr>
          <p:cNvPr id="51" name="Text 49"/>
          <p:cNvSpPr/>
          <p:nvPr/>
        </p:nvSpPr>
        <p:spPr>
          <a:xfrm>
            <a:off x="4343400" y="4160520"/>
            <a:ext cx="1143000" cy="438912"/>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0.486</a:t>
            </a:r>
            <a:endParaRPr lang="en-US" sz="1100" dirty="0"/>
          </a:p>
        </p:txBody>
      </p:sp>
      <p:sp>
        <p:nvSpPr>
          <p:cNvPr id="52" name="Text 50"/>
          <p:cNvSpPr/>
          <p:nvPr/>
        </p:nvSpPr>
        <p:spPr>
          <a:xfrm>
            <a:off x="5596128" y="4160520"/>
            <a:ext cx="1792224" cy="438912"/>
          </a:xfrm>
          <a:prstGeom prst="rect">
            <a:avLst/>
          </a:prstGeom>
          <a:noFill/>
          <a:ln/>
        </p:spPr>
        <p:txBody>
          <a:bodyPr wrap="square" lIns="0" tIns="0" rIns="0" bIns="0" rtlCol="0" anchor="ctr"/>
          <a:lstStyle/>
          <a:p>
            <a:pPr indent="0" marL="0">
              <a:buNone/>
            </a:pPr>
            <a:r>
              <a:rPr lang="en-US" sz="1050" b="1" dirty="0">
                <a:solidFill>
                  <a:srgbClr val="E8743B"/>
                </a:solidFill>
                <a:latin typeface="Calibri" pitchFamily="34" charset="0"/>
                <a:ea typeface="Calibri" pitchFamily="34" charset="-122"/>
                <a:cs typeface="Calibri" pitchFamily="34" charset="-120"/>
              </a:rPr>
              <a:t>collapses - confirmed</a:t>
            </a:r>
            <a:endParaRPr lang="en-US" sz="1050" dirty="0"/>
          </a:p>
        </p:txBody>
      </p:sp>
      <p:sp>
        <p:nvSpPr>
          <p:cNvPr id="53" name="Text 51"/>
          <p:cNvSpPr/>
          <p:nvPr/>
        </p:nvSpPr>
        <p:spPr>
          <a:xfrm>
            <a:off x="548640" y="4434840"/>
            <a:ext cx="6949440" cy="68580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Every finding reproduced. Ours sit about 0.013 higher throughout because our Wikipedia stream gathered 405k sentences to his 336k - the ordering and every conclusion are unchanged.</a:t>
            </a:r>
            <a:endParaRPr lang="en-US" sz="1200" dirty="0"/>
          </a:p>
        </p:txBody>
      </p:sp>
      <p:sp>
        <p:nvSpPr>
          <p:cNvPr id="54" name="Text 52"/>
          <p:cNvSpPr/>
          <p:nvPr/>
        </p:nvSpPr>
        <p:spPr>
          <a:xfrm>
            <a:off x="548640" y="5120640"/>
            <a:ext cx="6949440" cy="365760"/>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His brain-data pipeline also reproduced exactly: 2,296 voxels, the same number in his report.</a:t>
            </a:r>
            <a:endParaRPr lang="en-US" sz="1200" dirty="0"/>
          </a:p>
        </p:txBody>
      </p:sp>
      <p:sp>
        <p:nvSpPr>
          <p:cNvPr id="55" name="Shape 53"/>
          <p:cNvSpPr/>
          <p:nvPr/>
        </p:nvSpPr>
        <p:spPr>
          <a:xfrm>
            <a:off x="7863840" y="1965960"/>
            <a:ext cx="3749040" cy="1737360"/>
          </a:xfrm>
          <a:prstGeom prst="roundRect">
            <a:avLst>
              <a:gd name="adj" fmla="val 4211"/>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56" name="Text 54"/>
          <p:cNvSpPr/>
          <p:nvPr/>
        </p:nvSpPr>
        <p:spPr>
          <a:xfrm>
            <a:off x="8092440" y="2121408"/>
            <a:ext cx="3291840" cy="274320"/>
          </a:xfrm>
          <a:prstGeom prst="rect">
            <a:avLst/>
          </a:prstGeom>
          <a:noFill/>
          <a:ln/>
        </p:spPr>
        <p:txBody>
          <a:bodyPr wrap="square" lIns="0" tIns="0" rIns="0" bIns="0" rtlCol="0" anchor="ctr"/>
          <a:lstStyle/>
          <a:p>
            <a:pPr indent="0" marL="0">
              <a:buNone/>
            </a:pPr>
            <a:r>
              <a:rPr lang="en-US" sz="1400" b="1" dirty="0">
                <a:solidFill>
                  <a:srgbClr val="F2C14E"/>
                </a:solidFill>
                <a:latin typeface="Cambria" pitchFamily="34" charset="0"/>
                <a:ea typeface="Cambria" pitchFamily="34" charset="-122"/>
                <a:cs typeface="Cambria" pitchFamily="34" charset="-120"/>
              </a:rPr>
              <a:t>Found along the way</a:t>
            </a:r>
            <a:endParaRPr lang="en-US" sz="1400" dirty="0"/>
          </a:p>
        </p:txBody>
      </p:sp>
      <p:sp>
        <p:nvSpPr>
          <p:cNvPr id="57" name="Text 55"/>
          <p:cNvSpPr/>
          <p:nvPr/>
        </p:nvSpPr>
        <p:spPr>
          <a:xfrm>
            <a:off x="8092440" y="2432304"/>
            <a:ext cx="3291840" cy="82296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His report says the collapsing mode used 4 word-pairs per batch because of memory limits. The code actually uses 24, same as the mode that works.</a:t>
            </a:r>
            <a:endParaRPr lang="en-US" sz="1100" dirty="0"/>
          </a:p>
        </p:txBody>
      </p:sp>
      <p:sp>
        <p:nvSpPr>
          <p:cNvPr id="58" name="Text 56"/>
          <p:cNvSpPr/>
          <p:nvPr/>
        </p:nvSpPr>
        <p:spPr>
          <a:xfrm>
            <a:off x="8092440" y="3291840"/>
            <a:ext cx="32918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 a small-batch artefact is ruled out.</a:t>
            </a:r>
            <a:endParaRPr lang="en-US" sz="1100" dirty="0"/>
          </a:p>
        </p:txBody>
      </p:sp>
      <p:sp>
        <p:nvSpPr>
          <p:cNvPr id="59" name="Shape 57"/>
          <p:cNvSpPr/>
          <p:nvPr/>
        </p:nvSpPr>
        <p:spPr>
          <a:xfrm>
            <a:off x="7863840" y="3886200"/>
            <a:ext cx="3749040" cy="1600200"/>
          </a:xfrm>
          <a:prstGeom prst="roundRect">
            <a:avLst>
              <a:gd name="adj" fmla="val 4571"/>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60" name="Text 58"/>
          <p:cNvSpPr/>
          <p:nvPr/>
        </p:nvSpPr>
        <p:spPr>
          <a:xfrm>
            <a:off x="8092440" y="4041648"/>
            <a:ext cx="3291840" cy="274320"/>
          </a:xfrm>
          <a:prstGeom prst="rect">
            <a:avLst/>
          </a:prstGeom>
          <a:noFill/>
          <a:ln/>
        </p:spPr>
        <p:txBody>
          <a:bodyPr wrap="square" lIns="0" tIns="0" rIns="0" bIns="0" rtlCol="0" anchor="ctr"/>
          <a:lstStyle/>
          <a:p>
            <a:pPr indent="0" marL="0">
              <a:buNone/>
            </a:pPr>
            <a:r>
              <a:rPr lang="en-US" sz="1300" b="1" dirty="0">
                <a:solidFill>
                  <a:srgbClr val="141B34"/>
                </a:solidFill>
                <a:latin typeface="Cambria" pitchFamily="34" charset="0"/>
                <a:ea typeface="Cambria" pitchFamily="34" charset="-122"/>
                <a:cs typeface="Cambria" pitchFamily="34" charset="-120"/>
              </a:rPr>
              <a:t>Also worth a look</a:t>
            </a:r>
            <a:endParaRPr lang="en-US" sz="1300" dirty="0"/>
          </a:p>
        </p:txBody>
      </p:sp>
      <p:sp>
        <p:nvSpPr>
          <p:cNvPr id="61" name="Text 59"/>
          <p:cNvSpPr/>
          <p:nvPr/>
        </p:nvSpPr>
        <p:spPr>
          <a:xfrm>
            <a:off x="8092440" y="4334256"/>
            <a:ext cx="3291840" cy="1005840"/>
          </a:xfrm>
          <a:prstGeom prst="rect">
            <a:avLst/>
          </a:prstGeom>
          <a:noFill/>
          <a:ln/>
        </p:spPr>
        <p:txBody>
          <a:bodyPr wrap="square" lIns="0" tIns="0" rIns="0" bIns="0" rtlCol="0" anchor="ctr"/>
          <a:lstStyle/>
          <a:p>
            <a:pPr indent="0" marL="0">
              <a:buNone/>
            </a:pPr>
            <a:r>
              <a:rPr lang="en-US" sz="1050" dirty="0">
                <a:solidFill>
                  <a:srgbClr val="5A6588"/>
                </a:solidFill>
                <a:latin typeface="Calibri" pitchFamily="34" charset="0"/>
                <a:ea typeface="Calibri" pitchFamily="34" charset="-122"/>
                <a:cs typeface="Calibri" pitchFamily="34" charset="-120"/>
              </a:rPr>
              <a:t>The downstream GLUE table looks unconverged - stock roberta-base scores 0.000 on two tasks, and all three models tie exactly on a third. Happy to take that 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B"/>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ACT 3  |  THE CONTRADICTION</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So why does his collapse and mine improve?</a:t>
            </a:r>
            <a:endParaRPr lang="en-US" sz="3200" dirty="0"/>
          </a:p>
        </p:txBody>
      </p:sp>
      <p:sp>
        <p:nvSpPr>
          <p:cNvPr id="4" name="Shape 2"/>
          <p:cNvSpPr/>
          <p:nvPr/>
        </p:nvSpPr>
        <p:spPr>
          <a:xfrm>
            <a:off x="548640" y="1371600"/>
            <a:ext cx="5394960" cy="1691640"/>
          </a:xfrm>
          <a:prstGeom prst="roundRect">
            <a:avLst>
              <a:gd name="adj" fmla="val 4324"/>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5" name="Text 3"/>
          <p:cNvSpPr/>
          <p:nvPr/>
        </p:nvSpPr>
        <p:spPr>
          <a:xfrm>
            <a:off x="822960" y="1517904"/>
            <a:ext cx="4846320" cy="292608"/>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His finding</a:t>
            </a:r>
            <a:endParaRPr lang="en-US" sz="1600" dirty="0"/>
          </a:p>
        </p:txBody>
      </p:sp>
      <p:sp>
        <p:nvSpPr>
          <p:cNvPr id="6" name="Text 4"/>
          <p:cNvSpPr/>
          <p:nvPr/>
        </p:nvSpPr>
        <p:spPr>
          <a:xfrm>
            <a:off x="822960" y="1847088"/>
            <a:ext cx="4846320" cy="105156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RSR on real sentences collapses, 0.57 down to 0.48. His conclusion: aligning context-specific vectors to context-free human scores is inherently destructive, so RSR should only ever use templates.</a:t>
            </a:r>
            <a:endParaRPr lang="en-US" sz="1200" dirty="0"/>
          </a:p>
        </p:txBody>
      </p:sp>
      <p:sp>
        <p:nvSpPr>
          <p:cNvPr id="7" name="Shape 5"/>
          <p:cNvSpPr/>
          <p:nvPr/>
        </p:nvSpPr>
        <p:spPr>
          <a:xfrm>
            <a:off x="6217920" y="1371600"/>
            <a:ext cx="5394960" cy="1691640"/>
          </a:xfrm>
          <a:prstGeom prst="roundRect">
            <a:avLst>
              <a:gd name="adj" fmla="val 4324"/>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8" name="Text 6"/>
          <p:cNvSpPr/>
          <p:nvPr/>
        </p:nvSpPr>
        <p:spPr>
          <a:xfrm>
            <a:off x="6492240" y="1517904"/>
            <a:ext cx="4846320" cy="292608"/>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My finding</a:t>
            </a:r>
            <a:endParaRPr lang="en-US" sz="1600" dirty="0"/>
          </a:p>
        </p:txBody>
      </p:sp>
      <p:sp>
        <p:nvSpPr>
          <p:cNvPr id="9" name="Text 7"/>
          <p:cNvSpPr/>
          <p:nvPr/>
        </p:nvSpPr>
        <p:spPr>
          <a:xfrm>
            <a:off x="6492240" y="1847088"/>
            <a:ext cx="4846320" cy="105156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RSR on real sentences works. The +0.053 generalisation gain two slides ago came from exactly the setup he says cannot work. One of us is missing something.</a:t>
            </a:r>
            <a:endParaRPr lang="en-US" sz="1200" dirty="0"/>
          </a:p>
        </p:txBody>
      </p:sp>
      <p:sp>
        <p:nvSpPr>
          <p:cNvPr id="10" name="Shape 8"/>
          <p:cNvSpPr/>
          <p:nvPr/>
        </p:nvSpPr>
        <p:spPr>
          <a:xfrm>
            <a:off x="548640" y="3246120"/>
            <a:ext cx="11064240" cy="2514600"/>
          </a:xfrm>
          <a:prstGeom prst="roundRect">
            <a:avLst>
              <a:gd name="adj" fmla="val 2909"/>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11" name="Text 9"/>
          <p:cNvSpPr/>
          <p:nvPr/>
        </p:nvSpPr>
        <p:spPr>
          <a:xfrm>
            <a:off x="868680" y="3429000"/>
            <a:ext cx="73152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My hypothesis: it is the anchor, not the context</a:t>
            </a:r>
            <a:endParaRPr lang="en-US" sz="1900" dirty="0"/>
          </a:p>
        </p:txBody>
      </p:sp>
      <p:sp>
        <p:nvSpPr>
          <p:cNvPr id="12" name="Text 10"/>
          <p:cNvSpPr/>
          <p:nvPr/>
        </p:nvSpPr>
        <p:spPr>
          <a:xfrm>
            <a:off x="868680" y="3840480"/>
            <a:ext cx="7315200" cy="1371600"/>
          </a:xfrm>
          <a:prstGeom prst="rect">
            <a:avLst/>
          </a:prstGeom>
          <a:noFill/>
          <a:ln/>
        </p:spPr>
        <p:txBody>
          <a:bodyPr wrap="square" lIns="0" tIns="0" rIns="0" bIns="0" rtlCol="0" anchor="ctr"/>
          <a:lstStyle/>
          <a:p>
            <a:pPr indent="0" marL="0">
              <a:buNone/>
            </a:pPr>
            <a:r>
              <a:rPr lang="en-US" sz="1250" dirty="0">
                <a:solidFill>
                  <a:srgbClr val="AEBBD8"/>
                </a:solidFill>
                <a:latin typeface="Calibri" pitchFamily="34" charset="0"/>
                <a:ea typeface="Calibri" pitchFamily="34" charset="-122"/>
                <a:cs typeface="Calibri" pitchFamily="34" charset="-120"/>
              </a:rPr>
              <a:t>Real sentences make the signal noisy - 'bank' by a river and 'bank' for a loan give different vectors. In his design, an RSR step is pure: nothing else is in that gradient, so it chases the noise and the geometry drifts. In mine, language modelling is in every single update, holding it steady. Templates survive his design precisely because their signal is already clean, so there is nothing to drift toward.</a:t>
            </a:r>
            <a:endParaRPr lang="en-US" sz="1250" dirty="0"/>
          </a:p>
        </p:txBody>
      </p:sp>
      <p:sp>
        <p:nvSpPr>
          <p:cNvPr id="13" name="Text 11"/>
          <p:cNvSpPr/>
          <p:nvPr/>
        </p:nvSpPr>
        <p:spPr>
          <a:xfrm>
            <a:off x="868680" y="5230368"/>
            <a:ext cx="7315200" cy="365760"/>
          </a:xfrm>
          <a:prstGeom prst="rect">
            <a:avLst/>
          </a:prstGeom>
          <a:noFill/>
          <a:ln/>
        </p:spPr>
        <p:txBody>
          <a:bodyPr wrap="square" lIns="0" tIns="0" rIns="0" bIns="0" rtlCol="0" anchor="ctr"/>
          <a:lstStyle/>
          <a:p>
            <a:pPr indent="0" marL="0">
              <a:buNone/>
            </a:pPr>
            <a:r>
              <a:rPr lang="en-US" sz="1150" b="1" dirty="0">
                <a:solidFill>
                  <a:srgbClr val="F2C14E"/>
                </a:solidFill>
                <a:latin typeface="Calibri" pitchFamily="34" charset="0"/>
                <a:ea typeface="Calibri" pitchFamily="34" charset="-122"/>
                <a:cs typeface="Calibri" pitchFamily="34" charset="-120"/>
              </a:rPr>
              <a:t>Supporting evidence: my own runs using his alternating scheme also decayed. Same model, same data, only the mixing changed.</a:t>
            </a:r>
            <a:endParaRPr lang="en-US" sz="1150" dirty="0"/>
          </a:p>
        </p:txBody>
      </p:sp>
      <p:sp>
        <p:nvSpPr>
          <p:cNvPr id="14" name="Shape 12"/>
          <p:cNvSpPr/>
          <p:nvPr/>
        </p:nvSpPr>
        <p:spPr>
          <a:xfrm>
            <a:off x="8503920" y="3566160"/>
            <a:ext cx="2834640" cy="1874520"/>
          </a:xfrm>
          <a:prstGeom prst="roundRect">
            <a:avLst>
              <a:gd name="adj" fmla="val 3902"/>
            </a:avLst>
          </a:prstGeom>
          <a:solidFill>
            <a:srgbClr val="1E2A4E"/>
          </a:solidFill>
          <a:ln w="12700">
            <a:solidFill>
              <a:srgbClr val="F2C14E"/>
            </a:solidFill>
            <a:prstDash val="solid"/>
          </a:ln>
        </p:spPr>
      </p:sp>
      <p:sp>
        <p:nvSpPr>
          <p:cNvPr id="15" name="Text 13"/>
          <p:cNvSpPr/>
          <p:nvPr/>
        </p:nvSpPr>
        <p:spPr>
          <a:xfrm>
            <a:off x="8732520" y="3730752"/>
            <a:ext cx="2377440" cy="274320"/>
          </a:xfrm>
          <a:prstGeom prst="rect">
            <a:avLst/>
          </a:prstGeom>
          <a:noFill/>
          <a:ln/>
        </p:spPr>
        <p:txBody>
          <a:bodyPr wrap="square" lIns="0" tIns="0" rIns="0" bIns="0" rtlCol="0" anchor="ctr"/>
          <a:lstStyle/>
          <a:p>
            <a:pPr indent="0" marL="0">
              <a:buNone/>
            </a:pPr>
            <a:r>
              <a:rPr lang="en-US" sz="1100" b="1" spc="100" kern="0" dirty="0">
                <a:solidFill>
                  <a:srgbClr val="F2C14E"/>
                </a:solidFill>
                <a:latin typeface="Calibri" pitchFamily="34" charset="0"/>
                <a:ea typeface="Calibri" pitchFamily="34" charset="-122"/>
                <a:cs typeface="Calibri" pitchFamily="34" charset="-120"/>
              </a:rPr>
              <a:t>The deciding test</a:t>
            </a:r>
            <a:endParaRPr lang="en-US" sz="1100" dirty="0"/>
          </a:p>
        </p:txBody>
      </p:sp>
      <p:sp>
        <p:nvSpPr>
          <p:cNvPr id="16" name="Text 14"/>
          <p:cNvSpPr/>
          <p:nvPr/>
        </p:nvSpPr>
        <p:spPr>
          <a:xfrm>
            <a:off x="8732520" y="4041648"/>
            <a:ext cx="237744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Run his collapsing mode with my weighted mixing, changing nothing else.</a:t>
            </a:r>
            <a:endParaRPr lang="en-US" sz="1150" dirty="0"/>
          </a:p>
        </p:txBody>
      </p:sp>
      <p:sp>
        <p:nvSpPr>
          <p:cNvPr id="17" name="Text 15"/>
          <p:cNvSpPr/>
          <p:nvPr/>
        </p:nvSpPr>
        <p:spPr>
          <a:xfrm>
            <a:off x="8732520" y="4754880"/>
            <a:ext cx="2377440" cy="594360"/>
          </a:xfrm>
          <a:prstGeom prst="rect">
            <a:avLst/>
          </a:prstGeom>
          <a:noFill/>
          <a:ln/>
        </p:spPr>
        <p:txBody>
          <a:bodyPr wrap="square" lIns="0" tIns="0" rIns="0" bIns="0" rtlCol="0" anchor="ctr"/>
          <a:lstStyle/>
          <a:p>
            <a:pPr indent="0" marL="0">
              <a:buNone/>
            </a:pPr>
            <a:r>
              <a:rPr lang="en-US" sz="1050" i="1" dirty="0">
                <a:solidFill>
                  <a:srgbClr val="AEBBD8"/>
                </a:solidFill>
                <a:latin typeface="Calibri" pitchFamily="34" charset="0"/>
                <a:ea typeface="Calibri" pitchFamily="34" charset="-122"/>
                <a:cs typeface="Calibri" pitchFamily="34" charset="-120"/>
              </a:rPr>
              <a:t>~2 hours. If the collapse disappears, the conclusion in the report needs rewording.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ACT 3  |  PEREIRA 2018 FMRI</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The two builds help the brain in opposite places</a:t>
            </a:r>
            <a:endParaRPr lang="en-US" sz="3200" dirty="0"/>
          </a:p>
        </p:txBody>
      </p:sp>
      <p:sp>
        <p:nvSpPr>
          <p:cNvPr id="4" name="Text 2"/>
          <p:cNvSpPr/>
          <p:nvPr/>
        </p:nvSpPr>
        <p:spPr>
          <a:xfrm>
            <a:off x="548640" y="1371600"/>
            <a:ext cx="11064240" cy="411480"/>
          </a:xfrm>
          <a:prstGeom prst="rect">
            <a:avLst/>
          </a:prstGeom>
          <a:noFill/>
          <a:ln/>
        </p:spPr>
        <p:txBody>
          <a:bodyPr wrap="square" lIns="0" tIns="0" rIns="0" bIns="0" rtlCol="0" anchor="ctr"/>
          <a:lstStyle/>
          <a:p>
            <a:pPr indent="0" marL="0">
              <a:buNone/>
            </a:pPr>
            <a:r>
              <a:rPr lang="en-US" sz="1300" dirty="0">
                <a:solidFill>
                  <a:srgbClr val="5A6588"/>
                </a:solidFill>
                <a:latin typeface="Calibri" pitchFamily="34" charset="0"/>
                <a:ea typeface="Calibri" pitchFamily="34" charset="-122"/>
                <a:cs typeface="Calibri" pitchFamily="34" charset="-120"/>
              </a:rPr>
              <a:t>His harness, ported to BERT, run on identical brain data. If RSR really reshapes conceptual geometry, it should predict brain activity better - and where it helps tells us what kind of change it made.</a:t>
            </a:r>
            <a:endParaRPr lang="en-US" sz="1300" dirty="0"/>
          </a:p>
        </p:txBody>
      </p:sp>
      <p:sp>
        <p:nvSpPr>
          <p:cNvPr id="5" name="Text 3"/>
          <p:cNvSpPr/>
          <p:nvPr/>
        </p:nvSpPr>
        <p:spPr>
          <a:xfrm>
            <a:off x="2331720" y="1874520"/>
            <a:ext cx="2286000" cy="457200"/>
          </a:xfrm>
          <a:prstGeom prst="rect">
            <a:avLst/>
          </a:prstGeom>
          <a:noFill/>
          <a:ln/>
        </p:spPr>
        <p:txBody>
          <a:bodyPr wrap="square" lIns="0" tIns="0" rIns="0" bIns="0" rtlCol="0" anchor="ctr"/>
          <a:lstStyle/>
          <a:p>
            <a:pPr algn="ctr" indent="0" marL="0">
              <a:buNone/>
            </a:pPr>
            <a:r>
              <a:rPr lang="en-US" sz="1150" b="1" dirty="0">
                <a:solidFill>
                  <a:srgbClr val="141B34"/>
                </a:solidFill>
                <a:latin typeface="Calibri" pitchFamily="34" charset="0"/>
                <a:ea typeface="Calibri" pitchFamily="34" charset="-122"/>
                <a:cs typeface="Calibri" pitchFamily="34" charset="-120"/>
              </a:rPr>
              <a:t>Supervised</a:t>
            </a:r>
            <a:endParaRPr lang="en-US" sz="1150" dirty="0"/>
          </a:p>
          <a:p>
            <a:pPr algn="ctr" indent="0" marL="0">
              <a:buNone/>
            </a:pPr>
            <a:r>
              <a:rPr lang="en-US" sz="1150" b="1" dirty="0">
                <a:solidFill>
                  <a:srgbClr val="141B34"/>
                </a:solidFill>
                <a:latin typeface="Calibri" pitchFamily="34" charset="0"/>
                <a:ea typeface="Calibri" pitchFamily="34" charset="-122"/>
                <a:cs typeface="Calibri" pitchFamily="34" charset="-120"/>
              </a:rPr>
              <a:t>concepts</a:t>
            </a:r>
            <a:endParaRPr lang="en-US" sz="1150" dirty="0"/>
          </a:p>
        </p:txBody>
      </p:sp>
      <p:sp>
        <p:nvSpPr>
          <p:cNvPr id="6" name="Text 4"/>
          <p:cNvSpPr/>
          <p:nvPr/>
        </p:nvSpPr>
        <p:spPr>
          <a:xfrm>
            <a:off x="4617720" y="1993392"/>
            <a:ext cx="2286000" cy="320040"/>
          </a:xfrm>
          <a:prstGeom prst="rect">
            <a:avLst/>
          </a:prstGeom>
          <a:noFill/>
          <a:ln/>
        </p:spPr>
        <p:txBody>
          <a:bodyPr wrap="square" lIns="0" tIns="0" rIns="0" bIns="0" rtlCol="0" anchor="ctr"/>
          <a:lstStyle/>
          <a:p>
            <a:pPr algn="ctr" indent="0" marL="0">
              <a:buNone/>
            </a:pPr>
            <a:r>
              <a:rPr lang="en-US" sz="1150" b="1" dirty="0">
                <a:solidFill>
                  <a:srgbClr val="141B34"/>
                </a:solidFill>
                <a:latin typeface="Calibri" pitchFamily="34" charset="0"/>
                <a:ea typeface="Calibri" pitchFamily="34" charset="-122"/>
                <a:cs typeface="Calibri" pitchFamily="34" charset="-120"/>
              </a:rPr>
              <a:t>Never supervised</a:t>
            </a:r>
            <a:endParaRPr lang="en-US" sz="1150" dirty="0"/>
          </a:p>
        </p:txBody>
      </p:sp>
      <p:sp>
        <p:nvSpPr>
          <p:cNvPr id="7" name="Text 5"/>
          <p:cNvSpPr/>
          <p:nvPr/>
        </p:nvSpPr>
        <p:spPr>
          <a:xfrm>
            <a:off x="548640" y="2377440"/>
            <a:ext cx="1737360" cy="868680"/>
          </a:xfrm>
          <a:prstGeom prst="rect">
            <a:avLst/>
          </a:prstGeom>
          <a:noFill/>
          <a:ln/>
        </p:spPr>
        <p:txBody>
          <a:bodyPr wrap="square" lIns="0" tIns="0" rIns="0" bIns="0" rtlCol="0" anchor="ctr"/>
          <a:lstStyle/>
          <a:p>
            <a:pPr algn="r" indent="0" marL="0">
              <a:buNone/>
            </a:pPr>
            <a:r>
              <a:rPr lang="en-US" sz="1200" b="1" dirty="0">
                <a:solidFill>
                  <a:srgbClr val="141B34"/>
                </a:solidFill>
                <a:latin typeface="Calibri" pitchFamily="34" charset="0"/>
                <a:ea typeface="Calibri" pitchFamily="34" charset="-122"/>
                <a:cs typeface="Calibri" pitchFamily="34" charset="-120"/>
              </a:rPr>
              <a:t>Barry: templates</a:t>
            </a:r>
            <a:endParaRPr lang="en-US" sz="1200" dirty="0"/>
          </a:p>
        </p:txBody>
      </p:sp>
      <p:sp>
        <p:nvSpPr>
          <p:cNvPr id="8" name="Shape 6"/>
          <p:cNvSpPr/>
          <p:nvPr/>
        </p:nvSpPr>
        <p:spPr>
          <a:xfrm>
            <a:off x="2331720" y="2377440"/>
            <a:ext cx="2286000" cy="868680"/>
          </a:xfrm>
          <a:prstGeom prst="rect">
            <a:avLst/>
          </a:prstGeom>
          <a:solidFill>
            <a:srgbClr val="2A9D8F"/>
          </a:solidFill>
          <a:ln w="25400">
            <a:solidFill>
              <a:srgbClr val="FFFFFF"/>
            </a:solidFill>
            <a:prstDash val="solid"/>
          </a:ln>
        </p:spPr>
      </p:sp>
      <p:sp>
        <p:nvSpPr>
          <p:cNvPr id="9" name="Text 7"/>
          <p:cNvSpPr/>
          <p:nvPr/>
        </p:nvSpPr>
        <p:spPr>
          <a:xfrm>
            <a:off x="2331720" y="2487168"/>
            <a:ext cx="228600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+0.007</a:t>
            </a:r>
            <a:endParaRPr lang="en-US" sz="1900" dirty="0"/>
          </a:p>
        </p:txBody>
      </p:sp>
      <p:sp>
        <p:nvSpPr>
          <p:cNvPr id="10" name="Text 8"/>
          <p:cNvSpPr/>
          <p:nvPr/>
        </p:nvSpPr>
        <p:spPr>
          <a:xfrm>
            <a:off x="2331720" y="2880360"/>
            <a:ext cx="228600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helps</a:t>
            </a:r>
            <a:endParaRPr lang="en-US" sz="1000" dirty="0"/>
          </a:p>
        </p:txBody>
      </p:sp>
      <p:sp>
        <p:nvSpPr>
          <p:cNvPr id="11" name="Shape 9"/>
          <p:cNvSpPr/>
          <p:nvPr/>
        </p:nvSpPr>
        <p:spPr>
          <a:xfrm>
            <a:off x="4617720" y="2377440"/>
            <a:ext cx="2286000" cy="868680"/>
          </a:xfrm>
          <a:prstGeom prst="rect">
            <a:avLst/>
          </a:prstGeom>
          <a:solidFill>
            <a:srgbClr val="EDF1F8"/>
          </a:solidFill>
          <a:ln w="25400">
            <a:solidFill>
              <a:srgbClr val="FFFFFF"/>
            </a:solidFill>
            <a:prstDash val="solid"/>
          </a:ln>
        </p:spPr>
      </p:sp>
      <p:sp>
        <p:nvSpPr>
          <p:cNvPr id="12" name="Text 10"/>
          <p:cNvSpPr/>
          <p:nvPr/>
        </p:nvSpPr>
        <p:spPr>
          <a:xfrm>
            <a:off x="4617720" y="2487168"/>
            <a:ext cx="2286000" cy="411480"/>
          </a:xfrm>
          <a:prstGeom prst="rect">
            <a:avLst/>
          </a:prstGeom>
          <a:noFill/>
          <a:ln/>
        </p:spPr>
        <p:txBody>
          <a:bodyPr wrap="square" lIns="0" tIns="0" rIns="0" bIns="0" rtlCol="0" anchor="ctr"/>
          <a:lstStyle/>
          <a:p>
            <a:pPr algn="ctr" indent="0" marL="0">
              <a:buNone/>
            </a:pPr>
            <a:r>
              <a:rPr lang="en-US" sz="1900" b="1" dirty="0">
                <a:solidFill>
                  <a:srgbClr val="5A6588"/>
                </a:solidFill>
                <a:latin typeface="Cambria" pitchFamily="34" charset="0"/>
                <a:ea typeface="Cambria" pitchFamily="34" charset="-122"/>
                <a:cs typeface="Cambria" pitchFamily="34" charset="-120"/>
              </a:rPr>
              <a:t>-0.002</a:t>
            </a:r>
            <a:endParaRPr lang="en-US" sz="1900" dirty="0"/>
          </a:p>
        </p:txBody>
      </p:sp>
      <p:sp>
        <p:nvSpPr>
          <p:cNvPr id="13" name="Text 11"/>
          <p:cNvSpPr/>
          <p:nvPr/>
        </p:nvSpPr>
        <p:spPr>
          <a:xfrm>
            <a:off x="4617720" y="2880360"/>
            <a:ext cx="2286000" cy="274320"/>
          </a:xfrm>
          <a:prstGeom prst="rect">
            <a:avLst/>
          </a:prstGeom>
          <a:noFill/>
          <a:ln/>
        </p:spPr>
        <p:txBody>
          <a:bodyPr wrap="square" lIns="0" tIns="0" rIns="0" bIns="0" rtlCol="0" anchor="ctr"/>
          <a:lstStyle/>
          <a:p>
            <a:pPr algn="ctr" indent="0" marL="0">
              <a:buNone/>
            </a:pPr>
            <a:r>
              <a:rPr lang="en-US" sz="1000" dirty="0">
                <a:solidFill>
                  <a:srgbClr val="5A6588"/>
                </a:solidFill>
                <a:latin typeface="Calibri" pitchFamily="34" charset="0"/>
                <a:ea typeface="Calibri" pitchFamily="34" charset="-122"/>
                <a:cs typeface="Calibri" pitchFamily="34" charset="-120"/>
              </a:rPr>
              <a:t>nothing</a:t>
            </a:r>
            <a:endParaRPr lang="en-US" sz="1000" dirty="0"/>
          </a:p>
        </p:txBody>
      </p:sp>
      <p:sp>
        <p:nvSpPr>
          <p:cNvPr id="14" name="Text 12"/>
          <p:cNvSpPr/>
          <p:nvPr/>
        </p:nvSpPr>
        <p:spPr>
          <a:xfrm>
            <a:off x="548640" y="3246120"/>
            <a:ext cx="1737360" cy="868680"/>
          </a:xfrm>
          <a:prstGeom prst="rect">
            <a:avLst/>
          </a:prstGeom>
          <a:noFill/>
          <a:ln/>
        </p:spPr>
        <p:txBody>
          <a:bodyPr wrap="square" lIns="0" tIns="0" rIns="0" bIns="0" rtlCol="0" anchor="ctr"/>
          <a:lstStyle/>
          <a:p>
            <a:pPr algn="r" indent="0" marL="0">
              <a:buNone/>
            </a:pPr>
            <a:r>
              <a:rPr lang="en-US" sz="1200" b="1" dirty="0">
                <a:solidFill>
                  <a:srgbClr val="141B34"/>
                </a:solidFill>
                <a:latin typeface="Calibri" pitchFamily="34" charset="0"/>
                <a:ea typeface="Calibri" pitchFamily="34" charset="-122"/>
                <a:cs typeface="Calibri" pitchFamily="34" charset="-120"/>
              </a:rPr>
              <a:t>Mine: real context</a:t>
            </a:r>
            <a:endParaRPr lang="en-US" sz="1200" dirty="0"/>
          </a:p>
        </p:txBody>
      </p:sp>
      <p:sp>
        <p:nvSpPr>
          <p:cNvPr id="15" name="Shape 13"/>
          <p:cNvSpPr/>
          <p:nvPr/>
        </p:nvSpPr>
        <p:spPr>
          <a:xfrm>
            <a:off x="2331720" y="3246120"/>
            <a:ext cx="2286000" cy="868680"/>
          </a:xfrm>
          <a:prstGeom prst="rect">
            <a:avLst/>
          </a:prstGeom>
          <a:solidFill>
            <a:srgbClr val="EDF1F8"/>
          </a:solidFill>
          <a:ln w="25400">
            <a:solidFill>
              <a:srgbClr val="FFFFFF"/>
            </a:solidFill>
            <a:prstDash val="solid"/>
          </a:ln>
        </p:spPr>
      </p:sp>
      <p:sp>
        <p:nvSpPr>
          <p:cNvPr id="16" name="Text 14"/>
          <p:cNvSpPr/>
          <p:nvPr/>
        </p:nvSpPr>
        <p:spPr>
          <a:xfrm>
            <a:off x="2331720" y="3355848"/>
            <a:ext cx="2286000" cy="411480"/>
          </a:xfrm>
          <a:prstGeom prst="rect">
            <a:avLst/>
          </a:prstGeom>
          <a:noFill/>
          <a:ln/>
        </p:spPr>
        <p:txBody>
          <a:bodyPr wrap="square" lIns="0" tIns="0" rIns="0" bIns="0" rtlCol="0" anchor="ctr"/>
          <a:lstStyle/>
          <a:p>
            <a:pPr algn="ctr" indent="0" marL="0">
              <a:buNone/>
            </a:pPr>
            <a:r>
              <a:rPr lang="en-US" sz="1900" b="1" dirty="0">
                <a:solidFill>
                  <a:srgbClr val="5A6588"/>
                </a:solidFill>
                <a:latin typeface="Cambria" pitchFamily="34" charset="0"/>
                <a:ea typeface="Cambria" pitchFamily="34" charset="-122"/>
                <a:cs typeface="Cambria" pitchFamily="34" charset="-120"/>
              </a:rPr>
              <a:t>-0.008</a:t>
            </a:r>
            <a:endParaRPr lang="en-US" sz="1900" dirty="0"/>
          </a:p>
        </p:txBody>
      </p:sp>
      <p:sp>
        <p:nvSpPr>
          <p:cNvPr id="17" name="Text 15"/>
          <p:cNvSpPr/>
          <p:nvPr/>
        </p:nvSpPr>
        <p:spPr>
          <a:xfrm>
            <a:off x="2331720" y="3749040"/>
            <a:ext cx="2286000" cy="274320"/>
          </a:xfrm>
          <a:prstGeom prst="rect">
            <a:avLst/>
          </a:prstGeom>
          <a:noFill/>
          <a:ln/>
        </p:spPr>
        <p:txBody>
          <a:bodyPr wrap="square" lIns="0" tIns="0" rIns="0" bIns="0" rtlCol="0" anchor="ctr"/>
          <a:lstStyle/>
          <a:p>
            <a:pPr algn="ctr" indent="0" marL="0">
              <a:buNone/>
            </a:pPr>
            <a:r>
              <a:rPr lang="en-US" sz="1000" dirty="0">
                <a:solidFill>
                  <a:srgbClr val="5A6588"/>
                </a:solidFill>
                <a:latin typeface="Calibri" pitchFamily="34" charset="0"/>
                <a:ea typeface="Calibri" pitchFamily="34" charset="-122"/>
                <a:cs typeface="Calibri" pitchFamily="34" charset="-120"/>
              </a:rPr>
              <a:t>nothing</a:t>
            </a:r>
            <a:endParaRPr lang="en-US" sz="1000" dirty="0"/>
          </a:p>
        </p:txBody>
      </p:sp>
      <p:sp>
        <p:nvSpPr>
          <p:cNvPr id="18" name="Shape 16"/>
          <p:cNvSpPr/>
          <p:nvPr/>
        </p:nvSpPr>
        <p:spPr>
          <a:xfrm>
            <a:off x="4617720" y="3246120"/>
            <a:ext cx="2286000" cy="868680"/>
          </a:xfrm>
          <a:prstGeom prst="rect">
            <a:avLst/>
          </a:prstGeom>
          <a:solidFill>
            <a:srgbClr val="E8743B"/>
          </a:solidFill>
          <a:ln w="25400">
            <a:solidFill>
              <a:srgbClr val="FFFFFF"/>
            </a:solidFill>
            <a:prstDash val="solid"/>
          </a:ln>
        </p:spPr>
      </p:sp>
      <p:sp>
        <p:nvSpPr>
          <p:cNvPr id="19" name="Text 17"/>
          <p:cNvSpPr/>
          <p:nvPr/>
        </p:nvSpPr>
        <p:spPr>
          <a:xfrm>
            <a:off x="4617720" y="3355848"/>
            <a:ext cx="228600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+0.078</a:t>
            </a:r>
            <a:endParaRPr lang="en-US" sz="1900" dirty="0"/>
          </a:p>
        </p:txBody>
      </p:sp>
      <p:sp>
        <p:nvSpPr>
          <p:cNvPr id="20" name="Text 18"/>
          <p:cNvSpPr/>
          <p:nvPr/>
        </p:nvSpPr>
        <p:spPr>
          <a:xfrm>
            <a:off x="4617720" y="3749040"/>
            <a:ext cx="228600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helps</a:t>
            </a:r>
            <a:endParaRPr lang="en-US" sz="1000" dirty="0"/>
          </a:p>
        </p:txBody>
      </p:sp>
      <p:sp>
        <p:nvSpPr>
          <p:cNvPr id="21" name="Text 19"/>
          <p:cNvSpPr/>
          <p:nvPr/>
        </p:nvSpPr>
        <p:spPr>
          <a:xfrm>
            <a:off x="548640" y="4206240"/>
            <a:ext cx="6309360" cy="64008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RSA gain over the matched MLM control. A clean double dissociation: his method moves the words it trained on, mine moves the ones it never saw.</a:t>
            </a:r>
            <a:endParaRPr lang="en-US" sz="1200" dirty="0"/>
          </a:p>
        </p:txBody>
      </p:sp>
      <p:sp>
        <p:nvSpPr>
          <p:cNvPr id="22" name="Shape 20"/>
          <p:cNvSpPr/>
          <p:nvPr/>
        </p:nvSpPr>
        <p:spPr>
          <a:xfrm>
            <a:off x="548640" y="4937760"/>
            <a:ext cx="6309360" cy="1143000"/>
          </a:xfrm>
          <a:prstGeom prst="roundRect">
            <a:avLst>
              <a:gd name="adj" fmla="val 6400"/>
            </a:avLst>
          </a:prstGeom>
          <a:solidFill>
            <a:srgbClr val="2E1F14"/>
          </a:solidFill>
          <a:ln w="12700">
            <a:solidFill>
              <a:srgbClr val="E8743B"/>
            </a:solidFill>
            <a:prstDash val="solid"/>
          </a:ln>
          <a:effectLst>
            <a:outerShdw sx="100000" sy="100000" kx="0" ky="0" algn="bl" rotWithShape="0" blurRad="127000" dist="25400" dir="5400000">
              <a:srgbClr val="8899BB">
                <a:alpha val="18000"/>
              </a:srgbClr>
            </a:outerShdw>
          </a:effectLst>
        </p:spPr>
      </p:sp>
      <p:sp>
        <p:nvSpPr>
          <p:cNvPr id="23" name="Text 21"/>
          <p:cNvSpPr/>
          <p:nvPr/>
        </p:nvSpPr>
        <p:spPr>
          <a:xfrm>
            <a:off x="777240" y="5074920"/>
            <a:ext cx="5852160" cy="274320"/>
          </a:xfrm>
          <a:prstGeom prst="rect">
            <a:avLst/>
          </a:prstGeom>
          <a:noFill/>
          <a:ln/>
        </p:spPr>
        <p:txBody>
          <a:bodyPr wrap="square" lIns="0" tIns="0" rIns="0" bIns="0" rtlCol="0" anchor="ctr"/>
          <a:lstStyle/>
          <a:p>
            <a:pPr indent="0" marL="0">
              <a:buNone/>
            </a:pPr>
            <a:r>
              <a:rPr lang="en-US" sz="1100" b="1" spc="100" kern="0" dirty="0">
                <a:solidFill>
                  <a:srgbClr val="F2C14E"/>
                </a:solidFill>
                <a:latin typeface="Calibri" pitchFamily="34" charset="0"/>
                <a:ea typeface="Calibri" pitchFamily="34" charset="-122"/>
                <a:cs typeface="Calibri" pitchFamily="34" charset="-120"/>
              </a:rPr>
              <a:t>Read cautiously</a:t>
            </a:r>
            <a:endParaRPr lang="en-US" sz="1100" dirty="0"/>
          </a:p>
        </p:txBody>
      </p:sp>
      <p:sp>
        <p:nvSpPr>
          <p:cNvPr id="24" name="Text 22"/>
          <p:cNvSpPr/>
          <p:nvPr/>
        </p:nvSpPr>
        <p:spPr>
          <a:xfrm>
            <a:off x="777240" y="5349240"/>
            <a:ext cx="5852160" cy="640080"/>
          </a:xfrm>
          <a:prstGeom prst="rect">
            <a:avLst/>
          </a:prstGeom>
          <a:noFill/>
          <a:ln/>
        </p:spPr>
        <p:txBody>
          <a:bodyPr wrap="square" lIns="0" tIns="0" rIns="0" bIns="0" rtlCol="0" anchor="ctr"/>
          <a:lstStyle/>
          <a:p>
            <a:pPr indent="0" marL="0">
              <a:buNone/>
            </a:pPr>
            <a:r>
              <a:rPr lang="en-US" sz="1100" dirty="0">
                <a:solidFill>
                  <a:srgbClr val="F5C4A8"/>
                </a:solidFill>
                <a:latin typeface="Calibri" pitchFamily="34" charset="0"/>
                <a:ea typeface="Calibri" pitchFamily="34" charset="-122"/>
                <a:cs typeface="Calibri" pitchFamily="34" charset="-120"/>
              </a:rPr>
              <a:t>Only 3 subjects so far - Google throttled the remaining downloads. The headline effect is p = 0.068: same direction in every subject and every upper layer, but not yet significant. Seven subjects to go.</a:t>
            </a:r>
            <a:endParaRPr lang="en-US" sz="1100" dirty="0"/>
          </a:p>
        </p:txBody>
      </p:sp>
      <p:sp>
        <p:nvSpPr>
          <p:cNvPr id="25" name="Shape 23"/>
          <p:cNvSpPr/>
          <p:nvPr/>
        </p:nvSpPr>
        <p:spPr>
          <a:xfrm>
            <a:off x="7132320" y="1874520"/>
            <a:ext cx="4480560" cy="4206240"/>
          </a:xfrm>
          <a:prstGeom prst="roundRect">
            <a:avLst>
              <a:gd name="adj" fmla="val 1739"/>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26" name="Text 24"/>
          <p:cNvSpPr/>
          <p:nvPr/>
        </p:nvSpPr>
        <p:spPr>
          <a:xfrm>
            <a:off x="7406640" y="2057400"/>
            <a:ext cx="39319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And it deepens through the stack</a:t>
            </a:r>
            <a:endParaRPr lang="en-US" sz="1500" dirty="0"/>
          </a:p>
        </p:txBody>
      </p:sp>
      <p:sp>
        <p:nvSpPr>
          <p:cNvPr id="27" name="Text 25"/>
          <p:cNvSpPr/>
          <p:nvPr/>
        </p:nvSpPr>
        <p:spPr>
          <a:xfrm>
            <a:off x="7406640" y="2395728"/>
            <a:ext cx="3931920" cy="320040"/>
          </a:xfrm>
          <a:prstGeom prst="rect">
            <a:avLst/>
          </a:prstGeom>
          <a:noFill/>
          <a:ln/>
        </p:spPr>
        <p:txBody>
          <a:bodyPr wrap="square" lIns="0" tIns="0" rIns="0" bIns="0" rtlCol="0" anchor="ctr"/>
          <a:lstStyle/>
          <a:p>
            <a:pPr indent="0" marL="0">
              <a:buNone/>
            </a:pPr>
            <a:r>
              <a:rPr lang="en-US" sz="1100" dirty="0">
                <a:solidFill>
                  <a:srgbClr val="8595BC"/>
                </a:solidFill>
                <a:latin typeface="Calibri" pitchFamily="34" charset="0"/>
                <a:ea typeface="Calibri" pitchFamily="34" charset="-122"/>
                <a:cs typeface="Calibri" pitchFamily="34" charset="-120"/>
              </a:rPr>
              <a:t>My advantage on never-supervised concepts, by layer:</a:t>
            </a:r>
            <a:endParaRPr lang="en-US" sz="1100" dirty="0"/>
          </a:p>
        </p:txBody>
      </p:sp>
      <p:sp>
        <p:nvSpPr>
          <p:cNvPr id="28" name="Text 26"/>
          <p:cNvSpPr/>
          <p:nvPr/>
        </p:nvSpPr>
        <p:spPr>
          <a:xfrm>
            <a:off x="7406640" y="2834640"/>
            <a:ext cx="5029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L7</a:t>
            </a:r>
            <a:endParaRPr lang="en-US" sz="1100" dirty="0"/>
          </a:p>
        </p:txBody>
      </p:sp>
      <p:sp>
        <p:nvSpPr>
          <p:cNvPr id="29" name="Shape 27"/>
          <p:cNvSpPr/>
          <p:nvPr/>
        </p:nvSpPr>
        <p:spPr>
          <a:xfrm>
            <a:off x="7955280" y="2889504"/>
            <a:ext cx="1016391" cy="219456"/>
          </a:xfrm>
          <a:prstGeom prst="rect">
            <a:avLst/>
          </a:prstGeom>
          <a:solidFill>
            <a:srgbClr val="3E5488"/>
          </a:solidFill>
          <a:ln/>
        </p:spPr>
      </p:sp>
      <p:sp>
        <p:nvSpPr>
          <p:cNvPr id="30" name="Text 28"/>
          <p:cNvSpPr/>
          <p:nvPr/>
        </p:nvSpPr>
        <p:spPr>
          <a:xfrm>
            <a:off x="10378440" y="2834640"/>
            <a:ext cx="9601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+0.034</a:t>
            </a:r>
            <a:endParaRPr lang="en-US" sz="1100" dirty="0"/>
          </a:p>
        </p:txBody>
      </p:sp>
      <p:sp>
        <p:nvSpPr>
          <p:cNvPr id="31" name="Text 29"/>
          <p:cNvSpPr/>
          <p:nvPr/>
        </p:nvSpPr>
        <p:spPr>
          <a:xfrm>
            <a:off x="7406640" y="3291840"/>
            <a:ext cx="5029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L8</a:t>
            </a:r>
            <a:endParaRPr lang="en-US" sz="1100" dirty="0"/>
          </a:p>
        </p:txBody>
      </p:sp>
      <p:sp>
        <p:nvSpPr>
          <p:cNvPr id="32" name="Shape 30"/>
          <p:cNvSpPr/>
          <p:nvPr/>
        </p:nvSpPr>
        <p:spPr>
          <a:xfrm>
            <a:off x="7955280" y="3346704"/>
            <a:ext cx="866922" cy="219456"/>
          </a:xfrm>
          <a:prstGeom prst="rect">
            <a:avLst/>
          </a:prstGeom>
          <a:solidFill>
            <a:srgbClr val="3E5488"/>
          </a:solidFill>
          <a:ln/>
        </p:spPr>
      </p:sp>
      <p:sp>
        <p:nvSpPr>
          <p:cNvPr id="33" name="Text 31"/>
          <p:cNvSpPr/>
          <p:nvPr/>
        </p:nvSpPr>
        <p:spPr>
          <a:xfrm>
            <a:off x="10378440" y="3291840"/>
            <a:ext cx="9601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+0.029</a:t>
            </a:r>
            <a:endParaRPr lang="en-US" sz="1100" dirty="0"/>
          </a:p>
        </p:txBody>
      </p:sp>
      <p:sp>
        <p:nvSpPr>
          <p:cNvPr id="34" name="Text 32"/>
          <p:cNvSpPr/>
          <p:nvPr/>
        </p:nvSpPr>
        <p:spPr>
          <a:xfrm>
            <a:off x="7406640" y="3749040"/>
            <a:ext cx="5029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L9</a:t>
            </a:r>
            <a:endParaRPr lang="en-US" sz="1100" dirty="0"/>
          </a:p>
        </p:txBody>
      </p:sp>
      <p:sp>
        <p:nvSpPr>
          <p:cNvPr id="35" name="Shape 33"/>
          <p:cNvSpPr/>
          <p:nvPr/>
        </p:nvSpPr>
        <p:spPr>
          <a:xfrm>
            <a:off x="7955280" y="3803904"/>
            <a:ext cx="807134" cy="219456"/>
          </a:xfrm>
          <a:prstGeom prst="rect">
            <a:avLst/>
          </a:prstGeom>
          <a:solidFill>
            <a:srgbClr val="3E5488"/>
          </a:solidFill>
          <a:ln/>
        </p:spPr>
      </p:sp>
      <p:sp>
        <p:nvSpPr>
          <p:cNvPr id="36" name="Text 34"/>
          <p:cNvSpPr/>
          <p:nvPr/>
        </p:nvSpPr>
        <p:spPr>
          <a:xfrm>
            <a:off x="10378440" y="3749040"/>
            <a:ext cx="9601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+0.027</a:t>
            </a:r>
            <a:endParaRPr lang="en-US" sz="1100" dirty="0"/>
          </a:p>
        </p:txBody>
      </p:sp>
      <p:sp>
        <p:nvSpPr>
          <p:cNvPr id="37" name="Text 35"/>
          <p:cNvSpPr/>
          <p:nvPr/>
        </p:nvSpPr>
        <p:spPr>
          <a:xfrm>
            <a:off x="7406640" y="4206240"/>
            <a:ext cx="5029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L10</a:t>
            </a:r>
            <a:endParaRPr lang="en-US" sz="1100" dirty="0"/>
          </a:p>
        </p:txBody>
      </p:sp>
      <p:sp>
        <p:nvSpPr>
          <p:cNvPr id="38" name="Shape 36"/>
          <p:cNvSpPr/>
          <p:nvPr/>
        </p:nvSpPr>
        <p:spPr>
          <a:xfrm>
            <a:off x="7955280" y="4261104"/>
            <a:ext cx="1016391" cy="219456"/>
          </a:xfrm>
          <a:prstGeom prst="rect">
            <a:avLst/>
          </a:prstGeom>
          <a:solidFill>
            <a:srgbClr val="3E5488"/>
          </a:solidFill>
          <a:ln/>
        </p:spPr>
      </p:sp>
      <p:sp>
        <p:nvSpPr>
          <p:cNvPr id="39" name="Text 37"/>
          <p:cNvSpPr/>
          <p:nvPr/>
        </p:nvSpPr>
        <p:spPr>
          <a:xfrm>
            <a:off x="10378440" y="4206240"/>
            <a:ext cx="9601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+0.034</a:t>
            </a:r>
            <a:endParaRPr lang="en-US" sz="1100" dirty="0"/>
          </a:p>
        </p:txBody>
      </p:sp>
      <p:sp>
        <p:nvSpPr>
          <p:cNvPr id="40" name="Text 38"/>
          <p:cNvSpPr/>
          <p:nvPr/>
        </p:nvSpPr>
        <p:spPr>
          <a:xfrm>
            <a:off x="7406640" y="4663440"/>
            <a:ext cx="5029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L11</a:t>
            </a:r>
            <a:endParaRPr lang="en-US" sz="1100" dirty="0"/>
          </a:p>
        </p:txBody>
      </p:sp>
      <p:sp>
        <p:nvSpPr>
          <p:cNvPr id="41" name="Shape 39"/>
          <p:cNvSpPr/>
          <p:nvPr/>
        </p:nvSpPr>
        <p:spPr>
          <a:xfrm>
            <a:off x="7955280" y="4718304"/>
            <a:ext cx="1375117" cy="219456"/>
          </a:xfrm>
          <a:prstGeom prst="rect">
            <a:avLst/>
          </a:prstGeom>
          <a:solidFill>
            <a:srgbClr val="3E5488"/>
          </a:solidFill>
          <a:ln/>
        </p:spPr>
      </p:sp>
      <p:sp>
        <p:nvSpPr>
          <p:cNvPr id="42" name="Text 40"/>
          <p:cNvSpPr/>
          <p:nvPr/>
        </p:nvSpPr>
        <p:spPr>
          <a:xfrm>
            <a:off x="10378440" y="4663440"/>
            <a:ext cx="9601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+0.046</a:t>
            </a:r>
            <a:endParaRPr lang="en-US" sz="1100" dirty="0"/>
          </a:p>
        </p:txBody>
      </p:sp>
      <p:sp>
        <p:nvSpPr>
          <p:cNvPr id="43" name="Text 41"/>
          <p:cNvSpPr/>
          <p:nvPr/>
        </p:nvSpPr>
        <p:spPr>
          <a:xfrm>
            <a:off x="7406640" y="5120640"/>
            <a:ext cx="502920" cy="320040"/>
          </a:xfrm>
          <a:prstGeom prst="rect">
            <a:avLst/>
          </a:prstGeom>
          <a:noFill/>
          <a:ln/>
        </p:spPr>
        <p:txBody>
          <a:bodyPr wrap="square" lIns="0" tIns="0" rIns="0" bIns="0" rtlCol="0" anchor="ctr"/>
          <a:lstStyle/>
          <a:p>
            <a:pPr indent="0" marL="0">
              <a:buNone/>
            </a:pPr>
            <a:r>
              <a:rPr lang="en-US" sz="1100" dirty="0">
                <a:solidFill>
                  <a:srgbClr val="AEBBD8"/>
                </a:solidFill>
                <a:latin typeface="Calibri" pitchFamily="34" charset="0"/>
                <a:ea typeface="Calibri" pitchFamily="34" charset="-122"/>
                <a:cs typeface="Calibri" pitchFamily="34" charset="-120"/>
              </a:rPr>
              <a:t>L12</a:t>
            </a:r>
            <a:endParaRPr lang="en-US" sz="1100" dirty="0"/>
          </a:p>
        </p:txBody>
      </p:sp>
      <p:sp>
        <p:nvSpPr>
          <p:cNvPr id="44" name="Shape 42"/>
          <p:cNvSpPr/>
          <p:nvPr/>
        </p:nvSpPr>
        <p:spPr>
          <a:xfrm>
            <a:off x="7955280" y="5175504"/>
            <a:ext cx="2331720" cy="219456"/>
          </a:xfrm>
          <a:prstGeom prst="rect">
            <a:avLst/>
          </a:prstGeom>
          <a:solidFill>
            <a:srgbClr val="E8743B"/>
          </a:solidFill>
          <a:ln/>
        </p:spPr>
      </p:sp>
      <p:sp>
        <p:nvSpPr>
          <p:cNvPr id="45" name="Text 43"/>
          <p:cNvSpPr/>
          <p:nvPr/>
        </p:nvSpPr>
        <p:spPr>
          <a:xfrm>
            <a:off x="10378440" y="5120640"/>
            <a:ext cx="960120" cy="320040"/>
          </a:xfrm>
          <a:prstGeom prst="rect">
            <a:avLst/>
          </a:prstGeom>
          <a:noFill/>
          <a:ln/>
        </p:spPr>
        <p:txBody>
          <a:bodyPr wrap="square" lIns="0" tIns="0" rIns="0" bIns="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+0.078</a:t>
            </a:r>
            <a:endParaRPr lang="en-US" sz="1100" dirty="0"/>
          </a:p>
        </p:txBody>
      </p:sp>
      <p:sp>
        <p:nvSpPr>
          <p:cNvPr id="46" name="Text 44"/>
          <p:cNvSpPr/>
          <p:nvPr/>
        </p:nvSpPr>
        <p:spPr>
          <a:xfrm>
            <a:off x="7406640" y="5577840"/>
            <a:ext cx="3931920" cy="457200"/>
          </a:xfrm>
          <a:prstGeom prst="rect">
            <a:avLst/>
          </a:prstGeom>
          <a:noFill/>
          <a:ln/>
        </p:spPr>
        <p:txBody>
          <a:bodyPr wrap="square" lIns="0" tIns="0" rIns="0" bIns="0" rtlCol="0" anchor="ctr"/>
          <a:lstStyle/>
          <a:p>
            <a:pPr indent="0" marL="0">
              <a:buNone/>
            </a:pPr>
            <a:r>
              <a:rPr lang="en-US" sz="1050" i="1" dirty="0">
                <a:solidFill>
                  <a:srgbClr val="8595BC"/>
                </a:solidFill>
                <a:latin typeface="Calibri" pitchFamily="34" charset="0"/>
                <a:ea typeface="Calibri" pitchFamily="34" charset="-122"/>
                <a:cs typeface="Calibri" pitchFamily="34" charset="-120"/>
              </a:rPr>
              <a:t>The same upward propagation Barry found for his encoding models: the correction is built upon by later layers, not merely preserved.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THE WHOLE SYSTEM  |  AND WHERE WE ARE IN IT</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The finished pipeline, end to end</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ctr"/>
          <a:lstStyle/>
          <a:p>
            <a:pPr indent="0" marL="0">
              <a:buNone/>
            </a:pPr>
            <a:r>
              <a:rPr lang="en-US" sz="1250" dirty="0">
                <a:solidFill>
                  <a:srgbClr val="5A6588"/>
                </a:solidFill>
                <a:latin typeface="Calibri" pitchFamily="34" charset="0"/>
                <a:ea typeface="Calibri" pitchFamily="34" charset="-122"/>
                <a:cs typeface="Calibri" pitchFamily="34" charset="-120"/>
              </a:rPr>
              <a:t>One command should take raw datasets to a defended claim. Badges show what is built and what is outstanding.</a:t>
            </a:r>
            <a:endParaRPr lang="en-US" sz="1250" dirty="0"/>
          </a:p>
        </p:txBody>
      </p:sp>
      <p:sp>
        <p:nvSpPr>
          <p:cNvPr id="5" name="Text 3"/>
          <p:cNvSpPr/>
          <p:nvPr/>
        </p:nvSpPr>
        <p:spPr>
          <a:xfrm>
            <a:off x="548640" y="1783080"/>
            <a:ext cx="2194560" cy="256032"/>
          </a:xfrm>
          <a:prstGeom prst="rect">
            <a:avLst/>
          </a:prstGeom>
          <a:noFill/>
          <a:ln/>
        </p:spPr>
        <p:txBody>
          <a:bodyPr wrap="square" lIns="0" tIns="0" rIns="0" bIns="0" rtlCol="0" anchor="ctr"/>
          <a:lstStyle/>
          <a:p>
            <a:pPr indent="0" marL="0">
              <a:buNone/>
            </a:pPr>
            <a:r>
              <a:rPr lang="en-US" sz="1050" b="1" spc="100" kern="0" dirty="0">
                <a:solidFill>
                  <a:srgbClr val="E8743B"/>
                </a:solidFill>
                <a:latin typeface="Calibri" pitchFamily="34" charset="0"/>
                <a:ea typeface="Calibri" pitchFamily="34" charset="-122"/>
                <a:cs typeface="Calibri" pitchFamily="34" charset="-120"/>
              </a:rPr>
              <a:t>1.  INPUTS</a:t>
            </a:r>
            <a:endParaRPr lang="en-US" sz="1050" dirty="0"/>
          </a:p>
        </p:txBody>
      </p:sp>
      <p:sp>
        <p:nvSpPr>
          <p:cNvPr id="6" name="Shape 4"/>
          <p:cNvSpPr/>
          <p:nvPr/>
        </p:nvSpPr>
        <p:spPr>
          <a:xfrm>
            <a:off x="548640" y="2103120"/>
            <a:ext cx="2194560" cy="1600200"/>
          </a:xfrm>
          <a:prstGeom prst="roundRect">
            <a:avLst>
              <a:gd name="adj" fmla="val 4571"/>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7" name="Text 5"/>
          <p:cNvSpPr/>
          <p:nvPr/>
        </p:nvSpPr>
        <p:spPr>
          <a:xfrm>
            <a:off x="731520" y="2240280"/>
            <a:ext cx="1828800" cy="274320"/>
          </a:xfrm>
          <a:prstGeom prst="rect">
            <a:avLst/>
          </a:prstGeom>
          <a:noFill/>
          <a:ln/>
        </p:spPr>
        <p:txBody>
          <a:bodyPr wrap="square" lIns="0" tIns="0" rIns="0" bIns="0" rtlCol="0" anchor="ctr"/>
          <a:lstStyle/>
          <a:p>
            <a:pPr indent="0" marL="0">
              <a:buNone/>
            </a:pPr>
            <a:r>
              <a:rPr lang="en-US" sz="1300" b="1" dirty="0">
                <a:solidFill>
                  <a:srgbClr val="141B34"/>
                </a:solidFill>
                <a:latin typeface="Cambria" pitchFamily="34" charset="0"/>
                <a:ea typeface="Cambria" pitchFamily="34" charset="-122"/>
                <a:cs typeface="Cambria" pitchFamily="34" charset="-120"/>
              </a:rPr>
              <a:t>Human similarity</a:t>
            </a:r>
            <a:endParaRPr lang="en-US" sz="1300" dirty="0"/>
          </a:p>
        </p:txBody>
      </p:sp>
      <p:sp>
        <p:nvSpPr>
          <p:cNvPr id="8" name="Text 6"/>
          <p:cNvSpPr/>
          <p:nvPr/>
        </p:nvSpPr>
        <p:spPr>
          <a:xfrm>
            <a:off x="731520" y="2542032"/>
            <a:ext cx="1828800" cy="868680"/>
          </a:xfrm>
          <a:prstGeom prst="rect">
            <a:avLst/>
          </a:prstGeom>
          <a:noFill/>
          <a:ln/>
        </p:spPr>
        <p:txBody>
          <a:bodyPr wrap="square" lIns="0" tIns="0" rIns="0" bIns="0" rtlCol="0" anchor="ctr"/>
          <a:lstStyle/>
          <a:p>
            <a:pPr indent="0" marL="0">
              <a:buNone/>
            </a:pPr>
            <a:r>
              <a:rPr lang="en-US" sz="1000" dirty="0">
                <a:solidFill>
                  <a:srgbClr val="5A6588"/>
                </a:solidFill>
                <a:latin typeface="Calibri" pitchFamily="34" charset="0"/>
                <a:ea typeface="Calibri" pitchFamily="34" charset="-122"/>
                <a:cs typeface="Calibri" pitchFamily="34" charset="-120"/>
              </a:rPr>
              <a:t>SimVerb-3500 + THINGS,</a:t>
            </a:r>
            <a:endParaRPr lang="en-US" sz="1000" dirty="0"/>
          </a:p>
          <a:p>
            <a:pPr indent="0" marL="0">
              <a:buNone/>
            </a:pPr>
            <a:r>
              <a:rPr lang="en-US" sz="1000" dirty="0">
                <a:solidFill>
                  <a:srgbClr val="5A6588"/>
                </a:solidFill>
                <a:latin typeface="Calibri" pitchFamily="34" charset="0"/>
                <a:ea typeface="Calibri" pitchFamily="34" charset="-122"/>
                <a:cs typeface="Calibri" pitchFamily="34" charset="-120"/>
              </a:rPr>
              <a:t>pooled and normalised.</a:t>
            </a:r>
            <a:endParaRPr lang="en-US" sz="1000" dirty="0"/>
          </a:p>
          <a:p>
            <a:pPr indent="0" marL="0">
              <a:buNone/>
            </a:pPr>
            <a:r>
              <a:rPr lang="en-US" sz="1000" dirty="0">
                <a:solidFill>
                  <a:srgbClr val="5A6588"/>
                </a:solidFill>
                <a:latin typeface="Calibri" pitchFamily="34" charset="0"/>
                <a:ea typeface="Calibri" pitchFamily="34" charset="-122"/>
                <a:cs typeface="Calibri" pitchFamily="34" charset="-120"/>
              </a:rPr>
              <a:t>Any pair overlapping</a:t>
            </a:r>
            <a:endParaRPr lang="en-US" sz="1000" dirty="0"/>
          </a:p>
          <a:p>
            <a:pPr indent="0" marL="0">
              <a:buNone/>
            </a:pPr>
            <a:r>
              <a:rPr lang="en-US" sz="1000" dirty="0">
                <a:solidFill>
                  <a:srgbClr val="5A6588"/>
                </a:solidFill>
                <a:latin typeface="Calibri" pitchFamily="34" charset="0"/>
                <a:ea typeface="Calibri" pitchFamily="34" charset="-122"/>
                <a:cs typeface="Calibri" pitchFamily="34" charset="-120"/>
              </a:rPr>
              <a:t>SimLex is removed.</a:t>
            </a:r>
            <a:endParaRPr lang="en-US" sz="1000" dirty="0"/>
          </a:p>
        </p:txBody>
      </p:sp>
      <p:sp>
        <p:nvSpPr>
          <p:cNvPr id="9" name="Shape 7"/>
          <p:cNvSpPr/>
          <p:nvPr/>
        </p:nvSpPr>
        <p:spPr>
          <a:xfrm>
            <a:off x="731520" y="3401568"/>
            <a:ext cx="749808" cy="219456"/>
          </a:xfrm>
          <a:prstGeom prst="roundRect">
            <a:avLst>
              <a:gd name="adj" fmla="val 41667"/>
            </a:avLst>
          </a:prstGeom>
          <a:solidFill>
            <a:srgbClr val="2A9D8F"/>
          </a:solidFill>
          <a:ln/>
        </p:spPr>
      </p:sp>
      <p:sp>
        <p:nvSpPr>
          <p:cNvPr id="10" name="Text 8"/>
          <p:cNvSpPr/>
          <p:nvPr/>
        </p:nvSpPr>
        <p:spPr>
          <a:xfrm>
            <a:off x="731520" y="3401568"/>
            <a:ext cx="74980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BUILT</a:t>
            </a:r>
            <a:endParaRPr lang="en-US" sz="800" dirty="0"/>
          </a:p>
        </p:txBody>
      </p:sp>
      <p:sp>
        <p:nvSpPr>
          <p:cNvPr id="11" name="Shape 9"/>
          <p:cNvSpPr/>
          <p:nvPr/>
        </p:nvSpPr>
        <p:spPr>
          <a:xfrm>
            <a:off x="548640" y="3840480"/>
            <a:ext cx="2194560" cy="1600200"/>
          </a:xfrm>
          <a:prstGeom prst="roundRect">
            <a:avLst>
              <a:gd name="adj" fmla="val 4571"/>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2" name="Text 10"/>
          <p:cNvSpPr/>
          <p:nvPr/>
        </p:nvSpPr>
        <p:spPr>
          <a:xfrm>
            <a:off x="731520" y="3977640"/>
            <a:ext cx="1828800" cy="274320"/>
          </a:xfrm>
          <a:prstGeom prst="rect">
            <a:avLst/>
          </a:prstGeom>
          <a:noFill/>
          <a:ln/>
        </p:spPr>
        <p:txBody>
          <a:bodyPr wrap="square" lIns="0" tIns="0" rIns="0" bIns="0" rtlCol="0" anchor="ctr"/>
          <a:lstStyle/>
          <a:p>
            <a:pPr indent="0" marL="0">
              <a:buNone/>
            </a:pPr>
            <a:r>
              <a:rPr lang="en-US" sz="1300" b="1" dirty="0">
                <a:solidFill>
                  <a:srgbClr val="141B34"/>
                </a:solidFill>
                <a:latin typeface="Cambria" pitchFamily="34" charset="0"/>
                <a:ea typeface="Cambria" pitchFamily="34" charset="-122"/>
                <a:cs typeface="Cambria" pitchFamily="34" charset="-120"/>
              </a:rPr>
              <a:t>Contexts</a:t>
            </a:r>
            <a:endParaRPr lang="en-US" sz="1300" dirty="0"/>
          </a:p>
        </p:txBody>
      </p:sp>
      <p:sp>
        <p:nvSpPr>
          <p:cNvPr id="13" name="Text 11"/>
          <p:cNvSpPr/>
          <p:nvPr/>
        </p:nvSpPr>
        <p:spPr>
          <a:xfrm>
            <a:off x="731520" y="4279392"/>
            <a:ext cx="1828800" cy="868680"/>
          </a:xfrm>
          <a:prstGeom prst="rect">
            <a:avLst/>
          </a:prstGeom>
          <a:noFill/>
          <a:ln/>
        </p:spPr>
        <p:txBody>
          <a:bodyPr wrap="square" lIns="0" tIns="0" rIns="0" bIns="0" rtlCol="0" anchor="ctr"/>
          <a:lstStyle/>
          <a:p>
            <a:pPr indent="0" marL="0">
              <a:buNone/>
            </a:pPr>
            <a:r>
              <a:rPr lang="en-US" sz="1000" dirty="0">
                <a:solidFill>
                  <a:srgbClr val="5A6588"/>
                </a:solidFill>
                <a:latin typeface="Calibri" pitchFamily="34" charset="0"/>
                <a:ea typeface="Calibri" pitchFamily="34" charset="-122"/>
                <a:cs typeface="Calibri" pitchFamily="34" charset="-120"/>
              </a:rPr>
              <a:t>60 Wikipedia sentences</a:t>
            </a:r>
            <a:endParaRPr lang="en-US" sz="1000" dirty="0"/>
          </a:p>
          <a:p>
            <a:pPr indent="0" marL="0">
              <a:buNone/>
            </a:pPr>
            <a:r>
              <a:rPr lang="en-US" sz="1000" dirty="0">
                <a:solidFill>
                  <a:srgbClr val="5A6588"/>
                </a:solidFill>
                <a:latin typeface="Calibri" pitchFamily="34" charset="0"/>
                <a:ea typeface="Calibri" pitchFamily="34" charset="-122"/>
                <a:cs typeface="Calibri" pitchFamily="34" charset="-120"/>
              </a:rPr>
              <a:t>per target word, split</a:t>
            </a:r>
            <a:endParaRPr lang="en-US" sz="1000" dirty="0"/>
          </a:p>
          <a:p>
            <a:pPr indent="0" marL="0">
              <a:buNone/>
            </a:pPr>
            <a:r>
              <a:rPr lang="en-US" sz="1000" dirty="0">
                <a:solidFill>
                  <a:srgbClr val="5A6588"/>
                </a:solidFill>
                <a:latin typeface="Calibri" pitchFamily="34" charset="0"/>
                <a:ea typeface="Calibri" pitchFamily="34" charset="-122"/>
                <a:cs typeface="Calibri" pitchFamily="34" charset="-120"/>
              </a:rPr>
              <a:t>30 for training and</a:t>
            </a:r>
            <a:endParaRPr lang="en-US" sz="1000" dirty="0"/>
          </a:p>
          <a:p>
            <a:pPr indent="0" marL="0">
              <a:buNone/>
            </a:pPr>
            <a:r>
              <a:rPr lang="en-US" sz="1000" dirty="0">
                <a:solidFill>
                  <a:srgbClr val="5A6588"/>
                </a:solidFill>
                <a:latin typeface="Calibri" pitchFamily="34" charset="0"/>
                <a:ea typeface="Calibri" pitchFamily="34" charset="-122"/>
                <a:cs typeface="Calibri" pitchFamily="34" charset="-120"/>
              </a:rPr>
              <a:t>30 held out for eval.</a:t>
            </a:r>
            <a:endParaRPr lang="en-US" sz="1000" dirty="0"/>
          </a:p>
        </p:txBody>
      </p:sp>
      <p:sp>
        <p:nvSpPr>
          <p:cNvPr id="14" name="Shape 12"/>
          <p:cNvSpPr/>
          <p:nvPr/>
        </p:nvSpPr>
        <p:spPr>
          <a:xfrm>
            <a:off x="731520" y="5138928"/>
            <a:ext cx="749808" cy="219456"/>
          </a:xfrm>
          <a:prstGeom prst="roundRect">
            <a:avLst>
              <a:gd name="adj" fmla="val 41667"/>
            </a:avLst>
          </a:prstGeom>
          <a:solidFill>
            <a:srgbClr val="2A9D8F"/>
          </a:solidFill>
          <a:ln/>
        </p:spPr>
      </p:sp>
      <p:sp>
        <p:nvSpPr>
          <p:cNvPr id="15" name="Text 13"/>
          <p:cNvSpPr/>
          <p:nvPr/>
        </p:nvSpPr>
        <p:spPr>
          <a:xfrm>
            <a:off x="731520" y="5138928"/>
            <a:ext cx="74980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BUILT</a:t>
            </a:r>
            <a:endParaRPr lang="en-US" sz="800" dirty="0"/>
          </a:p>
        </p:txBody>
      </p:sp>
      <p:sp>
        <p:nvSpPr>
          <p:cNvPr id="16" name="Shape 14"/>
          <p:cNvSpPr/>
          <p:nvPr/>
        </p:nvSpPr>
        <p:spPr>
          <a:xfrm>
            <a:off x="2816352" y="3611880"/>
            <a:ext cx="292608" cy="237744"/>
          </a:xfrm>
          <a:prstGeom prst="rightArrow">
            <a:avLst/>
          </a:prstGeom>
          <a:solidFill>
            <a:srgbClr val="B9C4DC"/>
          </a:solidFill>
          <a:ln/>
        </p:spPr>
      </p:sp>
      <p:sp>
        <p:nvSpPr>
          <p:cNvPr id="17" name="Text 15"/>
          <p:cNvSpPr/>
          <p:nvPr/>
        </p:nvSpPr>
        <p:spPr>
          <a:xfrm>
            <a:off x="3200400" y="1783080"/>
            <a:ext cx="2743200" cy="256032"/>
          </a:xfrm>
          <a:prstGeom prst="rect">
            <a:avLst/>
          </a:prstGeom>
          <a:noFill/>
          <a:ln/>
        </p:spPr>
        <p:txBody>
          <a:bodyPr wrap="square" lIns="0" tIns="0" rIns="0" bIns="0" rtlCol="0" anchor="ctr"/>
          <a:lstStyle/>
          <a:p>
            <a:pPr indent="0" marL="0">
              <a:buNone/>
            </a:pPr>
            <a:r>
              <a:rPr lang="en-US" sz="1050" b="1" spc="100" kern="0" dirty="0">
                <a:solidFill>
                  <a:srgbClr val="E8743B"/>
                </a:solidFill>
                <a:latin typeface="Calibri" pitchFamily="34" charset="0"/>
                <a:ea typeface="Calibri" pitchFamily="34" charset="-122"/>
                <a:cs typeface="Calibri" pitchFamily="34" charset="-120"/>
              </a:rPr>
              <a:t>2.  CONTINUED PRE-TRAINING</a:t>
            </a:r>
            <a:endParaRPr lang="en-US" sz="1050" dirty="0"/>
          </a:p>
        </p:txBody>
      </p:sp>
      <p:sp>
        <p:nvSpPr>
          <p:cNvPr id="18" name="Shape 16"/>
          <p:cNvSpPr/>
          <p:nvPr/>
        </p:nvSpPr>
        <p:spPr>
          <a:xfrm>
            <a:off x="3200400" y="2103120"/>
            <a:ext cx="2697480" cy="3337560"/>
          </a:xfrm>
          <a:prstGeom prst="roundRect">
            <a:avLst>
              <a:gd name="adj" fmla="val 2712"/>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19" name="Text 17"/>
          <p:cNvSpPr/>
          <p:nvPr/>
        </p:nvSpPr>
        <p:spPr>
          <a:xfrm>
            <a:off x="3401568" y="2240280"/>
            <a:ext cx="22860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Start from pretrained BERT</a:t>
            </a:r>
            <a:endParaRPr lang="en-US" sz="1250" dirty="0"/>
          </a:p>
        </p:txBody>
      </p:sp>
      <p:sp>
        <p:nvSpPr>
          <p:cNvPr id="20" name="Text 18"/>
          <p:cNvSpPr/>
          <p:nvPr/>
        </p:nvSpPr>
        <p:spPr>
          <a:xfrm>
            <a:off x="3401568" y="2560320"/>
            <a:ext cx="2286000" cy="256032"/>
          </a:xfrm>
          <a:prstGeom prst="rect">
            <a:avLst/>
          </a:prstGeom>
          <a:noFill/>
          <a:ln/>
        </p:spPr>
        <p:txBody>
          <a:bodyPr wrap="square" lIns="0" tIns="0" rIns="0" bIns="0" rtlCol="0" anchor="ctr"/>
          <a:lstStyle/>
          <a:p>
            <a:pPr indent="0" marL="0">
              <a:buNone/>
            </a:pPr>
            <a:r>
              <a:rPr lang="en-US" sz="1000" dirty="0">
                <a:solidFill>
                  <a:srgbClr val="8595BC"/>
                </a:solidFill>
                <a:latin typeface="Calibri" pitchFamily="34" charset="0"/>
                <a:ea typeface="Calibri" pitchFamily="34" charset="-122"/>
                <a:cs typeface="Calibri" pitchFamily="34" charset="-120"/>
              </a:rPr>
              <a:t>Every batch computes both:</a:t>
            </a:r>
            <a:endParaRPr lang="en-US" sz="1000" dirty="0"/>
          </a:p>
        </p:txBody>
      </p:sp>
      <p:sp>
        <p:nvSpPr>
          <p:cNvPr id="21" name="Shape 19"/>
          <p:cNvSpPr/>
          <p:nvPr/>
        </p:nvSpPr>
        <p:spPr>
          <a:xfrm>
            <a:off x="3401568" y="2834640"/>
            <a:ext cx="2286000" cy="566928"/>
          </a:xfrm>
          <a:prstGeom prst="roundRect">
            <a:avLst>
              <a:gd name="adj" fmla="val 9677"/>
            </a:avLst>
          </a:prstGeom>
          <a:solidFill>
            <a:srgbClr val="1E2A4E"/>
          </a:solidFill>
          <a:ln/>
        </p:spPr>
      </p:sp>
      <p:sp>
        <p:nvSpPr>
          <p:cNvPr id="22" name="Text 20"/>
          <p:cNvSpPr/>
          <p:nvPr/>
        </p:nvSpPr>
        <p:spPr>
          <a:xfrm>
            <a:off x="3520440" y="2889504"/>
            <a:ext cx="2011680" cy="219456"/>
          </a:xfrm>
          <a:prstGeom prst="rect">
            <a:avLst/>
          </a:prstGeom>
          <a:noFill/>
          <a:ln/>
        </p:spPr>
        <p:txBody>
          <a:bodyPr wrap="square" lIns="0" tIns="0" rIns="0" bIns="0" rtlCol="0" anchor="ctr"/>
          <a:lstStyle/>
          <a:p>
            <a:pPr indent="0" marL="0">
              <a:buNone/>
            </a:pPr>
            <a:r>
              <a:rPr lang="en-US" sz="1000" b="1" dirty="0">
                <a:solidFill>
                  <a:srgbClr val="E8743B"/>
                </a:solidFill>
                <a:latin typeface="Calibri" pitchFamily="34" charset="0"/>
                <a:ea typeface="Calibri" pitchFamily="34" charset="-122"/>
                <a:cs typeface="Calibri" pitchFamily="34" charset="-120"/>
              </a:rPr>
              <a:t>RSR</a:t>
            </a:r>
            <a:endParaRPr lang="en-US" sz="1000" dirty="0"/>
          </a:p>
        </p:txBody>
      </p:sp>
      <p:sp>
        <p:nvSpPr>
          <p:cNvPr id="23" name="Text 21"/>
          <p:cNvSpPr/>
          <p:nvPr/>
        </p:nvSpPr>
        <p:spPr>
          <a:xfrm>
            <a:off x="3520440" y="3090672"/>
            <a:ext cx="2057400" cy="292608"/>
          </a:xfrm>
          <a:prstGeom prst="rect">
            <a:avLst/>
          </a:prstGeom>
          <a:noFill/>
          <a:ln/>
        </p:spPr>
        <p:txBody>
          <a:bodyPr wrap="square" lIns="0" tIns="0" rIns="0" bIns="0" rtlCol="0" anchor="ctr"/>
          <a:lstStyle/>
          <a:p>
            <a:pPr indent="0" marL="0">
              <a:buNone/>
            </a:pPr>
            <a:r>
              <a:rPr lang="en-US" sz="850" dirty="0">
                <a:solidFill>
                  <a:srgbClr val="AEBBD8"/>
                </a:solidFill>
                <a:latin typeface="Calibri" pitchFamily="34" charset="0"/>
                <a:ea typeface="Calibri" pitchFamily="34" charset="-122"/>
                <a:cs typeface="Calibri" pitchFamily="34" charset="-120"/>
              </a:rPr>
              <a:t>words in context -&gt; cosine RDM</a:t>
            </a:r>
            <a:endParaRPr lang="en-US" sz="850" dirty="0"/>
          </a:p>
          <a:p>
            <a:pPr indent="0" marL="0">
              <a:buNone/>
            </a:pPr>
            <a:r>
              <a:rPr lang="en-US" sz="850" dirty="0">
                <a:solidFill>
                  <a:srgbClr val="AEBBD8"/>
                </a:solidFill>
                <a:latin typeface="Calibri" pitchFamily="34" charset="0"/>
                <a:ea typeface="Calibri" pitchFamily="34" charset="-122"/>
                <a:cs typeface="Calibri" pitchFamily="34" charset="-120"/>
              </a:rPr>
              <a:t>-&gt; soft Spearman vs humans</a:t>
            </a:r>
            <a:endParaRPr lang="en-US" sz="850" dirty="0"/>
          </a:p>
        </p:txBody>
      </p:sp>
      <p:sp>
        <p:nvSpPr>
          <p:cNvPr id="24" name="Shape 22"/>
          <p:cNvSpPr/>
          <p:nvPr/>
        </p:nvSpPr>
        <p:spPr>
          <a:xfrm>
            <a:off x="3401568" y="3474720"/>
            <a:ext cx="2286000" cy="457200"/>
          </a:xfrm>
          <a:prstGeom prst="roundRect">
            <a:avLst>
              <a:gd name="adj" fmla="val 12000"/>
            </a:avLst>
          </a:prstGeom>
          <a:solidFill>
            <a:srgbClr val="1E2A4E"/>
          </a:solidFill>
          <a:ln/>
        </p:spPr>
      </p:sp>
      <p:sp>
        <p:nvSpPr>
          <p:cNvPr id="25" name="Text 23"/>
          <p:cNvSpPr/>
          <p:nvPr/>
        </p:nvSpPr>
        <p:spPr>
          <a:xfrm>
            <a:off x="3520440" y="3520440"/>
            <a:ext cx="2011680" cy="219456"/>
          </a:xfrm>
          <a:prstGeom prst="rect">
            <a:avLst/>
          </a:prstGeom>
          <a:noFill/>
          <a:ln/>
        </p:spPr>
        <p:txBody>
          <a:bodyPr wrap="square" lIns="0" tIns="0" rIns="0" bIns="0" rtlCol="0" anchor="ctr"/>
          <a:lstStyle/>
          <a:p>
            <a:pPr indent="0" marL="0">
              <a:buNone/>
            </a:pPr>
            <a:r>
              <a:rPr lang="en-US" sz="1000" b="1" dirty="0">
                <a:solidFill>
                  <a:srgbClr val="2A9D8F"/>
                </a:solidFill>
                <a:latin typeface="Calibri" pitchFamily="34" charset="0"/>
                <a:ea typeface="Calibri" pitchFamily="34" charset="-122"/>
                <a:cs typeface="Calibri" pitchFamily="34" charset="-120"/>
              </a:rPr>
              <a:t>MLM</a:t>
            </a:r>
            <a:endParaRPr lang="en-US" sz="1000" dirty="0"/>
          </a:p>
        </p:txBody>
      </p:sp>
      <p:sp>
        <p:nvSpPr>
          <p:cNvPr id="26" name="Text 24"/>
          <p:cNvSpPr/>
          <p:nvPr/>
        </p:nvSpPr>
        <p:spPr>
          <a:xfrm>
            <a:off x="3520440" y="3703320"/>
            <a:ext cx="2057400" cy="201168"/>
          </a:xfrm>
          <a:prstGeom prst="rect">
            <a:avLst/>
          </a:prstGeom>
          <a:noFill/>
          <a:ln/>
        </p:spPr>
        <p:txBody>
          <a:bodyPr wrap="square" lIns="0" tIns="0" rIns="0" bIns="0" rtlCol="0" anchor="ctr"/>
          <a:lstStyle/>
          <a:p>
            <a:pPr indent="0" marL="0">
              <a:buNone/>
            </a:pPr>
            <a:r>
              <a:rPr lang="en-US" sz="850" dirty="0">
                <a:solidFill>
                  <a:srgbClr val="AEBBD8"/>
                </a:solidFill>
                <a:latin typeface="Calibri" pitchFamily="34" charset="0"/>
                <a:ea typeface="Calibri" pitchFamily="34" charset="-122"/>
                <a:cs typeface="Calibri" pitchFamily="34" charset="-120"/>
              </a:rPr>
              <a:t>the anchor: keeps it a language model</a:t>
            </a:r>
            <a:endParaRPr lang="en-US" sz="850" dirty="0"/>
          </a:p>
        </p:txBody>
      </p:sp>
      <p:sp>
        <p:nvSpPr>
          <p:cNvPr id="27" name="Text 25"/>
          <p:cNvSpPr/>
          <p:nvPr/>
        </p:nvSpPr>
        <p:spPr>
          <a:xfrm>
            <a:off x="3401568" y="4041648"/>
            <a:ext cx="2286000" cy="274320"/>
          </a:xfrm>
          <a:prstGeom prst="rect">
            <a:avLst/>
          </a:prstGeom>
          <a:noFill/>
          <a:ln/>
        </p:spPr>
        <p:txBody>
          <a:bodyPr wrap="square" lIns="0" tIns="0" rIns="0" bIns="0" rtlCol="0" anchor="ctr"/>
          <a:lstStyle/>
          <a:p>
            <a:pPr algn="ctr" indent="0" marL="0">
              <a:buNone/>
            </a:pPr>
            <a:r>
              <a:rPr lang="en-US" sz="1150" b="1" dirty="0">
                <a:solidFill>
                  <a:srgbClr val="F2C14E"/>
                </a:solidFill>
                <a:latin typeface="Cambria" pitchFamily="34" charset="0"/>
                <a:ea typeface="Cambria" pitchFamily="34" charset="-122"/>
                <a:cs typeface="Cambria" pitchFamily="34" charset="-120"/>
              </a:rPr>
              <a:t>loss = (1-L) MLM  +  L RSR</a:t>
            </a:r>
            <a:endParaRPr lang="en-US" sz="1150" dirty="0"/>
          </a:p>
        </p:txBody>
      </p:sp>
      <p:sp>
        <p:nvSpPr>
          <p:cNvPr id="28" name="Text 26"/>
          <p:cNvSpPr/>
          <p:nvPr/>
        </p:nvSpPr>
        <p:spPr>
          <a:xfrm>
            <a:off x="3401568" y="4389120"/>
            <a:ext cx="2286000" cy="640080"/>
          </a:xfrm>
          <a:prstGeom prst="rect">
            <a:avLst/>
          </a:prstGeom>
          <a:noFill/>
          <a:ln/>
        </p:spPr>
        <p:txBody>
          <a:bodyPr wrap="square" lIns="0" tIns="0" rIns="0" bIns="0" rtlCol="0" anchor="ctr"/>
          <a:lstStyle/>
          <a:p>
            <a:pPr indent="0" marL="0">
              <a:buNone/>
            </a:pPr>
            <a:r>
              <a:rPr lang="en-US" sz="950" dirty="0">
                <a:solidFill>
                  <a:srgbClr val="8595BC"/>
                </a:solidFill>
                <a:latin typeface="Calibri" pitchFamily="34" charset="0"/>
                <a:ea typeface="Calibri" pitchFamily="34" charset="-122"/>
                <a:cs typeface="Calibri" pitchFamily="34" charset="-120"/>
              </a:rPr>
              <a:t>Score held-out SimLex every 100 steps and keep the best checkpoint, because RSR overshoots if left running.</a:t>
            </a:r>
            <a:endParaRPr lang="en-US" sz="950" dirty="0"/>
          </a:p>
        </p:txBody>
      </p:sp>
      <p:sp>
        <p:nvSpPr>
          <p:cNvPr id="29" name="Shape 27"/>
          <p:cNvSpPr/>
          <p:nvPr/>
        </p:nvSpPr>
        <p:spPr>
          <a:xfrm>
            <a:off x="3401568" y="5074920"/>
            <a:ext cx="749808" cy="219456"/>
          </a:xfrm>
          <a:prstGeom prst="roundRect">
            <a:avLst>
              <a:gd name="adj" fmla="val 41667"/>
            </a:avLst>
          </a:prstGeom>
          <a:solidFill>
            <a:srgbClr val="2A9D8F"/>
          </a:solidFill>
          <a:ln/>
        </p:spPr>
      </p:sp>
      <p:sp>
        <p:nvSpPr>
          <p:cNvPr id="30" name="Text 28"/>
          <p:cNvSpPr/>
          <p:nvPr/>
        </p:nvSpPr>
        <p:spPr>
          <a:xfrm>
            <a:off x="3401568" y="5074920"/>
            <a:ext cx="74980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BUILT</a:t>
            </a:r>
            <a:endParaRPr lang="en-US" sz="800" dirty="0"/>
          </a:p>
        </p:txBody>
      </p:sp>
      <p:sp>
        <p:nvSpPr>
          <p:cNvPr id="31" name="Shape 29"/>
          <p:cNvSpPr/>
          <p:nvPr/>
        </p:nvSpPr>
        <p:spPr>
          <a:xfrm>
            <a:off x="5971032" y="3611880"/>
            <a:ext cx="292608" cy="237744"/>
          </a:xfrm>
          <a:prstGeom prst="rightArrow">
            <a:avLst/>
          </a:prstGeom>
          <a:solidFill>
            <a:srgbClr val="B9C4DC"/>
          </a:solidFill>
          <a:ln/>
        </p:spPr>
      </p:sp>
      <p:sp>
        <p:nvSpPr>
          <p:cNvPr id="32" name="Text 30"/>
          <p:cNvSpPr/>
          <p:nvPr/>
        </p:nvSpPr>
        <p:spPr>
          <a:xfrm>
            <a:off x="6355080" y="1783080"/>
            <a:ext cx="3291840" cy="256032"/>
          </a:xfrm>
          <a:prstGeom prst="rect">
            <a:avLst/>
          </a:prstGeom>
          <a:noFill/>
          <a:ln/>
        </p:spPr>
        <p:txBody>
          <a:bodyPr wrap="square" lIns="0" tIns="0" rIns="0" bIns="0" rtlCol="0" anchor="ctr"/>
          <a:lstStyle/>
          <a:p>
            <a:pPr indent="0" marL="0">
              <a:buNone/>
            </a:pPr>
            <a:r>
              <a:rPr lang="en-US" sz="1050" b="1" spc="100" kern="0" dirty="0">
                <a:solidFill>
                  <a:srgbClr val="E8743B"/>
                </a:solidFill>
                <a:latin typeface="Calibri" pitchFamily="34" charset="0"/>
                <a:ea typeface="Calibri" pitchFamily="34" charset="-122"/>
                <a:cs typeface="Calibri" pitchFamily="34" charset="-120"/>
              </a:rPr>
              <a:t>3.  THREE INDEPENDENT TESTS</a:t>
            </a:r>
            <a:endParaRPr lang="en-US" sz="1050" dirty="0"/>
          </a:p>
        </p:txBody>
      </p:sp>
      <p:sp>
        <p:nvSpPr>
          <p:cNvPr id="33" name="Shape 31"/>
          <p:cNvSpPr/>
          <p:nvPr/>
        </p:nvSpPr>
        <p:spPr>
          <a:xfrm>
            <a:off x="6355080" y="2103120"/>
            <a:ext cx="3154680" cy="1005840"/>
          </a:xfrm>
          <a:prstGeom prst="roundRect">
            <a:avLst>
              <a:gd name="adj" fmla="val 7273"/>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34" name="Text 32"/>
          <p:cNvSpPr/>
          <p:nvPr/>
        </p:nvSpPr>
        <p:spPr>
          <a:xfrm>
            <a:off x="6537960" y="2194560"/>
            <a:ext cx="1645920" cy="256032"/>
          </a:xfrm>
          <a:prstGeom prst="rect">
            <a:avLst/>
          </a:prstGeom>
          <a:noFill/>
          <a:ln/>
        </p:spPr>
        <p:txBody>
          <a:bodyPr wrap="square" lIns="0" tIns="0" rIns="0" bIns="0" rtlCol="0" anchor="ctr"/>
          <a:lstStyle/>
          <a:p>
            <a:pPr indent="0" marL="0">
              <a:buNone/>
            </a:pPr>
            <a:r>
              <a:rPr lang="en-US" sz="1300" b="1" dirty="0">
                <a:solidFill>
                  <a:srgbClr val="141B34"/>
                </a:solidFill>
                <a:latin typeface="Cambria" pitchFamily="34" charset="0"/>
                <a:ea typeface="Cambria" pitchFamily="34" charset="-122"/>
                <a:cs typeface="Cambria" pitchFamily="34" charset="-120"/>
              </a:rPr>
              <a:t>Intrinsic</a:t>
            </a:r>
            <a:endParaRPr lang="en-US" sz="1300" dirty="0"/>
          </a:p>
        </p:txBody>
      </p:sp>
      <p:sp>
        <p:nvSpPr>
          <p:cNvPr id="35" name="Shape 33"/>
          <p:cNvSpPr/>
          <p:nvPr/>
        </p:nvSpPr>
        <p:spPr>
          <a:xfrm>
            <a:off x="8641080" y="2221992"/>
            <a:ext cx="749808" cy="219456"/>
          </a:xfrm>
          <a:prstGeom prst="roundRect">
            <a:avLst>
              <a:gd name="adj" fmla="val 41667"/>
            </a:avLst>
          </a:prstGeom>
          <a:solidFill>
            <a:srgbClr val="2A9D8F"/>
          </a:solidFill>
          <a:ln/>
        </p:spPr>
      </p:sp>
      <p:sp>
        <p:nvSpPr>
          <p:cNvPr id="36" name="Text 34"/>
          <p:cNvSpPr/>
          <p:nvPr/>
        </p:nvSpPr>
        <p:spPr>
          <a:xfrm>
            <a:off x="8641080" y="2221992"/>
            <a:ext cx="74980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 SEEDS</a:t>
            </a:r>
            <a:endParaRPr lang="en-US" sz="800" dirty="0"/>
          </a:p>
        </p:txBody>
      </p:sp>
      <p:sp>
        <p:nvSpPr>
          <p:cNvPr id="37" name="Text 35"/>
          <p:cNvSpPr/>
          <p:nvPr/>
        </p:nvSpPr>
        <p:spPr>
          <a:xfrm>
            <a:off x="6537960" y="2468880"/>
            <a:ext cx="2788920" cy="292608"/>
          </a:xfrm>
          <a:prstGeom prst="rect">
            <a:avLst/>
          </a:prstGeom>
          <a:noFill/>
          <a:ln/>
        </p:spPr>
        <p:txBody>
          <a:bodyPr wrap="square" lIns="0" tIns="0" rIns="0" bIns="0" rtlCol="0" anchor="ctr"/>
          <a:lstStyle/>
          <a:p>
            <a:pPr indent="0" marL="0">
              <a:buNone/>
            </a:pPr>
            <a:r>
              <a:rPr lang="en-US" sz="950" dirty="0">
                <a:solidFill>
                  <a:srgbClr val="5A6588"/>
                </a:solidFill>
                <a:latin typeface="Calibri" pitchFamily="34" charset="0"/>
                <a:ea typeface="Calibri" pitchFamily="34" charset="-122"/>
                <a:cs typeface="Calibri" pitchFamily="34" charset="-120"/>
              </a:rPr>
              <a:t>SimLex-999, split by whether each pair was supervised.</a:t>
            </a:r>
            <a:endParaRPr lang="en-US" sz="950" dirty="0"/>
          </a:p>
        </p:txBody>
      </p:sp>
      <p:sp>
        <p:nvSpPr>
          <p:cNvPr id="38" name="Text 36"/>
          <p:cNvSpPr/>
          <p:nvPr/>
        </p:nvSpPr>
        <p:spPr>
          <a:xfrm>
            <a:off x="6537960" y="2779776"/>
            <a:ext cx="2788920" cy="256032"/>
          </a:xfrm>
          <a:prstGeom prst="rect">
            <a:avLst/>
          </a:prstGeom>
          <a:noFill/>
          <a:ln/>
        </p:spPr>
        <p:txBody>
          <a:bodyPr wrap="square" lIns="0" tIns="0" rIns="0" bIns="0" rtlCol="0" anchor="ctr"/>
          <a:lstStyle/>
          <a:p>
            <a:pPr indent="0" marL="0">
              <a:buNone/>
            </a:pPr>
            <a:r>
              <a:rPr lang="en-US" sz="950" i="1" dirty="0">
                <a:solidFill>
                  <a:srgbClr val="24325C"/>
                </a:solidFill>
                <a:latin typeface="Calibri" pitchFamily="34" charset="0"/>
                <a:ea typeface="Calibri" pitchFamily="34" charset="-122"/>
                <a:cs typeface="Calibri" pitchFamily="34" charset="-120"/>
              </a:rPr>
              <a:t>Did the geometry move - and does it generalise?</a:t>
            </a:r>
            <a:endParaRPr lang="en-US" sz="950" dirty="0"/>
          </a:p>
        </p:txBody>
      </p:sp>
      <p:sp>
        <p:nvSpPr>
          <p:cNvPr id="39" name="Shape 37"/>
          <p:cNvSpPr/>
          <p:nvPr/>
        </p:nvSpPr>
        <p:spPr>
          <a:xfrm>
            <a:off x="6355080" y="3246120"/>
            <a:ext cx="3154680" cy="1005840"/>
          </a:xfrm>
          <a:prstGeom prst="roundRect">
            <a:avLst>
              <a:gd name="adj" fmla="val 7273"/>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40" name="Text 38"/>
          <p:cNvSpPr/>
          <p:nvPr/>
        </p:nvSpPr>
        <p:spPr>
          <a:xfrm>
            <a:off x="6537960" y="3337560"/>
            <a:ext cx="1645920" cy="256032"/>
          </a:xfrm>
          <a:prstGeom prst="rect">
            <a:avLst/>
          </a:prstGeom>
          <a:noFill/>
          <a:ln/>
        </p:spPr>
        <p:txBody>
          <a:bodyPr wrap="square" lIns="0" tIns="0" rIns="0" bIns="0" rtlCol="0" anchor="ctr"/>
          <a:lstStyle/>
          <a:p>
            <a:pPr indent="0" marL="0">
              <a:buNone/>
            </a:pPr>
            <a:r>
              <a:rPr lang="en-US" sz="1300" b="1" dirty="0">
                <a:solidFill>
                  <a:srgbClr val="141B34"/>
                </a:solidFill>
                <a:latin typeface="Cambria" pitchFamily="34" charset="0"/>
                <a:ea typeface="Cambria" pitchFamily="34" charset="-122"/>
                <a:cs typeface="Cambria" pitchFamily="34" charset="-120"/>
              </a:rPr>
              <a:t>Downstream</a:t>
            </a:r>
            <a:endParaRPr lang="en-US" sz="1300" dirty="0"/>
          </a:p>
        </p:txBody>
      </p:sp>
      <p:sp>
        <p:nvSpPr>
          <p:cNvPr id="41" name="Shape 39"/>
          <p:cNvSpPr/>
          <p:nvPr/>
        </p:nvSpPr>
        <p:spPr>
          <a:xfrm>
            <a:off x="8641080" y="3364992"/>
            <a:ext cx="749808" cy="219456"/>
          </a:xfrm>
          <a:prstGeom prst="roundRect">
            <a:avLst>
              <a:gd name="adj" fmla="val 41667"/>
            </a:avLst>
          </a:prstGeom>
          <a:solidFill>
            <a:srgbClr val="9AA6C4"/>
          </a:solidFill>
          <a:ln/>
        </p:spPr>
      </p:sp>
      <p:sp>
        <p:nvSpPr>
          <p:cNvPr id="42" name="Text 40"/>
          <p:cNvSpPr/>
          <p:nvPr/>
        </p:nvSpPr>
        <p:spPr>
          <a:xfrm>
            <a:off x="8641080" y="3364992"/>
            <a:ext cx="74980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TO DO</a:t>
            </a:r>
            <a:endParaRPr lang="en-US" sz="800" dirty="0"/>
          </a:p>
        </p:txBody>
      </p:sp>
      <p:sp>
        <p:nvSpPr>
          <p:cNvPr id="43" name="Text 41"/>
          <p:cNvSpPr/>
          <p:nvPr/>
        </p:nvSpPr>
        <p:spPr>
          <a:xfrm>
            <a:off x="6537960" y="3611880"/>
            <a:ext cx="2788920" cy="292608"/>
          </a:xfrm>
          <a:prstGeom prst="rect">
            <a:avLst/>
          </a:prstGeom>
          <a:noFill/>
          <a:ln/>
        </p:spPr>
        <p:txBody>
          <a:bodyPr wrap="square" lIns="0" tIns="0" rIns="0" bIns="0" rtlCol="0" anchor="ctr"/>
          <a:lstStyle/>
          <a:p>
            <a:pPr indent="0" marL="0">
              <a:buNone/>
            </a:pPr>
            <a:r>
              <a:rPr lang="en-US" sz="950" dirty="0">
                <a:solidFill>
                  <a:srgbClr val="5A6588"/>
                </a:solidFill>
                <a:latin typeface="Calibri" pitchFamily="34" charset="0"/>
                <a:ea typeface="Calibri" pitchFamily="34" charset="-122"/>
                <a:cs typeface="Calibri" pitchFamily="34" charset="-120"/>
              </a:rPr>
              <a:t>Fine-tune on GLUE and tagging, against the same control.</a:t>
            </a:r>
            <a:endParaRPr lang="en-US" sz="950" dirty="0"/>
          </a:p>
        </p:txBody>
      </p:sp>
      <p:sp>
        <p:nvSpPr>
          <p:cNvPr id="44" name="Text 42"/>
          <p:cNvSpPr/>
          <p:nvPr/>
        </p:nvSpPr>
        <p:spPr>
          <a:xfrm>
            <a:off x="6537960" y="3922776"/>
            <a:ext cx="2788920" cy="256032"/>
          </a:xfrm>
          <a:prstGeom prst="rect">
            <a:avLst/>
          </a:prstGeom>
          <a:noFill/>
          <a:ln/>
        </p:spPr>
        <p:txBody>
          <a:bodyPr wrap="square" lIns="0" tIns="0" rIns="0" bIns="0" rtlCol="0" anchor="ctr"/>
          <a:lstStyle/>
          <a:p>
            <a:pPr indent="0" marL="0">
              <a:buNone/>
            </a:pPr>
            <a:r>
              <a:rPr lang="en-US" sz="950" i="1" dirty="0">
                <a:solidFill>
                  <a:srgbClr val="9AA6C4"/>
                </a:solidFill>
                <a:latin typeface="Calibri" pitchFamily="34" charset="0"/>
                <a:ea typeface="Calibri" pitchFamily="34" charset="-122"/>
                <a:cs typeface="Calibri" pitchFamily="34" charset="-120"/>
              </a:rPr>
              <a:t>Is it still a good language model?</a:t>
            </a:r>
            <a:endParaRPr lang="en-US" sz="950" dirty="0"/>
          </a:p>
        </p:txBody>
      </p:sp>
      <p:sp>
        <p:nvSpPr>
          <p:cNvPr id="45" name="Shape 43"/>
          <p:cNvSpPr/>
          <p:nvPr/>
        </p:nvSpPr>
        <p:spPr>
          <a:xfrm>
            <a:off x="6355080" y="4389120"/>
            <a:ext cx="3154680" cy="1005840"/>
          </a:xfrm>
          <a:prstGeom prst="roundRect">
            <a:avLst>
              <a:gd name="adj" fmla="val 7273"/>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46" name="Text 44"/>
          <p:cNvSpPr/>
          <p:nvPr/>
        </p:nvSpPr>
        <p:spPr>
          <a:xfrm>
            <a:off x="6537960" y="4480560"/>
            <a:ext cx="1645920" cy="256032"/>
          </a:xfrm>
          <a:prstGeom prst="rect">
            <a:avLst/>
          </a:prstGeom>
          <a:noFill/>
          <a:ln/>
        </p:spPr>
        <p:txBody>
          <a:bodyPr wrap="square" lIns="0" tIns="0" rIns="0" bIns="0" rtlCol="0" anchor="ctr"/>
          <a:lstStyle/>
          <a:p>
            <a:pPr indent="0" marL="0">
              <a:buNone/>
            </a:pPr>
            <a:r>
              <a:rPr lang="en-US" sz="1300" b="1" dirty="0">
                <a:solidFill>
                  <a:srgbClr val="141B34"/>
                </a:solidFill>
                <a:latin typeface="Cambria" pitchFamily="34" charset="0"/>
                <a:ea typeface="Cambria" pitchFamily="34" charset="-122"/>
                <a:cs typeface="Cambria" pitchFamily="34" charset="-120"/>
              </a:rPr>
              <a:t>Brain</a:t>
            </a:r>
            <a:endParaRPr lang="en-US" sz="1300" dirty="0"/>
          </a:p>
        </p:txBody>
      </p:sp>
      <p:sp>
        <p:nvSpPr>
          <p:cNvPr id="47" name="Shape 45"/>
          <p:cNvSpPr/>
          <p:nvPr/>
        </p:nvSpPr>
        <p:spPr>
          <a:xfrm>
            <a:off x="8641080" y="4507992"/>
            <a:ext cx="749808" cy="219456"/>
          </a:xfrm>
          <a:prstGeom prst="roundRect">
            <a:avLst>
              <a:gd name="adj" fmla="val 41667"/>
            </a:avLst>
          </a:prstGeom>
          <a:solidFill>
            <a:srgbClr val="F2C14E"/>
          </a:solidFill>
          <a:ln/>
        </p:spPr>
      </p:sp>
      <p:sp>
        <p:nvSpPr>
          <p:cNvPr id="48" name="Text 46"/>
          <p:cNvSpPr/>
          <p:nvPr/>
        </p:nvSpPr>
        <p:spPr>
          <a:xfrm>
            <a:off x="8641080" y="4507992"/>
            <a:ext cx="74980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 / 10 SUBJ</a:t>
            </a:r>
            <a:endParaRPr lang="en-US" sz="800" dirty="0"/>
          </a:p>
        </p:txBody>
      </p:sp>
      <p:sp>
        <p:nvSpPr>
          <p:cNvPr id="49" name="Text 47"/>
          <p:cNvSpPr/>
          <p:nvPr/>
        </p:nvSpPr>
        <p:spPr>
          <a:xfrm>
            <a:off x="6537960" y="4754880"/>
            <a:ext cx="2788920" cy="292608"/>
          </a:xfrm>
          <a:prstGeom prst="rect">
            <a:avLst/>
          </a:prstGeom>
          <a:noFill/>
          <a:ln/>
        </p:spPr>
        <p:txBody>
          <a:bodyPr wrap="square" lIns="0" tIns="0" rIns="0" bIns="0" rtlCol="0" anchor="ctr"/>
          <a:lstStyle/>
          <a:p>
            <a:pPr indent="0" marL="0">
              <a:buNone/>
            </a:pPr>
            <a:r>
              <a:rPr lang="en-US" sz="950" dirty="0">
                <a:solidFill>
                  <a:srgbClr val="5A6588"/>
                </a:solidFill>
                <a:latin typeface="Calibri" pitchFamily="34" charset="0"/>
                <a:ea typeface="Calibri" pitchFamily="34" charset="-122"/>
                <a:cs typeface="Calibri" pitchFamily="34" charset="-120"/>
              </a:rPr>
              <a:t>Pereira fMRI: RSA, 2vs2 and voxelwise encoding.</a:t>
            </a:r>
            <a:endParaRPr lang="en-US" sz="950" dirty="0"/>
          </a:p>
        </p:txBody>
      </p:sp>
      <p:sp>
        <p:nvSpPr>
          <p:cNvPr id="50" name="Text 48"/>
          <p:cNvSpPr/>
          <p:nvPr/>
        </p:nvSpPr>
        <p:spPr>
          <a:xfrm>
            <a:off x="6537960" y="5065776"/>
            <a:ext cx="2788920" cy="256032"/>
          </a:xfrm>
          <a:prstGeom prst="rect">
            <a:avLst/>
          </a:prstGeom>
          <a:noFill/>
          <a:ln/>
        </p:spPr>
        <p:txBody>
          <a:bodyPr wrap="square" lIns="0" tIns="0" rIns="0" bIns="0" rtlCol="0" anchor="ctr"/>
          <a:lstStyle/>
          <a:p>
            <a:pPr indent="0" marL="0">
              <a:buNone/>
            </a:pPr>
            <a:r>
              <a:rPr lang="en-US" sz="950" i="1" dirty="0">
                <a:solidFill>
                  <a:srgbClr val="24325C"/>
                </a:solidFill>
                <a:latin typeface="Calibri" pitchFamily="34" charset="0"/>
                <a:ea typeface="Calibri" pitchFamily="34" charset="-122"/>
                <a:cs typeface="Calibri" pitchFamily="34" charset="-120"/>
              </a:rPr>
              <a:t>Is it more like a human brain?</a:t>
            </a:r>
            <a:endParaRPr lang="en-US" sz="950" dirty="0"/>
          </a:p>
        </p:txBody>
      </p:sp>
      <p:sp>
        <p:nvSpPr>
          <p:cNvPr id="51" name="Text 49"/>
          <p:cNvSpPr/>
          <p:nvPr/>
        </p:nvSpPr>
        <p:spPr>
          <a:xfrm>
            <a:off x="6355080" y="5559552"/>
            <a:ext cx="3154680" cy="274320"/>
          </a:xfrm>
          <a:prstGeom prst="rect">
            <a:avLst/>
          </a:prstGeom>
          <a:noFill/>
          <a:ln/>
        </p:spPr>
        <p:txBody>
          <a:bodyPr wrap="square" lIns="0" tIns="0" rIns="0" bIns="0" rtlCol="0" anchor="ctr"/>
          <a:lstStyle/>
          <a:p>
            <a:pPr indent="0" marL="0">
              <a:buNone/>
            </a:pPr>
            <a:r>
              <a:rPr lang="en-US" sz="950" i="1" dirty="0">
                <a:solidFill>
                  <a:srgbClr val="5A6588"/>
                </a:solidFill>
                <a:latin typeface="Calibri" pitchFamily="34" charset="0"/>
                <a:ea typeface="Calibri" pitchFamily="34" charset="-122"/>
                <a:cs typeface="Calibri" pitchFamily="34" charset="-120"/>
              </a:rPr>
              <a:t>Each arm answers a different objection. Together they are the argument.</a:t>
            </a:r>
            <a:endParaRPr lang="en-US" sz="950" dirty="0"/>
          </a:p>
        </p:txBody>
      </p:sp>
      <p:sp>
        <p:nvSpPr>
          <p:cNvPr id="52" name="Shape 50"/>
          <p:cNvSpPr/>
          <p:nvPr/>
        </p:nvSpPr>
        <p:spPr>
          <a:xfrm>
            <a:off x="9582912" y="3611880"/>
            <a:ext cx="292608" cy="237744"/>
          </a:xfrm>
          <a:prstGeom prst="rightArrow">
            <a:avLst/>
          </a:prstGeom>
          <a:solidFill>
            <a:srgbClr val="B9C4DC"/>
          </a:solidFill>
          <a:ln/>
        </p:spPr>
      </p:sp>
      <p:sp>
        <p:nvSpPr>
          <p:cNvPr id="53" name="Text 51"/>
          <p:cNvSpPr/>
          <p:nvPr/>
        </p:nvSpPr>
        <p:spPr>
          <a:xfrm>
            <a:off x="9966960" y="1783080"/>
            <a:ext cx="1691640" cy="256032"/>
          </a:xfrm>
          <a:prstGeom prst="rect">
            <a:avLst/>
          </a:prstGeom>
          <a:noFill/>
          <a:ln/>
        </p:spPr>
        <p:txBody>
          <a:bodyPr wrap="square" lIns="0" tIns="0" rIns="0" bIns="0" rtlCol="0" anchor="ctr"/>
          <a:lstStyle/>
          <a:p>
            <a:pPr indent="0" marL="0">
              <a:buNone/>
            </a:pPr>
            <a:r>
              <a:rPr lang="en-US" sz="1050" b="1" spc="100" kern="0" dirty="0">
                <a:solidFill>
                  <a:srgbClr val="E8743B"/>
                </a:solidFill>
                <a:latin typeface="Calibri" pitchFamily="34" charset="0"/>
                <a:ea typeface="Calibri" pitchFamily="34" charset="-122"/>
                <a:cs typeface="Calibri" pitchFamily="34" charset="-120"/>
              </a:rPr>
              <a:t>4.  THE CLAIM</a:t>
            </a:r>
            <a:endParaRPr lang="en-US" sz="1050" dirty="0"/>
          </a:p>
        </p:txBody>
      </p:sp>
      <p:sp>
        <p:nvSpPr>
          <p:cNvPr id="54" name="Shape 52"/>
          <p:cNvSpPr/>
          <p:nvPr/>
        </p:nvSpPr>
        <p:spPr>
          <a:xfrm>
            <a:off x="9966960" y="2103120"/>
            <a:ext cx="1691640" cy="3337560"/>
          </a:xfrm>
          <a:prstGeom prst="roundRect">
            <a:avLst>
              <a:gd name="adj" fmla="val 4324"/>
            </a:avLst>
          </a:prstGeom>
          <a:solidFill>
            <a:srgbClr val="24325C"/>
          </a:solidFill>
          <a:ln w="12700">
            <a:solidFill>
              <a:srgbClr val="24325C"/>
            </a:solidFill>
            <a:prstDash val="solid"/>
          </a:ln>
          <a:effectLst>
            <a:outerShdw sx="100000" sy="100000" kx="0" ky="0" algn="bl" rotWithShape="0" blurRad="127000" dist="25400" dir="5400000">
              <a:srgbClr val="8899BB">
                <a:alpha val="18000"/>
              </a:srgbClr>
            </a:outerShdw>
          </a:effectLst>
        </p:spPr>
      </p:sp>
      <p:sp>
        <p:nvSpPr>
          <p:cNvPr id="55" name="Text 53"/>
          <p:cNvSpPr/>
          <p:nvPr/>
        </p:nvSpPr>
        <p:spPr>
          <a:xfrm>
            <a:off x="10104120" y="2240280"/>
            <a:ext cx="1417320" cy="868680"/>
          </a:xfrm>
          <a:prstGeom prst="rect">
            <a:avLst/>
          </a:prstGeom>
          <a:noFill/>
          <a:ln/>
        </p:spPr>
        <p:txBody>
          <a:bodyPr wrap="square" lIns="0" tIns="0" rIns="0" bIns="0" rtlCol="0" anchor="ctr"/>
          <a:lstStyle/>
          <a:p>
            <a:pPr indent="0" marL="0">
              <a:buNone/>
            </a:pPr>
            <a:r>
              <a:rPr lang="en-US" sz="950" dirty="0">
                <a:solidFill>
                  <a:srgbClr val="CBD6EC"/>
                </a:solidFill>
                <a:latin typeface="Calibri" pitchFamily="34" charset="0"/>
                <a:ea typeface="Calibri" pitchFamily="34" charset="-122"/>
                <a:cs typeface="Calibri" pitchFamily="34" charset="-120"/>
              </a:rPr>
              <a:t>Supervising a model with human similarity ratings reshapes its conceptual geometry:</a:t>
            </a:r>
            <a:endParaRPr lang="en-US" sz="950" dirty="0"/>
          </a:p>
        </p:txBody>
      </p:sp>
      <p:sp>
        <p:nvSpPr>
          <p:cNvPr id="56" name="Text 54"/>
          <p:cNvSpPr/>
          <p:nvPr/>
        </p:nvSpPr>
        <p:spPr>
          <a:xfrm>
            <a:off x="10104120" y="3200400"/>
            <a:ext cx="1417320" cy="237744"/>
          </a:xfrm>
          <a:prstGeom prst="rect">
            <a:avLst/>
          </a:prstGeom>
          <a:noFill/>
          <a:ln/>
        </p:spPr>
        <p:txBody>
          <a:bodyPr wrap="square" lIns="0" tIns="0" rIns="0" bIns="0" rtlCol="0" anchor="ctr"/>
          <a:lstStyle/>
          <a:p>
            <a:pPr indent="0" marL="0">
              <a:buNone/>
            </a:pPr>
            <a:r>
              <a:rPr lang="en-US" sz="1000" b="1" dirty="0">
                <a:solidFill>
                  <a:srgbClr val="F2C14E"/>
                </a:solidFill>
                <a:latin typeface="Calibri" pitchFamily="34" charset="0"/>
                <a:ea typeface="Calibri" pitchFamily="34" charset="-122"/>
                <a:cs typeface="Calibri" pitchFamily="34" charset="-120"/>
              </a:rPr>
              <a:t>it generalises</a:t>
            </a:r>
            <a:endParaRPr lang="en-US" sz="1000" dirty="0"/>
          </a:p>
        </p:txBody>
      </p:sp>
      <p:sp>
        <p:nvSpPr>
          <p:cNvPr id="57" name="Text 55"/>
          <p:cNvSpPr/>
          <p:nvPr/>
        </p:nvSpPr>
        <p:spPr>
          <a:xfrm>
            <a:off x="10104120" y="3419856"/>
            <a:ext cx="1417320" cy="329184"/>
          </a:xfrm>
          <a:prstGeom prst="rect">
            <a:avLst/>
          </a:prstGeom>
          <a:noFill/>
          <a:ln/>
        </p:spPr>
        <p:txBody>
          <a:bodyPr wrap="square" lIns="0" tIns="0" rIns="0" bIns="0" rtlCol="0" anchor="ctr"/>
          <a:lstStyle/>
          <a:p>
            <a:pPr indent="0" marL="0">
              <a:buNone/>
            </a:pPr>
            <a:r>
              <a:rPr lang="en-US" sz="850" dirty="0">
                <a:solidFill>
                  <a:srgbClr val="AEBBD8"/>
                </a:solidFill>
                <a:latin typeface="Calibri" pitchFamily="34" charset="0"/>
                <a:ea typeface="Calibri" pitchFamily="34" charset="-122"/>
                <a:cs typeface="Calibri" pitchFamily="34" charset="-120"/>
              </a:rPr>
              <a:t>to words never rated</a:t>
            </a:r>
            <a:endParaRPr lang="en-US" sz="850" dirty="0"/>
          </a:p>
        </p:txBody>
      </p:sp>
      <p:sp>
        <p:nvSpPr>
          <p:cNvPr id="58" name="Text 56"/>
          <p:cNvSpPr/>
          <p:nvPr/>
        </p:nvSpPr>
        <p:spPr>
          <a:xfrm>
            <a:off x="10104120" y="3858768"/>
            <a:ext cx="1417320" cy="237744"/>
          </a:xfrm>
          <a:prstGeom prst="rect">
            <a:avLst/>
          </a:prstGeom>
          <a:noFill/>
          <a:ln/>
        </p:spPr>
        <p:txBody>
          <a:bodyPr wrap="square" lIns="0" tIns="0" rIns="0" bIns="0" rtlCol="0" anchor="ctr"/>
          <a:lstStyle/>
          <a:p>
            <a:pPr indent="0" marL="0">
              <a:buNone/>
            </a:pPr>
            <a:r>
              <a:rPr lang="en-US" sz="1000" b="1" dirty="0">
                <a:solidFill>
                  <a:srgbClr val="F2C14E"/>
                </a:solidFill>
                <a:latin typeface="Calibri" pitchFamily="34" charset="0"/>
                <a:ea typeface="Calibri" pitchFamily="34" charset="-122"/>
                <a:cs typeface="Calibri" pitchFamily="34" charset="-120"/>
              </a:rPr>
              <a:t>it is harmless</a:t>
            </a:r>
            <a:endParaRPr lang="en-US" sz="1000" dirty="0"/>
          </a:p>
        </p:txBody>
      </p:sp>
      <p:sp>
        <p:nvSpPr>
          <p:cNvPr id="59" name="Text 57"/>
          <p:cNvSpPr/>
          <p:nvPr/>
        </p:nvSpPr>
        <p:spPr>
          <a:xfrm>
            <a:off x="10104120" y="4078224"/>
            <a:ext cx="1417320" cy="329184"/>
          </a:xfrm>
          <a:prstGeom prst="rect">
            <a:avLst/>
          </a:prstGeom>
          <a:noFill/>
          <a:ln/>
        </p:spPr>
        <p:txBody>
          <a:bodyPr wrap="square" lIns="0" tIns="0" rIns="0" bIns="0" rtlCol="0" anchor="ctr"/>
          <a:lstStyle/>
          <a:p>
            <a:pPr indent="0" marL="0">
              <a:buNone/>
            </a:pPr>
            <a:r>
              <a:rPr lang="en-US" sz="850" dirty="0">
                <a:solidFill>
                  <a:srgbClr val="AEBBD8"/>
                </a:solidFill>
                <a:latin typeface="Calibri" pitchFamily="34" charset="0"/>
                <a:ea typeface="Calibri" pitchFamily="34" charset="-122"/>
                <a:cs typeface="Calibri" pitchFamily="34" charset="-120"/>
              </a:rPr>
              <a:t>language ability intact</a:t>
            </a:r>
            <a:endParaRPr lang="en-US" sz="850" dirty="0"/>
          </a:p>
        </p:txBody>
      </p:sp>
      <p:sp>
        <p:nvSpPr>
          <p:cNvPr id="60" name="Text 58"/>
          <p:cNvSpPr/>
          <p:nvPr/>
        </p:nvSpPr>
        <p:spPr>
          <a:xfrm>
            <a:off x="10104120" y="4517136"/>
            <a:ext cx="1417320" cy="237744"/>
          </a:xfrm>
          <a:prstGeom prst="rect">
            <a:avLst/>
          </a:prstGeom>
          <a:noFill/>
          <a:ln/>
        </p:spPr>
        <p:txBody>
          <a:bodyPr wrap="square" lIns="0" tIns="0" rIns="0" bIns="0" rtlCol="0" anchor="ctr"/>
          <a:lstStyle/>
          <a:p>
            <a:pPr indent="0" marL="0">
              <a:buNone/>
            </a:pPr>
            <a:r>
              <a:rPr lang="en-US" sz="1000" b="1" dirty="0">
                <a:solidFill>
                  <a:srgbClr val="F2C14E"/>
                </a:solidFill>
                <a:latin typeface="Calibri" pitchFamily="34" charset="0"/>
                <a:ea typeface="Calibri" pitchFamily="34" charset="-122"/>
                <a:cs typeface="Calibri" pitchFamily="34" charset="-120"/>
              </a:rPr>
              <a:t>it is human-like</a:t>
            </a:r>
            <a:endParaRPr lang="en-US" sz="1000" dirty="0"/>
          </a:p>
        </p:txBody>
      </p:sp>
      <p:sp>
        <p:nvSpPr>
          <p:cNvPr id="61" name="Text 59"/>
          <p:cNvSpPr/>
          <p:nvPr/>
        </p:nvSpPr>
        <p:spPr>
          <a:xfrm>
            <a:off x="10104120" y="4736592"/>
            <a:ext cx="1417320" cy="329184"/>
          </a:xfrm>
          <a:prstGeom prst="rect">
            <a:avLst/>
          </a:prstGeom>
          <a:noFill/>
          <a:ln/>
        </p:spPr>
        <p:txBody>
          <a:bodyPr wrap="square" lIns="0" tIns="0" rIns="0" bIns="0" rtlCol="0" anchor="ctr"/>
          <a:lstStyle/>
          <a:p>
            <a:pPr indent="0" marL="0">
              <a:buNone/>
            </a:pPr>
            <a:r>
              <a:rPr lang="en-US" sz="850" dirty="0">
                <a:solidFill>
                  <a:srgbClr val="AEBBD8"/>
                </a:solidFill>
                <a:latin typeface="Calibri" pitchFamily="34" charset="0"/>
                <a:ea typeface="Calibri" pitchFamily="34" charset="-122"/>
                <a:cs typeface="Calibri" pitchFamily="34" charset="-120"/>
              </a:rPr>
              <a:t>better brain fit</a:t>
            </a:r>
            <a:endParaRPr lang="en-US" sz="850" dirty="0"/>
          </a:p>
        </p:txBody>
      </p:sp>
      <p:sp>
        <p:nvSpPr>
          <p:cNvPr id="62" name="Text 60"/>
          <p:cNvSpPr/>
          <p:nvPr/>
        </p:nvSpPr>
        <p:spPr>
          <a:xfrm>
            <a:off x="10104120" y="5138928"/>
            <a:ext cx="1417320" cy="27432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...without ever showing it a brain scan.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B"/>
        </a:solidFill>
      </p:bgPr>
    </p:bg>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What I would do next</a:t>
            </a:r>
            <a:endParaRPr lang="en-US" sz="3200" dirty="0"/>
          </a:p>
        </p:txBody>
      </p:sp>
      <p:sp>
        <p:nvSpPr>
          <p:cNvPr id="4" name="Shape 2"/>
          <p:cNvSpPr/>
          <p:nvPr/>
        </p:nvSpPr>
        <p:spPr>
          <a:xfrm>
            <a:off x="548640" y="1508760"/>
            <a:ext cx="5349240" cy="1874520"/>
          </a:xfrm>
          <a:prstGeom prst="roundRect">
            <a:avLst>
              <a:gd name="adj" fmla="val 3902"/>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5" name="Shape 3"/>
          <p:cNvSpPr/>
          <p:nvPr/>
        </p:nvSpPr>
        <p:spPr>
          <a:xfrm>
            <a:off x="822960" y="1801368"/>
            <a:ext cx="420624" cy="420624"/>
          </a:xfrm>
          <a:prstGeom prst="ellipse">
            <a:avLst/>
          </a:prstGeom>
          <a:solidFill>
            <a:srgbClr val="E8743B"/>
          </a:solidFill>
          <a:ln/>
        </p:spPr>
      </p:sp>
      <p:sp>
        <p:nvSpPr>
          <p:cNvPr id="6" name="Text 4"/>
          <p:cNvSpPr/>
          <p:nvPr/>
        </p:nvSpPr>
        <p:spPr>
          <a:xfrm>
            <a:off x="822960" y="18013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08176" y="1783080"/>
            <a:ext cx="3108960" cy="365760"/>
          </a:xfrm>
          <a:prstGeom prst="rect">
            <a:avLst/>
          </a:prstGeom>
          <a:noFill/>
          <a:ln/>
        </p:spPr>
        <p:txBody>
          <a:bodyPr wrap="square" lIns="0" tIns="0" rIns="0" bIns="0" rtlCol="0" anchor="ctr"/>
          <a:lstStyle/>
          <a:p>
            <a:pPr indent="0" marL="0">
              <a:buNone/>
            </a:pPr>
            <a:r>
              <a:rPr lang="en-US" sz="1550" b="1" dirty="0">
                <a:solidFill>
                  <a:srgbClr val="141B34"/>
                </a:solidFill>
                <a:latin typeface="Cambria" pitchFamily="34" charset="0"/>
                <a:ea typeface="Cambria" pitchFamily="34" charset="-122"/>
                <a:cs typeface="Cambria" pitchFamily="34" charset="-120"/>
              </a:rPr>
              <a:t>Finish the brain evaluation</a:t>
            </a:r>
            <a:endParaRPr lang="en-US" sz="1550" dirty="0"/>
          </a:p>
        </p:txBody>
      </p:sp>
      <p:sp>
        <p:nvSpPr>
          <p:cNvPr id="8" name="Text 6"/>
          <p:cNvSpPr/>
          <p:nvPr/>
        </p:nvSpPr>
        <p:spPr>
          <a:xfrm>
            <a:off x="4434840" y="1819656"/>
            <a:ext cx="1280160" cy="292608"/>
          </a:xfrm>
          <a:prstGeom prst="rect">
            <a:avLst/>
          </a:prstGeom>
          <a:noFill/>
          <a:ln/>
        </p:spPr>
        <p:txBody>
          <a:bodyPr wrap="square" lIns="0" tIns="0" rIns="0" bIns="0" rtlCol="0" anchor="ctr"/>
          <a:lstStyle/>
          <a:p>
            <a:pPr algn="r" indent="0" marL="0">
              <a:buNone/>
            </a:pPr>
            <a:r>
              <a:rPr lang="en-US" sz="1000" b="1" dirty="0">
                <a:solidFill>
                  <a:srgbClr val="E8743B"/>
                </a:solidFill>
                <a:latin typeface="Calibri" pitchFamily="34" charset="0"/>
                <a:ea typeface="Calibri" pitchFamily="34" charset="-122"/>
                <a:cs typeface="Calibri" pitchFamily="34" charset="-120"/>
              </a:rPr>
              <a:t>1-2 days</a:t>
            </a:r>
            <a:endParaRPr lang="en-US" sz="1000" dirty="0"/>
          </a:p>
        </p:txBody>
      </p:sp>
      <p:sp>
        <p:nvSpPr>
          <p:cNvPr id="9" name="Text 7"/>
          <p:cNvSpPr/>
          <p:nvPr/>
        </p:nvSpPr>
        <p:spPr>
          <a:xfrm>
            <a:off x="1408176" y="2221992"/>
            <a:ext cx="4251960" cy="100584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Seven subjects remain. At n = 10 the dissociation either holds or it does not.</a:t>
            </a:r>
            <a:endParaRPr lang="en-US" sz="1200" dirty="0"/>
          </a:p>
        </p:txBody>
      </p:sp>
      <p:sp>
        <p:nvSpPr>
          <p:cNvPr id="10" name="Shape 8"/>
          <p:cNvSpPr/>
          <p:nvPr/>
        </p:nvSpPr>
        <p:spPr>
          <a:xfrm>
            <a:off x="6263640" y="1508760"/>
            <a:ext cx="5349240" cy="1874520"/>
          </a:xfrm>
          <a:prstGeom prst="roundRect">
            <a:avLst>
              <a:gd name="adj" fmla="val 3902"/>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1" name="Shape 9"/>
          <p:cNvSpPr/>
          <p:nvPr/>
        </p:nvSpPr>
        <p:spPr>
          <a:xfrm>
            <a:off x="6537960" y="1801368"/>
            <a:ext cx="420624" cy="420624"/>
          </a:xfrm>
          <a:prstGeom prst="ellipse">
            <a:avLst/>
          </a:prstGeom>
          <a:solidFill>
            <a:srgbClr val="F2C14E"/>
          </a:solidFill>
          <a:ln/>
        </p:spPr>
      </p:sp>
      <p:sp>
        <p:nvSpPr>
          <p:cNvPr id="12" name="Text 10"/>
          <p:cNvSpPr/>
          <p:nvPr/>
        </p:nvSpPr>
        <p:spPr>
          <a:xfrm>
            <a:off x="6537960" y="18013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7123176" y="1783080"/>
            <a:ext cx="3108960" cy="365760"/>
          </a:xfrm>
          <a:prstGeom prst="rect">
            <a:avLst/>
          </a:prstGeom>
          <a:noFill/>
          <a:ln/>
        </p:spPr>
        <p:txBody>
          <a:bodyPr wrap="square" lIns="0" tIns="0" rIns="0" bIns="0" rtlCol="0" anchor="ctr"/>
          <a:lstStyle/>
          <a:p>
            <a:pPr indent="0" marL="0">
              <a:buNone/>
            </a:pPr>
            <a:r>
              <a:rPr lang="en-US" sz="1550" b="1" dirty="0">
                <a:solidFill>
                  <a:srgbClr val="141B34"/>
                </a:solidFill>
                <a:latin typeface="Cambria" pitchFamily="34" charset="0"/>
                <a:ea typeface="Cambria" pitchFamily="34" charset="-122"/>
                <a:cs typeface="Cambria" pitchFamily="34" charset="-120"/>
              </a:rPr>
              <a:t>Test the anchoring hypothesis</a:t>
            </a:r>
            <a:endParaRPr lang="en-US" sz="1550" dirty="0"/>
          </a:p>
        </p:txBody>
      </p:sp>
      <p:sp>
        <p:nvSpPr>
          <p:cNvPr id="14" name="Text 12"/>
          <p:cNvSpPr/>
          <p:nvPr/>
        </p:nvSpPr>
        <p:spPr>
          <a:xfrm>
            <a:off x="10149840" y="1819656"/>
            <a:ext cx="1280160" cy="292608"/>
          </a:xfrm>
          <a:prstGeom prst="rect">
            <a:avLst/>
          </a:prstGeom>
          <a:noFill/>
          <a:ln/>
        </p:spPr>
        <p:txBody>
          <a:bodyPr wrap="square" lIns="0" tIns="0" rIns="0" bIns="0" rtlCol="0" anchor="ctr"/>
          <a:lstStyle/>
          <a:p>
            <a:pPr algn="r" indent="0" marL="0">
              <a:buNone/>
            </a:pPr>
            <a:r>
              <a:rPr lang="en-US" sz="1000" b="1" dirty="0">
                <a:solidFill>
                  <a:srgbClr val="F2C14E"/>
                </a:solidFill>
                <a:latin typeface="Calibri" pitchFamily="34" charset="0"/>
                <a:ea typeface="Calibri" pitchFamily="34" charset="-122"/>
                <a:cs typeface="Calibri" pitchFamily="34" charset="-120"/>
              </a:rPr>
              <a:t>~2 hours</a:t>
            </a:r>
            <a:endParaRPr lang="en-US" sz="1000" dirty="0"/>
          </a:p>
        </p:txBody>
      </p:sp>
      <p:sp>
        <p:nvSpPr>
          <p:cNvPr id="15" name="Text 13"/>
          <p:cNvSpPr/>
          <p:nvPr/>
        </p:nvSpPr>
        <p:spPr>
          <a:xfrm>
            <a:off x="7123176" y="2221992"/>
            <a:ext cx="4251960" cy="100584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His collapsing mode with my weighted mixing. Settles the contradiction either way.</a:t>
            </a:r>
            <a:endParaRPr lang="en-US" sz="1200" dirty="0"/>
          </a:p>
        </p:txBody>
      </p:sp>
      <p:sp>
        <p:nvSpPr>
          <p:cNvPr id="16" name="Shape 14"/>
          <p:cNvSpPr/>
          <p:nvPr/>
        </p:nvSpPr>
        <p:spPr>
          <a:xfrm>
            <a:off x="548640" y="3611880"/>
            <a:ext cx="5349240" cy="1874520"/>
          </a:xfrm>
          <a:prstGeom prst="roundRect">
            <a:avLst>
              <a:gd name="adj" fmla="val 3902"/>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7" name="Shape 15"/>
          <p:cNvSpPr/>
          <p:nvPr/>
        </p:nvSpPr>
        <p:spPr>
          <a:xfrm>
            <a:off x="822960" y="3904488"/>
            <a:ext cx="420624" cy="420624"/>
          </a:xfrm>
          <a:prstGeom prst="ellipse">
            <a:avLst/>
          </a:prstGeom>
          <a:solidFill>
            <a:srgbClr val="2A9D8F"/>
          </a:solidFill>
          <a:ln/>
        </p:spPr>
      </p:sp>
      <p:sp>
        <p:nvSpPr>
          <p:cNvPr id="18" name="Text 16"/>
          <p:cNvSpPr/>
          <p:nvPr/>
        </p:nvSpPr>
        <p:spPr>
          <a:xfrm>
            <a:off x="822960" y="39044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1408176" y="3886200"/>
            <a:ext cx="3108960" cy="365760"/>
          </a:xfrm>
          <a:prstGeom prst="rect">
            <a:avLst/>
          </a:prstGeom>
          <a:noFill/>
          <a:ln/>
        </p:spPr>
        <p:txBody>
          <a:bodyPr wrap="square" lIns="0" tIns="0" rIns="0" bIns="0" rtlCol="0" anchor="ctr"/>
          <a:lstStyle/>
          <a:p>
            <a:pPr indent="0" marL="0">
              <a:buNone/>
            </a:pPr>
            <a:r>
              <a:rPr lang="en-US" sz="1550" b="1" dirty="0">
                <a:solidFill>
                  <a:srgbClr val="141B34"/>
                </a:solidFill>
                <a:latin typeface="Cambria" pitchFamily="34" charset="0"/>
                <a:ea typeface="Cambria" pitchFamily="34" charset="-122"/>
                <a:cs typeface="Cambria" pitchFamily="34" charset="-120"/>
              </a:rPr>
              <a:t>Similarity versus association</a:t>
            </a:r>
            <a:endParaRPr lang="en-US" sz="1550" dirty="0"/>
          </a:p>
        </p:txBody>
      </p:sp>
      <p:sp>
        <p:nvSpPr>
          <p:cNvPr id="20" name="Text 18"/>
          <p:cNvSpPr/>
          <p:nvPr/>
        </p:nvSpPr>
        <p:spPr>
          <a:xfrm>
            <a:off x="4434840" y="3922776"/>
            <a:ext cx="1280160" cy="292608"/>
          </a:xfrm>
          <a:prstGeom prst="rect">
            <a:avLst/>
          </a:prstGeom>
          <a:noFill/>
          <a:ln/>
        </p:spPr>
        <p:txBody>
          <a:bodyPr wrap="square" lIns="0" tIns="0" rIns="0" bIns="0" rtlCol="0" anchor="ctr"/>
          <a:lstStyle/>
          <a:p>
            <a:pPr algn="r" indent="0" marL="0">
              <a:buNone/>
            </a:pPr>
            <a:r>
              <a:rPr lang="en-US" sz="1000" b="1" dirty="0">
                <a:solidFill>
                  <a:srgbClr val="2A9D8F"/>
                </a:solidFill>
                <a:latin typeface="Calibri" pitchFamily="34" charset="0"/>
                <a:ea typeface="Calibri" pitchFamily="34" charset="-122"/>
                <a:cs typeface="Calibri" pitchFamily="34" charset="-120"/>
              </a:rPr>
              <a:t>an afternoon</a:t>
            </a:r>
            <a:endParaRPr lang="en-US" sz="1000" dirty="0"/>
          </a:p>
        </p:txBody>
      </p:sp>
      <p:sp>
        <p:nvSpPr>
          <p:cNvPr id="21" name="Text 19"/>
          <p:cNvSpPr/>
          <p:nvPr/>
        </p:nvSpPr>
        <p:spPr>
          <a:xfrm>
            <a:off x="1408176" y="4325112"/>
            <a:ext cx="4251960" cy="100584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SimLex carries both scores. Show RSR widens the gap - sharpening similarity rather than boosting relatedness.</a:t>
            </a:r>
            <a:endParaRPr lang="en-US" sz="1200" dirty="0"/>
          </a:p>
        </p:txBody>
      </p:sp>
      <p:sp>
        <p:nvSpPr>
          <p:cNvPr id="22" name="Shape 20"/>
          <p:cNvSpPr/>
          <p:nvPr/>
        </p:nvSpPr>
        <p:spPr>
          <a:xfrm>
            <a:off x="6263640" y="3611880"/>
            <a:ext cx="5349240" cy="1874520"/>
          </a:xfrm>
          <a:prstGeom prst="roundRect">
            <a:avLst>
              <a:gd name="adj" fmla="val 3902"/>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23" name="Shape 21"/>
          <p:cNvSpPr/>
          <p:nvPr/>
        </p:nvSpPr>
        <p:spPr>
          <a:xfrm>
            <a:off x="6537960" y="3904488"/>
            <a:ext cx="420624" cy="420624"/>
          </a:xfrm>
          <a:prstGeom prst="ellipse">
            <a:avLst/>
          </a:prstGeom>
          <a:solidFill>
            <a:srgbClr val="24325C"/>
          </a:solidFill>
          <a:ln/>
        </p:spPr>
      </p:sp>
      <p:sp>
        <p:nvSpPr>
          <p:cNvPr id="24" name="Text 22"/>
          <p:cNvSpPr/>
          <p:nvPr/>
        </p:nvSpPr>
        <p:spPr>
          <a:xfrm>
            <a:off x="6537960" y="39044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3"/>
          <p:cNvSpPr/>
          <p:nvPr/>
        </p:nvSpPr>
        <p:spPr>
          <a:xfrm>
            <a:off x="7123176" y="3886200"/>
            <a:ext cx="3108960" cy="365760"/>
          </a:xfrm>
          <a:prstGeom prst="rect">
            <a:avLst/>
          </a:prstGeom>
          <a:noFill/>
          <a:ln/>
        </p:spPr>
        <p:txBody>
          <a:bodyPr wrap="square" lIns="0" tIns="0" rIns="0" bIns="0" rtlCol="0" anchor="ctr"/>
          <a:lstStyle/>
          <a:p>
            <a:pPr indent="0" marL="0">
              <a:buNone/>
            </a:pPr>
            <a:r>
              <a:rPr lang="en-US" sz="1550" b="1" dirty="0">
                <a:solidFill>
                  <a:srgbClr val="141B34"/>
                </a:solidFill>
                <a:latin typeface="Cambria" pitchFamily="34" charset="0"/>
                <a:ea typeface="Cambria" pitchFamily="34" charset="-122"/>
                <a:cs typeface="Cambria" pitchFamily="34" charset="-120"/>
              </a:rPr>
              <a:t>Downstream competence</a:t>
            </a:r>
            <a:endParaRPr lang="en-US" sz="1550" dirty="0"/>
          </a:p>
        </p:txBody>
      </p:sp>
      <p:sp>
        <p:nvSpPr>
          <p:cNvPr id="26" name="Text 24"/>
          <p:cNvSpPr/>
          <p:nvPr/>
        </p:nvSpPr>
        <p:spPr>
          <a:xfrm>
            <a:off x="10149840" y="3922776"/>
            <a:ext cx="1280160" cy="292608"/>
          </a:xfrm>
          <a:prstGeom prst="rect">
            <a:avLst/>
          </a:prstGeom>
          <a:noFill/>
          <a:ln/>
        </p:spPr>
        <p:txBody>
          <a:bodyPr wrap="square" lIns="0" tIns="0" rIns="0" bIns="0" rtlCol="0" anchor="ctr"/>
          <a:lstStyle/>
          <a:p>
            <a:pPr algn="r" indent="0" marL="0">
              <a:buNone/>
            </a:pPr>
            <a:r>
              <a:rPr lang="en-US" sz="1000" b="1" dirty="0">
                <a:solidFill>
                  <a:srgbClr val="24325C"/>
                </a:solidFill>
                <a:latin typeface="Calibri" pitchFamily="34" charset="0"/>
                <a:ea typeface="Calibri" pitchFamily="34" charset="-122"/>
                <a:cs typeface="Calibri" pitchFamily="34" charset="-120"/>
              </a:rPr>
              <a:t>a few days</a:t>
            </a:r>
            <a:endParaRPr lang="en-US" sz="1000" dirty="0"/>
          </a:p>
        </p:txBody>
      </p:sp>
      <p:sp>
        <p:nvSpPr>
          <p:cNvPr id="27" name="Text 25"/>
          <p:cNvSpPr/>
          <p:nvPr/>
        </p:nvSpPr>
        <p:spPr>
          <a:xfrm>
            <a:off x="7123176" y="4325112"/>
            <a:ext cx="4251960" cy="100584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A properly converged GLUE and tagging check. Parity is the goal, not a win.</a:t>
            </a:r>
            <a:endParaRPr lang="en-US" sz="1200" dirty="0"/>
          </a:p>
        </p:txBody>
      </p:sp>
      <p:sp>
        <p:nvSpPr>
          <p:cNvPr id="28" name="Text 26"/>
          <p:cNvSpPr/>
          <p:nvPr/>
        </p:nvSpPr>
        <p:spPr>
          <a:xfrm>
            <a:off x="548640" y="5760720"/>
            <a:ext cx="11064240" cy="365760"/>
          </a:xfrm>
          <a:prstGeom prst="rect">
            <a:avLst/>
          </a:prstGeom>
          <a:noFill/>
          <a:ln/>
        </p:spPr>
        <p:txBody>
          <a:bodyPr wrap="square" lIns="0" tIns="0" rIns="0" bIns="0" rtlCol="0" anchor="ctr"/>
          <a:lstStyle/>
          <a:p>
            <a:pPr indent="0" marL="0">
              <a:buNone/>
            </a:pPr>
            <a:r>
              <a:rPr lang="en-US" sz="1200" i="1" dirty="0">
                <a:solidFill>
                  <a:srgbClr val="5A6588"/>
                </a:solidFill>
                <a:latin typeface="Calibri" pitchFamily="34" charset="0"/>
                <a:ea typeface="Calibri" pitchFamily="34" charset="-122"/>
                <a:cs typeface="Calibri" pitchFamily="34" charset="-120"/>
              </a:rPr>
              <a:t>Ordered by what would change the story most per hour spent - happy to be redirected.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34"/>
        </a:solidFill>
      </p:bgPr>
    </p:bg>
    <p:spTree>
      <p:nvGrpSpPr>
        <p:cNvPr id="1" name=""/>
        <p:cNvGrpSpPr/>
        <p:nvPr/>
      </p:nvGrpSpPr>
      <p:grpSpPr>
        <a:xfrm>
          <a:off x="0" y="0"/>
          <a:ext cx="0" cy="0"/>
          <a:chOff x="0" y="0"/>
          <a:chExt cx="0" cy="0"/>
        </a:xfrm>
      </p:grpSpPr>
      <p:sp>
        <p:nvSpPr>
          <p:cNvPr id="2" name="Shape 0"/>
          <p:cNvSpPr/>
          <p:nvPr/>
        </p:nvSpPr>
        <p:spPr>
          <a:xfrm>
            <a:off x="777240" y="1920240"/>
            <a:ext cx="402336" cy="402336"/>
          </a:xfrm>
          <a:prstGeom prst="rect">
            <a:avLst/>
          </a:prstGeom>
          <a:solidFill>
            <a:srgbClr val="1B2A52"/>
          </a:solidFill>
          <a:ln/>
        </p:spPr>
      </p:sp>
      <p:sp>
        <p:nvSpPr>
          <p:cNvPr id="3" name="Shape 1"/>
          <p:cNvSpPr/>
          <p:nvPr/>
        </p:nvSpPr>
        <p:spPr>
          <a:xfrm>
            <a:off x="1179576" y="1920240"/>
            <a:ext cx="402336" cy="402336"/>
          </a:xfrm>
          <a:prstGeom prst="rect">
            <a:avLst/>
          </a:prstGeom>
          <a:solidFill>
            <a:srgbClr val="1D3C5C"/>
          </a:solidFill>
          <a:ln/>
        </p:spPr>
      </p:sp>
      <p:sp>
        <p:nvSpPr>
          <p:cNvPr id="4" name="Shape 2"/>
          <p:cNvSpPr/>
          <p:nvPr/>
        </p:nvSpPr>
        <p:spPr>
          <a:xfrm>
            <a:off x="1581912" y="1920240"/>
            <a:ext cx="402336" cy="402336"/>
          </a:xfrm>
          <a:prstGeom prst="rect">
            <a:avLst/>
          </a:prstGeom>
          <a:solidFill>
            <a:srgbClr val="1D3C5C"/>
          </a:solidFill>
          <a:ln/>
        </p:spPr>
      </p:sp>
      <p:sp>
        <p:nvSpPr>
          <p:cNvPr id="5" name="Shape 3"/>
          <p:cNvSpPr/>
          <p:nvPr/>
        </p:nvSpPr>
        <p:spPr>
          <a:xfrm>
            <a:off x="1984248" y="1920240"/>
            <a:ext cx="402336" cy="402336"/>
          </a:xfrm>
          <a:prstGeom prst="rect">
            <a:avLst/>
          </a:prstGeom>
          <a:solidFill>
            <a:srgbClr val="288F88"/>
          </a:solidFill>
          <a:ln/>
        </p:spPr>
      </p:sp>
      <p:sp>
        <p:nvSpPr>
          <p:cNvPr id="6" name="Shape 4"/>
          <p:cNvSpPr/>
          <p:nvPr/>
        </p:nvSpPr>
        <p:spPr>
          <a:xfrm>
            <a:off x="2386584" y="1920240"/>
            <a:ext cx="402336" cy="402336"/>
          </a:xfrm>
          <a:prstGeom prst="rect">
            <a:avLst/>
          </a:prstGeom>
          <a:solidFill>
            <a:srgbClr val="288F88"/>
          </a:solidFill>
          <a:ln/>
        </p:spPr>
      </p:sp>
      <p:sp>
        <p:nvSpPr>
          <p:cNvPr id="7" name="Shape 5"/>
          <p:cNvSpPr/>
          <p:nvPr/>
        </p:nvSpPr>
        <p:spPr>
          <a:xfrm>
            <a:off x="2788920" y="1920240"/>
            <a:ext cx="402336" cy="402336"/>
          </a:xfrm>
          <a:prstGeom prst="rect">
            <a:avLst/>
          </a:prstGeom>
          <a:solidFill>
            <a:srgbClr val="288F88"/>
          </a:solidFill>
          <a:ln/>
        </p:spPr>
      </p:sp>
      <p:sp>
        <p:nvSpPr>
          <p:cNvPr id="8" name="Shape 6"/>
          <p:cNvSpPr/>
          <p:nvPr/>
        </p:nvSpPr>
        <p:spPr>
          <a:xfrm>
            <a:off x="3191256" y="1920240"/>
            <a:ext cx="402336" cy="402336"/>
          </a:xfrm>
          <a:prstGeom prst="rect">
            <a:avLst/>
          </a:prstGeom>
          <a:solidFill>
            <a:srgbClr val="288F88"/>
          </a:solidFill>
          <a:ln/>
        </p:spPr>
      </p:sp>
      <p:sp>
        <p:nvSpPr>
          <p:cNvPr id="9" name="Shape 7"/>
          <p:cNvSpPr/>
          <p:nvPr/>
        </p:nvSpPr>
        <p:spPr>
          <a:xfrm>
            <a:off x="777240" y="2322576"/>
            <a:ext cx="402336" cy="402336"/>
          </a:xfrm>
          <a:prstGeom prst="rect">
            <a:avLst/>
          </a:prstGeom>
          <a:solidFill>
            <a:srgbClr val="1D3C5C"/>
          </a:solidFill>
          <a:ln/>
        </p:spPr>
      </p:sp>
      <p:sp>
        <p:nvSpPr>
          <p:cNvPr id="10" name="Shape 8"/>
          <p:cNvSpPr/>
          <p:nvPr/>
        </p:nvSpPr>
        <p:spPr>
          <a:xfrm>
            <a:off x="1179576" y="2322576"/>
            <a:ext cx="402336" cy="402336"/>
          </a:xfrm>
          <a:prstGeom prst="rect">
            <a:avLst/>
          </a:prstGeom>
          <a:solidFill>
            <a:srgbClr val="1B2A52"/>
          </a:solidFill>
          <a:ln/>
        </p:spPr>
      </p:sp>
      <p:sp>
        <p:nvSpPr>
          <p:cNvPr id="11" name="Shape 9"/>
          <p:cNvSpPr/>
          <p:nvPr/>
        </p:nvSpPr>
        <p:spPr>
          <a:xfrm>
            <a:off x="1581912" y="2322576"/>
            <a:ext cx="402336" cy="402336"/>
          </a:xfrm>
          <a:prstGeom prst="rect">
            <a:avLst/>
          </a:prstGeom>
          <a:solidFill>
            <a:srgbClr val="1D3C5C"/>
          </a:solidFill>
          <a:ln/>
        </p:spPr>
      </p:sp>
      <p:sp>
        <p:nvSpPr>
          <p:cNvPr id="12" name="Shape 10"/>
          <p:cNvSpPr/>
          <p:nvPr/>
        </p:nvSpPr>
        <p:spPr>
          <a:xfrm>
            <a:off x="1984248" y="2322576"/>
            <a:ext cx="402336" cy="402336"/>
          </a:xfrm>
          <a:prstGeom prst="rect">
            <a:avLst/>
          </a:prstGeom>
          <a:solidFill>
            <a:srgbClr val="288F88"/>
          </a:solidFill>
          <a:ln/>
        </p:spPr>
      </p:sp>
      <p:sp>
        <p:nvSpPr>
          <p:cNvPr id="13" name="Shape 11"/>
          <p:cNvSpPr/>
          <p:nvPr/>
        </p:nvSpPr>
        <p:spPr>
          <a:xfrm>
            <a:off x="2386584" y="2322576"/>
            <a:ext cx="402336" cy="402336"/>
          </a:xfrm>
          <a:prstGeom prst="rect">
            <a:avLst/>
          </a:prstGeom>
          <a:solidFill>
            <a:srgbClr val="288F88"/>
          </a:solidFill>
          <a:ln/>
        </p:spPr>
      </p:sp>
      <p:sp>
        <p:nvSpPr>
          <p:cNvPr id="14" name="Shape 12"/>
          <p:cNvSpPr/>
          <p:nvPr/>
        </p:nvSpPr>
        <p:spPr>
          <a:xfrm>
            <a:off x="2788920" y="2322576"/>
            <a:ext cx="402336" cy="402336"/>
          </a:xfrm>
          <a:prstGeom prst="rect">
            <a:avLst/>
          </a:prstGeom>
          <a:solidFill>
            <a:srgbClr val="288F88"/>
          </a:solidFill>
          <a:ln/>
        </p:spPr>
      </p:sp>
      <p:sp>
        <p:nvSpPr>
          <p:cNvPr id="15" name="Shape 13"/>
          <p:cNvSpPr/>
          <p:nvPr/>
        </p:nvSpPr>
        <p:spPr>
          <a:xfrm>
            <a:off x="3191256" y="2322576"/>
            <a:ext cx="402336" cy="402336"/>
          </a:xfrm>
          <a:prstGeom prst="rect">
            <a:avLst/>
          </a:prstGeom>
          <a:solidFill>
            <a:srgbClr val="288F88"/>
          </a:solidFill>
          <a:ln/>
        </p:spPr>
      </p:sp>
      <p:sp>
        <p:nvSpPr>
          <p:cNvPr id="16" name="Shape 14"/>
          <p:cNvSpPr/>
          <p:nvPr/>
        </p:nvSpPr>
        <p:spPr>
          <a:xfrm>
            <a:off x="777240" y="2724912"/>
            <a:ext cx="402336" cy="402336"/>
          </a:xfrm>
          <a:prstGeom prst="rect">
            <a:avLst/>
          </a:prstGeom>
          <a:solidFill>
            <a:srgbClr val="1D3C5C"/>
          </a:solidFill>
          <a:ln/>
        </p:spPr>
      </p:sp>
      <p:sp>
        <p:nvSpPr>
          <p:cNvPr id="17" name="Shape 15"/>
          <p:cNvSpPr/>
          <p:nvPr/>
        </p:nvSpPr>
        <p:spPr>
          <a:xfrm>
            <a:off x="1179576" y="2724912"/>
            <a:ext cx="402336" cy="402336"/>
          </a:xfrm>
          <a:prstGeom prst="rect">
            <a:avLst/>
          </a:prstGeom>
          <a:solidFill>
            <a:srgbClr val="1D3C5C"/>
          </a:solidFill>
          <a:ln/>
        </p:spPr>
      </p:sp>
      <p:sp>
        <p:nvSpPr>
          <p:cNvPr id="18" name="Shape 16"/>
          <p:cNvSpPr/>
          <p:nvPr/>
        </p:nvSpPr>
        <p:spPr>
          <a:xfrm>
            <a:off x="1581912" y="2724912"/>
            <a:ext cx="402336" cy="402336"/>
          </a:xfrm>
          <a:prstGeom prst="rect">
            <a:avLst/>
          </a:prstGeom>
          <a:solidFill>
            <a:srgbClr val="1B2A52"/>
          </a:solidFill>
          <a:ln/>
        </p:spPr>
      </p:sp>
      <p:sp>
        <p:nvSpPr>
          <p:cNvPr id="19" name="Shape 17"/>
          <p:cNvSpPr/>
          <p:nvPr/>
        </p:nvSpPr>
        <p:spPr>
          <a:xfrm>
            <a:off x="1984248" y="2724912"/>
            <a:ext cx="402336" cy="402336"/>
          </a:xfrm>
          <a:prstGeom prst="rect">
            <a:avLst/>
          </a:prstGeom>
          <a:solidFill>
            <a:srgbClr val="288F88"/>
          </a:solidFill>
          <a:ln/>
        </p:spPr>
      </p:sp>
      <p:sp>
        <p:nvSpPr>
          <p:cNvPr id="20" name="Shape 18"/>
          <p:cNvSpPr/>
          <p:nvPr/>
        </p:nvSpPr>
        <p:spPr>
          <a:xfrm>
            <a:off x="2386584" y="2724912"/>
            <a:ext cx="402336" cy="402336"/>
          </a:xfrm>
          <a:prstGeom prst="rect">
            <a:avLst/>
          </a:prstGeom>
          <a:solidFill>
            <a:srgbClr val="288F88"/>
          </a:solidFill>
          <a:ln/>
        </p:spPr>
      </p:sp>
      <p:sp>
        <p:nvSpPr>
          <p:cNvPr id="21" name="Shape 19"/>
          <p:cNvSpPr/>
          <p:nvPr/>
        </p:nvSpPr>
        <p:spPr>
          <a:xfrm>
            <a:off x="2788920" y="2724912"/>
            <a:ext cx="402336" cy="402336"/>
          </a:xfrm>
          <a:prstGeom prst="rect">
            <a:avLst/>
          </a:prstGeom>
          <a:solidFill>
            <a:srgbClr val="288F88"/>
          </a:solidFill>
          <a:ln/>
        </p:spPr>
      </p:sp>
      <p:sp>
        <p:nvSpPr>
          <p:cNvPr id="22" name="Shape 20"/>
          <p:cNvSpPr/>
          <p:nvPr/>
        </p:nvSpPr>
        <p:spPr>
          <a:xfrm>
            <a:off x="3191256" y="2724912"/>
            <a:ext cx="402336" cy="402336"/>
          </a:xfrm>
          <a:prstGeom prst="rect">
            <a:avLst/>
          </a:prstGeom>
          <a:solidFill>
            <a:srgbClr val="288F88"/>
          </a:solidFill>
          <a:ln/>
        </p:spPr>
      </p:sp>
      <p:sp>
        <p:nvSpPr>
          <p:cNvPr id="23" name="Shape 21"/>
          <p:cNvSpPr/>
          <p:nvPr/>
        </p:nvSpPr>
        <p:spPr>
          <a:xfrm>
            <a:off x="777240" y="3127248"/>
            <a:ext cx="402336" cy="402336"/>
          </a:xfrm>
          <a:prstGeom prst="rect">
            <a:avLst/>
          </a:prstGeom>
          <a:solidFill>
            <a:srgbClr val="288F88"/>
          </a:solidFill>
          <a:ln/>
        </p:spPr>
      </p:sp>
      <p:sp>
        <p:nvSpPr>
          <p:cNvPr id="24" name="Shape 22"/>
          <p:cNvSpPr/>
          <p:nvPr/>
        </p:nvSpPr>
        <p:spPr>
          <a:xfrm>
            <a:off x="1179576" y="3127248"/>
            <a:ext cx="402336" cy="402336"/>
          </a:xfrm>
          <a:prstGeom prst="rect">
            <a:avLst/>
          </a:prstGeom>
          <a:solidFill>
            <a:srgbClr val="288F88"/>
          </a:solidFill>
          <a:ln/>
        </p:spPr>
      </p:sp>
      <p:sp>
        <p:nvSpPr>
          <p:cNvPr id="25" name="Shape 23"/>
          <p:cNvSpPr/>
          <p:nvPr/>
        </p:nvSpPr>
        <p:spPr>
          <a:xfrm>
            <a:off x="1581912" y="3127248"/>
            <a:ext cx="402336" cy="402336"/>
          </a:xfrm>
          <a:prstGeom prst="rect">
            <a:avLst/>
          </a:prstGeom>
          <a:solidFill>
            <a:srgbClr val="288F88"/>
          </a:solidFill>
          <a:ln/>
        </p:spPr>
      </p:sp>
      <p:sp>
        <p:nvSpPr>
          <p:cNvPr id="26" name="Shape 24"/>
          <p:cNvSpPr/>
          <p:nvPr/>
        </p:nvSpPr>
        <p:spPr>
          <a:xfrm>
            <a:off x="1984248" y="3127248"/>
            <a:ext cx="402336" cy="402336"/>
          </a:xfrm>
          <a:prstGeom prst="rect">
            <a:avLst/>
          </a:prstGeom>
          <a:solidFill>
            <a:srgbClr val="1B2A52"/>
          </a:solidFill>
          <a:ln/>
        </p:spPr>
      </p:sp>
      <p:sp>
        <p:nvSpPr>
          <p:cNvPr id="27" name="Shape 25"/>
          <p:cNvSpPr/>
          <p:nvPr/>
        </p:nvSpPr>
        <p:spPr>
          <a:xfrm>
            <a:off x="2386584" y="3127248"/>
            <a:ext cx="402336" cy="402336"/>
          </a:xfrm>
          <a:prstGeom prst="rect">
            <a:avLst/>
          </a:prstGeom>
          <a:solidFill>
            <a:srgbClr val="1D3C5C"/>
          </a:solidFill>
          <a:ln/>
        </p:spPr>
      </p:sp>
      <p:sp>
        <p:nvSpPr>
          <p:cNvPr id="28" name="Shape 26"/>
          <p:cNvSpPr/>
          <p:nvPr/>
        </p:nvSpPr>
        <p:spPr>
          <a:xfrm>
            <a:off x="2788920" y="3127248"/>
            <a:ext cx="402336" cy="402336"/>
          </a:xfrm>
          <a:prstGeom prst="rect">
            <a:avLst/>
          </a:prstGeom>
          <a:solidFill>
            <a:srgbClr val="1D3C5C"/>
          </a:solidFill>
          <a:ln/>
        </p:spPr>
      </p:sp>
      <p:sp>
        <p:nvSpPr>
          <p:cNvPr id="29" name="Shape 27"/>
          <p:cNvSpPr/>
          <p:nvPr/>
        </p:nvSpPr>
        <p:spPr>
          <a:xfrm>
            <a:off x="3191256" y="3127248"/>
            <a:ext cx="402336" cy="402336"/>
          </a:xfrm>
          <a:prstGeom prst="rect">
            <a:avLst/>
          </a:prstGeom>
          <a:solidFill>
            <a:srgbClr val="288F88"/>
          </a:solidFill>
          <a:ln/>
        </p:spPr>
      </p:sp>
      <p:sp>
        <p:nvSpPr>
          <p:cNvPr id="30" name="Shape 28"/>
          <p:cNvSpPr/>
          <p:nvPr/>
        </p:nvSpPr>
        <p:spPr>
          <a:xfrm>
            <a:off x="777240" y="3529584"/>
            <a:ext cx="402336" cy="402336"/>
          </a:xfrm>
          <a:prstGeom prst="rect">
            <a:avLst/>
          </a:prstGeom>
          <a:solidFill>
            <a:srgbClr val="288F88"/>
          </a:solidFill>
          <a:ln/>
        </p:spPr>
      </p:sp>
      <p:sp>
        <p:nvSpPr>
          <p:cNvPr id="31" name="Shape 29"/>
          <p:cNvSpPr/>
          <p:nvPr/>
        </p:nvSpPr>
        <p:spPr>
          <a:xfrm>
            <a:off x="1179576" y="3529584"/>
            <a:ext cx="402336" cy="402336"/>
          </a:xfrm>
          <a:prstGeom prst="rect">
            <a:avLst/>
          </a:prstGeom>
          <a:solidFill>
            <a:srgbClr val="288F88"/>
          </a:solidFill>
          <a:ln/>
        </p:spPr>
      </p:sp>
      <p:sp>
        <p:nvSpPr>
          <p:cNvPr id="32" name="Shape 30"/>
          <p:cNvSpPr/>
          <p:nvPr/>
        </p:nvSpPr>
        <p:spPr>
          <a:xfrm>
            <a:off x="1581912" y="3529584"/>
            <a:ext cx="402336" cy="402336"/>
          </a:xfrm>
          <a:prstGeom prst="rect">
            <a:avLst/>
          </a:prstGeom>
          <a:solidFill>
            <a:srgbClr val="288F88"/>
          </a:solidFill>
          <a:ln/>
        </p:spPr>
      </p:sp>
      <p:sp>
        <p:nvSpPr>
          <p:cNvPr id="33" name="Shape 31"/>
          <p:cNvSpPr/>
          <p:nvPr/>
        </p:nvSpPr>
        <p:spPr>
          <a:xfrm>
            <a:off x="1984248" y="3529584"/>
            <a:ext cx="402336" cy="402336"/>
          </a:xfrm>
          <a:prstGeom prst="rect">
            <a:avLst/>
          </a:prstGeom>
          <a:solidFill>
            <a:srgbClr val="1D3C5C"/>
          </a:solidFill>
          <a:ln/>
        </p:spPr>
      </p:sp>
      <p:sp>
        <p:nvSpPr>
          <p:cNvPr id="34" name="Shape 32"/>
          <p:cNvSpPr/>
          <p:nvPr/>
        </p:nvSpPr>
        <p:spPr>
          <a:xfrm>
            <a:off x="2386584" y="3529584"/>
            <a:ext cx="402336" cy="402336"/>
          </a:xfrm>
          <a:prstGeom prst="rect">
            <a:avLst/>
          </a:prstGeom>
          <a:solidFill>
            <a:srgbClr val="1B2A52"/>
          </a:solidFill>
          <a:ln/>
        </p:spPr>
      </p:sp>
      <p:sp>
        <p:nvSpPr>
          <p:cNvPr id="35" name="Shape 33"/>
          <p:cNvSpPr/>
          <p:nvPr/>
        </p:nvSpPr>
        <p:spPr>
          <a:xfrm>
            <a:off x="2788920" y="3529584"/>
            <a:ext cx="402336" cy="402336"/>
          </a:xfrm>
          <a:prstGeom prst="rect">
            <a:avLst/>
          </a:prstGeom>
          <a:solidFill>
            <a:srgbClr val="1D3C5C"/>
          </a:solidFill>
          <a:ln/>
        </p:spPr>
      </p:sp>
      <p:sp>
        <p:nvSpPr>
          <p:cNvPr id="36" name="Shape 34"/>
          <p:cNvSpPr/>
          <p:nvPr/>
        </p:nvSpPr>
        <p:spPr>
          <a:xfrm>
            <a:off x="3191256" y="3529584"/>
            <a:ext cx="402336" cy="402336"/>
          </a:xfrm>
          <a:prstGeom prst="rect">
            <a:avLst/>
          </a:prstGeom>
          <a:solidFill>
            <a:srgbClr val="288F88"/>
          </a:solidFill>
          <a:ln/>
        </p:spPr>
      </p:sp>
      <p:sp>
        <p:nvSpPr>
          <p:cNvPr id="37" name="Shape 35"/>
          <p:cNvSpPr/>
          <p:nvPr/>
        </p:nvSpPr>
        <p:spPr>
          <a:xfrm>
            <a:off x="777240" y="3931920"/>
            <a:ext cx="402336" cy="402336"/>
          </a:xfrm>
          <a:prstGeom prst="rect">
            <a:avLst/>
          </a:prstGeom>
          <a:solidFill>
            <a:srgbClr val="288F88"/>
          </a:solidFill>
          <a:ln/>
        </p:spPr>
      </p:sp>
      <p:sp>
        <p:nvSpPr>
          <p:cNvPr id="38" name="Shape 36"/>
          <p:cNvSpPr/>
          <p:nvPr/>
        </p:nvSpPr>
        <p:spPr>
          <a:xfrm>
            <a:off x="1179576" y="3931920"/>
            <a:ext cx="402336" cy="402336"/>
          </a:xfrm>
          <a:prstGeom prst="rect">
            <a:avLst/>
          </a:prstGeom>
          <a:solidFill>
            <a:srgbClr val="288F88"/>
          </a:solidFill>
          <a:ln/>
        </p:spPr>
      </p:sp>
      <p:sp>
        <p:nvSpPr>
          <p:cNvPr id="39" name="Shape 37"/>
          <p:cNvSpPr/>
          <p:nvPr/>
        </p:nvSpPr>
        <p:spPr>
          <a:xfrm>
            <a:off x="1581912" y="3931920"/>
            <a:ext cx="402336" cy="402336"/>
          </a:xfrm>
          <a:prstGeom prst="rect">
            <a:avLst/>
          </a:prstGeom>
          <a:solidFill>
            <a:srgbClr val="288F88"/>
          </a:solidFill>
          <a:ln/>
        </p:spPr>
      </p:sp>
      <p:sp>
        <p:nvSpPr>
          <p:cNvPr id="40" name="Shape 38"/>
          <p:cNvSpPr/>
          <p:nvPr/>
        </p:nvSpPr>
        <p:spPr>
          <a:xfrm>
            <a:off x="1984248" y="3931920"/>
            <a:ext cx="402336" cy="402336"/>
          </a:xfrm>
          <a:prstGeom prst="rect">
            <a:avLst/>
          </a:prstGeom>
          <a:solidFill>
            <a:srgbClr val="1D3C5C"/>
          </a:solidFill>
          <a:ln/>
        </p:spPr>
      </p:sp>
      <p:sp>
        <p:nvSpPr>
          <p:cNvPr id="41" name="Shape 39"/>
          <p:cNvSpPr/>
          <p:nvPr/>
        </p:nvSpPr>
        <p:spPr>
          <a:xfrm>
            <a:off x="2386584" y="3931920"/>
            <a:ext cx="402336" cy="402336"/>
          </a:xfrm>
          <a:prstGeom prst="rect">
            <a:avLst/>
          </a:prstGeom>
          <a:solidFill>
            <a:srgbClr val="1D3C5C"/>
          </a:solidFill>
          <a:ln/>
        </p:spPr>
      </p:sp>
      <p:sp>
        <p:nvSpPr>
          <p:cNvPr id="42" name="Shape 40"/>
          <p:cNvSpPr/>
          <p:nvPr/>
        </p:nvSpPr>
        <p:spPr>
          <a:xfrm>
            <a:off x="2788920" y="3931920"/>
            <a:ext cx="402336" cy="402336"/>
          </a:xfrm>
          <a:prstGeom prst="rect">
            <a:avLst/>
          </a:prstGeom>
          <a:solidFill>
            <a:srgbClr val="1B2A52"/>
          </a:solidFill>
          <a:ln/>
        </p:spPr>
      </p:sp>
      <p:sp>
        <p:nvSpPr>
          <p:cNvPr id="43" name="Shape 41"/>
          <p:cNvSpPr/>
          <p:nvPr/>
        </p:nvSpPr>
        <p:spPr>
          <a:xfrm>
            <a:off x="3191256" y="3931920"/>
            <a:ext cx="402336" cy="402336"/>
          </a:xfrm>
          <a:prstGeom prst="rect">
            <a:avLst/>
          </a:prstGeom>
          <a:solidFill>
            <a:srgbClr val="288F88"/>
          </a:solidFill>
          <a:ln/>
        </p:spPr>
      </p:sp>
      <p:sp>
        <p:nvSpPr>
          <p:cNvPr id="44" name="Shape 42"/>
          <p:cNvSpPr/>
          <p:nvPr/>
        </p:nvSpPr>
        <p:spPr>
          <a:xfrm>
            <a:off x="777240" y="4334256"/>
            <a:ext cx="402336" cy="402336"/>
          </a:xfrm>
          <a:prstGeom prst="rect">
            <a:avLst/>
          </a:prstGeom>
          <a:solidFill>
            <a:srgbClr val="288F88"/>
          </a:solidFill>
          <a:ln/>
        </p:spPr>
      </p:sp>
      <p:sp>
        <p:nvSpPr>
          <p:cNvPr id="45" name="Shape 43"/>
          <p:cNvSpPr/>
          <p:nvPr/>
        </p:nvSpPr>
        <p:spPr>
          <a:xfrm>
            <a:off x="1179576" y="4334256"/>
            <a:ext cx="402336" cy="402336"/>
          </a:xfrm>
          <a:prstGeom prst="rect">
            <a:avLst/>
          </a:prstGeom>
          <a:solidFill>
            <a:srgbClr val="288F88"/>
          </a:solidFill>
          <a:ln/>
        </p:spPr>
      </p:sp>
      <p:sp>
        <p:nvSpPr>
          <p:cNvPr id="46" name="Shape 44"/>
          <p:cNvSpPr/>
          <p:nvPr/>
        </p:nvSpPr>
        <p:spPr>
          <a:xfrm>
            <a:off x="1581912" y="4334256"/>
            <a:ext cx="402336" cy="402336"/>
          </a:xfrm>
          <a:prstGeom prst="rect">
            <a:avLst/>
          </a:prstGeom>
          <a:solidFill>
            <a:srgbClr val="288F88"/>
          </a:solidFill>
          <a:ln/>
        </p:spPr>
      </p:sp>
      <p:sp>
        <p:nvSpPr>
          <p:cNvPr id="47" name="Shape 45"/>
          <p:cNvSpPr/>
          <p:nvPr/>
        </p:nvSpPr>
        <p:spPr>
          <a:xfrm>
            <a:off x="1984248" y="4334256"/>
            <a:ext cx="402336" cy="402336"/>
          </a:xfrm>
          <a:prstGeom prst="rect">
            <a:avLst/>
          </a:prstGeom>
          <a:solidFill>
            <a:srgbClr val="288F88"/>
          </a:solidFill>
          <a:ln/>
        </p:spPr>
      </p:sp>
      <p:sp>
        <p:nvSpPr>
          <p:cNvPr id="48" name="Shape 46"/>
          <p:cNvSpPr/>
          <p:nvPr/>
        </p:nvSpPr>
        <p:spPr>
          <a:xfrm>
            <a:off x="2386584" y="4334256"/>
            <a:ext cx="402336" cy="402336"/>
          </a:xfrm>
          <a:prstGeom prst="rect">
            <a:avLst/>
          </a:prstGeom>
          <a:solidFill>
            <a:srgbClr val="288F88"/>
          </a:solidFill>
          <a:ln/>
        </p:spPr>
      </p:sp>
      <p:sp>
        <p:nvSpPr>
          <p:cNvPr id="49" name="Shape 47"/>
          <p:cNvSpPr/>
          <p:nvPr/>
        </p:nvSpPr>
        <p:spPr>
          <a:xfrm>
            <a:off x="2788920" y="4334256"/>
            <a:ext cx="402336" cy="402336"/>
          </a:xfrm>
          <a:prstGeom prst="rect">
            <a:avLst/>
          </a:prstGeom>
          <a:solidFill>
            <a:srgbClr val="288F88"/>
          </a:solidFill>
          <a:ln/>
        </p:spPr>
      </p:sp>
      <p:sp>
        <p:nvSpPr>
          <p:cNvPr id="50" name="Shape 48"/>
          <p:cNvSpPr/>
          <p:nvPr/>
        </p:nvSpPr>
        <p:spPr>
          <a:xfrm>
            <a:off x="3191256" y="4334256"/>
            <a:ext cx="402336" cy="402336"/>
          </a:xfrm>
          <a:prstGeom prst="rect">
            <a:avLst/>
          </a:prstGeom>
          <a:solidFill>
            <a:srgbClr val="1B2A52"/>
          </a:solidFill>
          <a:ln/>
        </p:spPr>
      </p:sp>
      <p:sp>
        <p:nvSpPr>
          <p:cNvPr id="51" name="Text 49"/>
          <p:cNvSpPr/>
          <p:nvPr/>
        </p:nvSpPr>
        <p:spPr>
          <a:xfrm>
            <a:off x="4846320" y="1463040"/>
            <a:ext cx="6675120" cy="6400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Where we stand</a:t>
            </a:r>
            <a:endParaRPr lang="en-US" sz="3300" dirty="0"/>
          </a:p>
        </p:txBody>
      </p:sp>
      <p:sp>
        <p:nvSpPr>
          <p:cNvPr id="52" name="Shape 50"/>
          <p:cNvSpPr/>
          <p:nvPr/>
        </p:nvSpPr>
        <p:spPr>
          <a:xfrm>
            <a:off x="4846320" y="2377440"/>
            <a:ext cx="146304" cy="146304"/>
          </a:xfrm>
          <a:prstGeom prst="ellipse">
            <a:avLst/>
          </a:prstGeom>
          <a:solidFill>
            <a:srgbClr val="E8743B"/>
          </a:solidFill>
          <a:ln/>
        </p:spPr>
      </p:sp>
      <p:sp>
        <p:nvSpPr>
          <p:cNvPr id="53" name="Text 51"/>
          <p:cNvSpPr/>
          <p:nvPr/>
        </p:nvSpPr>
        <p:spPr>
          <a:xfrm>
            <a:off x="5166360" y="2286000"/>
            <a:ext cx="6355080" cy="7498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idea works, and it generalises.  </a:t>
            </a:r>
            <a:pPr indent="0" marL="0">
              <a:buNone/>
            </a:pPr>
            <a:r>
              <a:rPr lang="en-US" sz="1250" dirty="0">
                <a:solidFill>
                  <a:srgbClr val="AEBBD8"/>
                </a:solidFill>
                <a:latin typeface="Calibri" pitchFamily="34" charset="0"/>
                <a:ea typeface="Calibri" pitchFamily="34" charset="-122"/>
                <a:cs typeface="Calibri" pitchFamily="34" charset="-120"/>
              </a:rPr>
              <a:t>On BERT the gain lands on words never supervised: +0.053 over a matched control, every seed.</a:t>
            </a:r>
            <a:endParaRPr lang="en-US" sz="1250" dirty="0"/>
          </a:p>
        </p:txBody>
      </p:sp>
      <p:sp>
        <p:nvSpPr>
          <p:cNvPr id="54" name="Shape 52"/>
          <p:cNvSpPr/>
          <p:nvPr/>
        </p:nvSpPr>
        <p:spPr>
          <a:xfrm>
            <a:off x="4846320" y="3218688"/>
            <a:ext cx="146304" cy="146304"/>
          </a:xfrm>
          <a:prstGeom prst="ellipse">
            <a:avLst/>
          </a:prstGeom>
          <a:solidFill>
            <a:srgbClr val="E8743B"/>
          </a:solidFill>
          <a:ln/>
        </p:spPr>
      </p:sp>
      <p:sp>
        <p:nvSpPr>
          <p:cNvPr id="55" name="Text 53"/>
          <p:cNvSpPr/>
          <p:nvPr/>
        </p:nvSpPr>
        <p:spPr>
          <a:xfrm>
            <a:off x="5166360" y="3127248"/>
            <a:ext cx="6355080" cy="7498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Barry's results replicate independently.  </a:t>
            </a:r>
            <a:pPr indent="0" marL="0">
              <a:buNone/>
            </a:pPr>
            <a:r>
              <a:rPr lang="en-US" sz="1250" dirty="0">
                <a:solidFill>
                  <a:srgbClr val="AEBBD8"/>
                </a:solidFill>
                <a:latin typeface="Calibri" pitchFamily="34" charset="0"/>
                <a:ea typeface="Calibri" pitchFamily="34" charset="-122"/>
                <a:cs typeface="Calibri" pitchFamily="34" charset="-120"/>
              </a:rPr>
              <a:t>All four modes, plus his brain pipeline to the voxel.</a:t>
            </a:r>
            <a:endParaRPr lang="en-US" sz="1250" dirty="0"/>
          </a:p>
        </p:txBody>
      </p:sp>
      <p:sp>
        <p:nvSpPr>
          <p:cNvPr id="56" name="Shape 54"/>
          <p:cNvSpPr/>
          <p:nvPr/>
        </p:nvSpPr>
        <p:spPr>
          <a:xfrm>
            <a:off x="4846320" y="4059936"/>
            <a:ext cx="146304" cy="146304"/>
          </a:xfrm>
          <a:prstGeom prst="ellipse">
            <a:avLst/>
          </a:prstGeom>
          <a:solidFill>
            <a:srgbClr val="E8743B"/>
          </a:solidFill>
          <a:ln/>
        </p:spPr>
      </p:sp>
      <p:sp>
        <p:nvSpPr>
          <p:cNvPr id="57" name="Text 55"/>
          <p:cNvSpPr/>
          <p:nvPr/>
        </p:nvSpPr>
        <p:spPr>
          <a:xfrm>
            <a:off x="5166360" y="3968496"/>
            <a:ext cx="6355080" cy="7498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Our disagreement is productive.  </a:t>
            </a:r>
            <a:pPr indent="0" marL="0">
              <a:buNone/>
            </a:pPr>
            <a:r>
              <a:rPr lang="en-US" sz="1250" dirty="0">
                <a:solidFill>
                  <a:srgbClr val="AEBBD8"/>
                </a:solidFill>
                <a:latin typeface="Calibri" pitchFamily="34" charset="0"/>
                <a:ea typeface="Calibri" pitchFamily="34" charset="-122"/>
                <a:cs typeface="Calibri" pitchFamily="34" charset="-120"/>
              </a:rPr>
              <a:t>The collapse he found may be about anchoring rather than context. One run settles it.</a:t>
            </a:r>
            <a:endParaRPr lang="en-US" sz="1250" dirty="0"/>
          </a:p>
        </p:txBody>
      </p:sp>
      <p:sp>
        <p:nvSpPr>
          <p:cNvPr id="58" name="Shape 56"/>
          <p:cNvSpPr/>
          <p:nvPr/>
        </p:nvSpPr>
        <p:spPr>
          <a:xfrm>
            <a:off x="4846320" y="4901184"/>
            <a:ext cx="146304" cy="146304"/>
          </a:xfrm>
          <a:prstGeom prst="ellipse">
            <a:avLst/>
          </a:prstGeom>
          <a:solidFill>
            <a:srgbClr val="E8743B"/>
          </a:solidFill>
          <a:ln/>
        </p:spPr>
      </p:sp>
      <p:sp>
        <p:nvSpPr>
          <p:cNvPr id="59" name="Text 57"/>
          <p:cNvSpPr/>
          <p:nvPr/>
        </p:nvSpPr>
        <p:spPr>
          <a:xfrm>
            <a:off x="5166360" y="4809744"/>
            <a:ext cx="6355080" cy="7498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brain data hints at a dissociation.  </a:t>
            </a:r>
            <a:pPr indent="0" marL="0">
              <a:buNone/>
            </a:pPr>
            <a:r>
              <a:rPr lang="en-US" sz="1250" dirty="0">
                <a:solidFill>
                  <a:srgbClr val="AEBBD8"/>
                </a:solidFill>
                <a:latin typeface="Calibri" pitchFamily="34" charset="0"/>
                <a:ea typeface="Calibri" pitchFamily="34" charset="-122"/>
                <a:cs typeface="Calibri" pitchFamily="34" charset="-120"/>
              </a:rPr>
              <a:t>His method moves trained words, mine moves untrained ones. Three subjects in, seven to go.</a:t>
            </a:r>
            <a:endParaRPr lang="en-US" sz="1250" dirty="0"/>
          </a:p>
        </p:txBody>
      </p:sp>
      <p:sp>
        <p:nvSpPr>
          <p:cNvPr id="60" name="Text 58"/>
          <p:cNvSpPr/>
          <p:nvPr/>
        </p:nvSpPr>
        <p:spPr>
          <a:xfrm>
            <a:off x="4846320" y="5806440"/>
            <a:ext cx="6675120" cy="365760"/>
          </a:xfrm>
          <a:prstGeom prst="rect">
            <a:avLst/>
          </a:prstGeom>
          <a:noFill/>
          <a:ln/>
        </p:spPr>
        <p:txBody>
          <a:bodyPr wrap="square" lIns="0" tIns="0" rIns="0" bIns="0" rtlCol="0" anchor="ctr"/>
          <a:lstStyle/>
          <a:p>
            <a:pPr indent="0" marL="0">
              <a:buNone/>
            </a:pPr>
            <a:r>
              <a:rPr lang="en-US" sz="1200" i="1" dirty="0">
                <a:solidFill>
                  <a:srgbClr val="F2C14E"/>
                </a:solidFill>
                <a:latin typeface="Calibri" pitchFamily="34" charset="0"/>
                <a:ea typeface="Calibri" pitchFamily="34" charset="-122"/>
                <a:cs typeface="Calibri" pitchFamily="34" charset="-120"/>
              </a:rPr>
              <a:t>Questions for you:  priority order?    which brain dataset next?    one write-up or two?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Representational Similarity Regularisation</dc:title>
  <dc:subject>PptxGenJS Presentation</dc:subject>
  <dc:creator>Jack McMenamin</dc:creator>
  <cp:lastModifiedBy>Jack McMenamin</cp:lastModifiedBy>
  <cp:revision>1</cp:revision>
  <dcterms:created xsi:type="dcterms:W3CDTF">2026-07-27T12:04:00Z</dcterms:created>
  <dcterms:modified xsi:type="dcterms:W3CDTF">2026-07-27T12:04:00Z</dcterms:modified>
</cp:coreProperties>
</file>