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reached</c:v>
                </c:pt>
              </c:strCache>
            </c:strRef>
          </c:tx>
          <c:spPr>
            <a:solidFill>
              <a:srgbClr val="B9C4D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41B3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interleave
(0% MLM in RSR steps)</c:v>
                </c:pt>
                <c:pt idx="1">
                  <c:v>weighted
L=0.9  (10%)</c:v>
                </c:pt>
                <c:pt idx="2">
                  <c:v>weighted
L=0.7  (30%)</c:v>
                </c:pt>
                <c:pt idx="3">
                  <c:v>weighted
L=0.5  (50%)</c:v>
                </c:pt>
                <c:pt idx="4">
                  <c:v>weighted
L=0.3  (70%)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0.51600000000000001</c:v>
                </c:pt>
                <c:pt idx="1">
                  <c:v>0.52400000000000002</c:v>
                </c:pt>
                <c:pt idx="2">
                  <c:v>0.54500000000000004</c:v>
                </c:pt>
                <c:pt idx="3">
                  <c:v>0.52900000000000003</c:v>
                </c:pt>
                <c:pt idx="4">
                  <c:v>0.52900000000000003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5F-4996-B441-820A7FA9FC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where it ended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41B3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interleave
(0% MLM in RSR steps)</c:v>
                </c:pt>
                <c:pt idx="1">
                  <c:v>weighted
L=0.9  (10%)</c:v>
                </c:pt>
                <c:pt idx="2">
                  <c:v>weighted
L=0.7  (30%)</c:v>
                </c:pt>
                <c:pt idx="3">
                  <c:v>weighted
L=0.5  (50%)</c:v>
                </c:pt>
                <c:pt idx="4">
                  <c:v>weighted
L=0.3  (70%)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0.47899999999999998</c:v>
                </c:pt>
                <c:pt idx="1">
                  <c:v>0.48299999999999998</c:v>
                </c:pt>
                <c:pt idx="2">
                  <c:v>0.50600000000000001</c:v>
                </c:pt>
                <c:pt idx="3">
                  <c:v>0.504</c:v>
                </c:pt>
                <c:pt idx="4">
                  <c:v>0.50800000000000001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5F-4996-B441-820A7FA9FC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5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7999999999999996"/>
          <c:min val="0.44"/>
        </c:scaling>
        <c:delete val="0"/>
        <c:axPos val="l"/>
        <c:majorGridlines>
          <c:spPr>
            <a:ln w="12700" cap="flat">
              <a:solidFill>
                <a:srgbClr val="E8EC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A6588"/>
                    </a:solidFill>
                    <a:latin typeface="Calibri"/>
                  </a:defRPr>
                </a:pPr>
                <a:r>
                  <a:rPr lang="en-GB" sz="1050" b="0" i="0" u="none" strike="noStrike">
                    <a:solidFill>
                      <a:srgbClr val="5A6588"/>
                    </a:solidFill>
                    <a:latin typeface="Calibri"/>
                  </a:rPr>
                  <a:t>SimLex-999 Spearman rho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5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Vanilla BERT</c:v>
                </c:pt>
              </c:strCache>
            </c:strRef>
          </c:tx>
          <c:spPr>
            <a:solidFill>
              <a:srgbClr val="B9C4D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1B3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All pairs</c:v>
                </c:pt>
                <c:pt idx="1">
                  <c:v>Both supervised</c:v>
                </c:pt>
                <c:pt idx="2">
                  <c:v>One supervised</c:v>
                </c:pt>
                <c:pt idx="3">
                  <c:v>Neither supervised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0.49199999999999999</c:v>
                </c:pt>
                <c:pt idx="1">
                  <c:v>0.33600000000000002</c:v>
                </c:pt>
                <c:pt idx="2">
                  <c:v>0.61699999999999999</c:v>
                </c:pt>
                <c:pt idx="3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3C-4CF4-BF27-40DD198E1A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+MLM control</c:v>
                </c:pt>
              </c:strCache>
            </c:strRef>
          </c:tx>
          <c:spPr>
            <a:solidFill>
              <a:srgbClr val="5C6F9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1B3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All pairs</c:v>
                </c:pt>
                <c:pt idx="1">
                  <c:v>Both supervised</c:v>
                </c:pt>
                <c:pt idx="2">
                  <c:v>One supervised</c:v>
                </c:pt>
                <c:pt idx="3">
                  <c:v>Neither supervised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0.51</c:v>
                </c:pt>
                <c:pt idx="1">
                  <c:v>0.33300000000000002</c:v>
                </c:pt>
                <c:pt idx="2">
                  <c:v>0.64500000000000002</c:v>
                </c:pt>
                <c:pt idx="3">
                  <c:v>0.56100000000000005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3C-4CF4-BF27-40DD198E1A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RSR (weighted)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1B3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All pairs</c:v>
                </c:pt>
                <c:pt idx="1">
                  <c:v>Both supervised</c:v>
                </c:pt>
                <c:pt idx="2">
                  <c:v>One supervised</c:v>
                </c:pt>
                <c:pt idx="3">
                  <c:v>Neither supervised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0.52800000000000002</c:v>
                </c:pt>
                <c:pt idx="1">
                  <c:v>0.34</c:v>
                </c:pt>
                <c:pt idx="2">
                  <c:v>0.64800000000000002</c:v>
                </c:pt>
                <c:pt idx="3">
                  <c:v>0.61399999999999999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3C-4CF4-BF27-40DD198E1A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12700" cap="flat">
              <a:solidFill>
                <a:srgbClr val="E8EC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588"/>
                    </a:solidFill>
                    <a:latin typeface="Calibri"/>
                  </a:defRPr>
                </a:pPr>
                <a:r>
                  <a:rPr lang="en-GB" sz="1100" b="0" i="0" u="none" strike="noStrike">
                    <a:solidFill>
                      <a:srgbClr val="5A6588"/>
                    </a:solidFill>
                    <a:latin typeface="Calibri"/>
                  </a:rPr>
                  <a:t>SimLex-999 Spearman rho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pairs</c:v>
                </c:pt>
              </c:strCache>
            </c:strRef>
          </c:tx>
          <c:spPr>
            <a:ln w="38100" cap="flat">
              <a:solidFill>
                <a:srgbClr val="2432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4325C"/>
              </a:solidFill>
              <a:ln w="9525" cap="flat">
                <a:solidFill>
                  <a:srgbClr val="24325C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0.5181</c:v>
                </c:pt>
                <c:pt idx="1">
                  <c:v>0.50960000000000005</c:v>
                </c:pt>
                <c:pt idx="2">
                  <c:v>0.51119999999999999</c:v>
                </c:pt>
                <c:pt idx="3">
                  <c:v>0.5181</c:v>
                </c:pt>
                <c:pt idx="4">
                  <c:v>0.51500000000000001</c:v>
                </c:pt>
                <c:pt idx="5">
                  <c:v>0.51639999999999997</c:v>
                </c:pt>
                <c:pt idx="6">
                  <c:v>0.52039999999999997</c:v>
                </c:pt>
                <c:pt idx="7">
                  <c:v>0.52270000000000005</c:v>
                </c:pt>
                <c:pt idx="8">
                  <c:v>0.52180000000000004</c:v>
                </c:pt>
                <c:pt idx="9">
                  <c:v>0.51219999999999999</c:v>
                </c:pt>
                <c:pt idx="10">
                  <c:v>0.48670000000000002</c:v>
                </c:pt>
                <c:pt idx="11">
                  <c:v>0.46949999999999997</c:v>
                </c:pt>
                <c:pt idx="12">
                  <c:v>0.49209999999999998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54-4129-8162-66BE450437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Neither supervised</c:v>
                </c:pt>
              </c:strCache>
            </c:strRef>
          </c:tx>
          <c:spPr>
            <a:ln w="38100" cap="flat">
              <a:solidFill>
                <a:srgbClr val="E874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743B"/>
              </a:solidFill>
              <a:ln w="9525" cap="flat">
                <a:solidFill>
                  <a:srgbClr val="E8743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0.52829999999999999</c:v>
                </c:pt>
                <c:pt idx="1">
                  <c:v>0.5222</c:v>
                </c:pt>
                <c:pt idx="2">
                  <c:v>0.5333</c:v>
                </c:pt>
                <c:pt idx="3">
                  <c:v>0.5333</c:v>
                </c:pt>
                <c:pt idx="4">
                  <c:v>0.54390000000000005</c:v>
                </c:pt>
                <c:pt idx="5">
                  <c:v>0.54179999999999995</c:v>
                </c:pt>
                <c:pt idx="6">
                  <c:v>0.55300000000000005</c:v>
                </c:pt>
                <c:pt idx="7">
                  <c:v>0.56769999999999998</c:v>
                </c:pt>
                <c:pt idx="8">
                  <c:v>0.58130000000000004</c:v>
                </c:pt>
                <c:pt idx="9">
                  <c:v>0.58499999999999996</c:v>
                </c:pt>
                <c:pt idx="10">
                  <c:v>0.56359999999999999</c:v>
                </c:pt>
                <c:pt idx="11">
                  <c:v>0.54379999999999995</c:v>
                </c:pt>
                <c:pt idx="12">
                  <c:v>0.54979999999999996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54-4129-8162-66BE450437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588"/>
                    </a:solidFill>
                    <a:latin typeface="Calibri"/>
                  </a:defRPr>
                </a:pPr>
                <a:r>
                  <a:rPr lang="en-GB" sz="1100" b="0" i="0" u="none" strike="noStrike">
                    <a:solidFill>
                      <a:srgbClr val="5A6588"/>
                    </a:solidFill>
                    <a:latin typeface="Calibri"/>
                  </a:rPr>
                  <a:t>hidden layer (0 = embeddings)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2"/>
          <c:min val="0.44"/>
        </c:scaling>
        <c:delete val="0"/>
        <c:axPos val="l"/>
        <c:majorGridlines>
          <c:spPr>
            <a:ln w="12700" cap="flat">
              <a:solidFill>
                <a:srgbClr val="E8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040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into the comparison - no motivation preamble, he knows the project. Two slides on the loss mixing because that is the crux.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rationales are defensible a priori - that is what makes this a real question rather than a bug. The two orange rows drive everything that follows; the next two slides are entirely about the second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the question 'is 3:1 alternating not just weighted with lambda 0.25?' - it is not, and the three bullets are the answer. Emphasise the third: MLM steps restore language ability but do not undo geometric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spend time on. The dose-response is the strongest evidence we have: as MLM presence drops, the end state degrades monotonically, and the two least-anchored configs finish below the untrained baseline. The 2x2 accounts for all four observations across both codebases.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 gets identical training minus RSR, so this is not a more-training effect. Note the Both-supervised bar is flat - our supervision scale does not match SimLex perfectly, worth its own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confirmation. The batch-size note matters because it removes the easy explanation for his collapse, which is what makes the anchoring hypothesis the live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that matters: not 'you were wrong' but 'we changed two variables at once, and here is the one-run experiment that separates them'. He only ever tried averaging over sentences as a fix, never the weighted mixing.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dissociation lines up with the mechanism: template RSR edits individual token embeddings, anchored context RSR moves the space. Be upfront about n=3.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orient anyone who has not followed the details and to show honestly where the gaps are. Stage 4 is the paper abstract in miniature.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and two are the cheap high-value ones. Three is the new idea from our last conversation - worth flagging as a contribution we could own. Four is table stakes for a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asks. The CSV request is the practical blocker - he has the ten files already and git never carried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- pull this up only if he asks why layer 12, or when discussing the weighted-layer-pooling idea on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1463040"/>
            <a:ext cx="384048" cy="384048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8567928" y="1463040"/>
            <a:ext cx="384048" cy="384048"/>
          </a:xfrm>
          <a:prstGeom prst="rect">
            <a:avLst/>
          </a:prstGeom>
          <a:solidFill>
            <a:srgbClr val="DC70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951976" y="1463040"/>
            <a:ext cx="384048" cy="384048"/>
          </a:xfrm>
          <a:prstGeom prst="rect">
            <a:avLst/>
          </a:prstGeom>
          <a:solidFill>
            <a:srgbClr val="5C41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336024" y="1463040"/>
            <a:ext cx="384048" cy="384048"/>
          </a:xfrm>
          <a:prstGeom prst="rect">
            <a:avLst/>
          </a:prstGeom>
          <a:solidFill>
            <a:srgbClr val="D16C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720072" y="1463040"/>
            <a:ext cx="384048" cy="384048"/>
          </a:xfrm>
          <a:prstGeom prst="rect">
            <a:avLst/>
          </a:prstGeom>
          <a:solidFill>
            <a:srgbClr val="8650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104120" y="1463040"/>
            <a:ext cx="384048" cy="384048"/>
          </a:xfrm>
          <a:prstGeom prst="rect">
            <a:avLst/>
          </a:prstGeom>
          <a:solidFill>
            <a:srgbClr val="BB64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88168" y="1463040"/>
            <a:ext cx="384048" cy="384048"/>
          </a:xfrm>
          <a:prstGeom prst="rect">
            <a:avLst/>
          </a:prstGeom>
          <a:solidFill>
            <a:srgbClr val="A95D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872216" y="1463040"/>
            <a:ext cx="384048" cy="384048"/>
          </a:xfrm>
          <a:prstGeom prst="rect">
            <a:avLst/>
          </a:prstGeom>
          <a:solidFill>
            <a:srgbClr val="9B58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256264" y="1463040"/>
            <a:ext cx="384048" cy="384048"/>
          </a:xfrm>
          <a:prstGeom prst="rect">
            <a:avLst/>
          </a:prstGeom>
          <a:solidFill>
            <a:srgbClr val="C5673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8183880" y="1847088"/>
            <a:ext cx="384048" cy="384048"/>
          </a:xfrm>
          <a:prstGeom prst="rect">
            <a:avLst/>
          </a:prstGeom>
          <a:solidFill>
            <a:srgbClr val="B160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567928" y="1847088"/>
            <a:ext cx="384048" cy="384048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951976" y="1847088"/>
            <a:ext cx="384048" cy="384048"/>
          </a:xfrm>
          <a:prstGeom prst="rect">
            <a:avLst/>
          </a:prstGeom>
          <a:solidFill>
            <a:srgbClr val="8F54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336024" y="1847088"/>
            <a:ext cx="384048" cy="384048"/>
          </a:xfrm>
          <a:prstGeom prst="rect">
            <a:avLst/>
          </a:prstGeom>
          <a:solidFill>
            <a:srgbClr val="CC6A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720072" y="1847088"/>
            <a:ext cx="384048" cy="384048"/>
          </a:xfrm>
          <a:prstGeom prst="rect">
            <a:avLst/>
          </a:prstGeom>
          <a:solidFill>
            <a:srgbClr val="6745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104120" y="1847088"/>
            <a:ext cx="384048" cy="384048"/>
          </a:xfrm>
          <a:prstGeom prst="rect">
            <a:avLst/>
          </a:prstGeom>
          <a:solidFill>
            <a:srgbClr val="DA6F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488168" y="1847088"/>
            <a:ext cx="384048" cy="384048"/>
          </a:xfrm>
          <a:prstGeom prst="rect">
            <a:avLst/>
          </a:prstGeom>
          <a:solidFill>
            <a:srgbClr val="3B36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872216" y="1847088"/>
            <a:ext cx="384048" cy="384048"/>
          </a:xfrm>
          <a:prstGeom prst="rect">
            <a:avLst/>
          </a:prstGeom>
          <a:solidFill>
            <a:srgbClr val="DD70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1256264" y="1847088"/>
            <a:ext cx="384048" cy="384048"/>
          </a:xfrm>
          <a:prstGeom prst="rect">
            <a:avLst/>
          </a:prstGeom>
          <a:solidFill>
            <a:srgbClr val="513D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183880" y="2231136"/>
            <a:ext cx="384048" cy="384048"/>
          </a:xfrm>
          <a:prstGeom prst="rect">
            <a:avLst/>
          </a:prstGeom>
          <a:solidFill>
            <a:srgbClr val="DD70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567928" y="2231136"/>
            <a:ext cx="384048" cy="384048"/>
          </a:xfrm>
          <a:prstGeom prst="rect">
            <a:avLst/>
          </a:prstGeom>
          <a:solidFill>
            <a:srgbClr val="3232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951976" y="2231136"/>
            <a:ext cx="384048" cy="384048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336024" y="2231136"/>
            <a:ext cx="384048" cy="384048"/>
          </a:xfrm>
          <a:prstGeom prst="rect">
            <a:avLst/>
          </a:prstGeom>
          <a:solidFill>
            <a:srgbClr val="5F42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720072" y="2231136"/>
            <a:ext cx="384048" cy="384048"/>
          </a:xfrm>
          <a:prstGeom prst="rect">
            <a:avLst/>
          </a:prstGeom>
          <a:solidFill>
            <a:srgbClr val="D06B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0104120" y="2231136"/>
            <a:ext cx="384048" cy="384048"/>
          </a:xfrm>
          <a:prstGeom prst="rect">
            <a:avLst/>
          </a:prstGeom>
          <a:solidFill>
            <a:srgbClr val="8851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488168" y="2231136"/>
            <a:ext cx="384048" cy="384048"/>
          </a:xfrm>
          <a:prstGeom prst="rect">
            <a:avLst/>
          </a:prstGeom>
          <a:solidFill>
            <a:srgbClr val="B96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872216" y="2231136"/>
            <a:ext cx="384048" cy="384048"/>
          </a:xfrm>
          <a:prstGeom prst="rect">
            <a:avLst/>
          </a:prstGeom>
          <a:solidFill>
            <a:srgbClr val="AC5E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1256264" y="2231136"/>
            <a:ext cx="384048" cy="384048"/>
          </a:xfrm>
          <a:prstGeom prst="rect">
            <a:avLst/>
          </a:prstGeom>
          <a:solidFill>
            <a:srgbClr val="9957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183880" y="2615184"/>
            <a:ext cx="384048" cy="384048"/>
          </a:xfrm>
          <a:prstGeom prst="rect">
            <a:avLst/>
          </a:prstGeom>
          <a:solidFill>
            <a:srgbClr val="9456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8567928" y="2615184"/>
            <a:ext cx="384048" cy="384048"/>
          </a:xfrm>
          <a:prstGeom prst="rect">
            <a:avLst/>
          </a:prstGeom>
          <a:solidFill>
            <a:srgbClr val="AF60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8951976" y="2615184"/>
            <a:ext cx="384048" cy="384048"/>
          </a:xfrm>
          <a:prstGeom prst="rect">
            <a:avLst/>
          </a:prstGeom>
          <a:solidFill>
            <a:srgbClr val="B562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9336024" y="2615184"/>
            <a:ext cx="384048" cy="384048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9720072" y="2615184"/>
            <a:ext cx="384048" cy="384048"/>
          </a:xfrm>
          <a:prstGeom prst="rect">
            <a:avLst/>
          </a:prstGeom>
          <a:solidFill>
            <a:srgbClr val="CD6A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10104120" y="2615184"/>
            <a:ext cx="384048" cy="384048"/>
          </a:xfrm>
          <a:prstGeom prst="rect">
            <a:avLst/>
          </a:prstGeom>
          <a:solidFill>
            <a:srgbClr val="6444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10488168" y="2615184"/>
            <a:ext cx="384048" cy="384048"/>
          </a:xfrm>
          <a:prstGeom prst="rect">
            <a:avLst/>
          </a:prstGeom>
          <a:solidFill>
            <a:srgbClr val="DB6F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10872216" y="2615184"/>
            <a:ext cx="384048" cy="384048"/>
          </a:xfrm>
          <a:prstGeom prst="rect">
            <a:avLst/>
          </a:prstGeom>
          <a:solidFill>
            <a:srgbClr val="383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11256264" y="2615184"/>
            <a:ext cx="384048" cy="384048"/>
          </a:xfrm>
          <a:prstGeom prst="rect">
            <a:avLst/>
          </a:prstGeom>
          <a:solidFill>
            <a:srgbClr val="DD70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8183880" y="2999232"/>
            <a:ext cx="384048" cy="384048"/>
          </a:xfrm>
          <a:prstGeom prst="rect">
            <a:avLst/>
          </a:prstGeom>
          <a:solidFill>
            <a:srgbClr val="563F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8567928" y="2999232"/>
            <a:ext cx="384048" cy="384048"/>
          </a:xfrm>
          <a:prstGeom prst="rect">
            <a:avLst/>
          </a:prstGeom>
          <a:solidFill>
            <a:srgbClr val="DD70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8951976" y="2999232"/>
            <a:ext cx="384048" cy="384048"/>
          </a:xfrm>
          <a:prstGeom prst="rect">
            <a:avLst/>
          </a:prstGeom>
          <a:solidFill>
            <a:srgbClr val="3534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9336024" y="2999232"/>
            <a:ext cx="384048" cy="384048"/>
          </a:xfrm>
          <a:prstGeom prst="rect">
            <a:avLst/>
          </a:prstGeom>
          <a:solidFill>
            <a:srgbClr val="DB6F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9720072" y="2999232"/>
            <a:ext cx="384048" cy="384048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10104120" y="2999232"/>
            <a:ext cx="384048" cy="384048"/>
          </a:xfrm>
          <a:prstGeom prst="rect">
            <a:avLst/>
          </a:prstGeom>
          <a:solidFill>
            <a:srgbClr val="CF6B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10488168" y="2999232"/>
            <a:ext cx="384048" cy="384048"/>
          </a:xfrm>
          <a:prstGeom prst="rect">
            <a:avLst/>
          </a:prstGeom>
          <a:solidFill>
            <a:srgbClr val="8B52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10872216" y="2999232"/>
            <a:ext cx="384048" cy="384048"/>
          </a:xfrm>
          <a:prstGeom prst="rect">
            <a:avLst/>
          </a:prstGeom>
          <a:solidFill>
            <a:srgbClr val="B762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11256264" y="2999232"/>
            <a:ext cx="384048" cy="384048"/>
          </a:xfrm>
          <a:prstGeom prst="rect">
            <a:avLst/>
          </a:prstGeom>
          <a:solidFill>
            <a:srgbClr val="AE5F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8183880" y="3383280"/>
            <a:ext cx="384048" cy="384048"/>
          </a:xfrm>
          <a:prstGeom prst="rect">
            <a:avLst/>
          </a:prstGeom>
          <a:solidFill>
            <a:srgbClr val="C8683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8567928" y="3383280"/>
            <a:ext cx="384048" cy="384048"/>
          </a:xfrm>
          <a:prstGeom prst="rect">
            <a:avLst/>
          </a:prstGeom>
          <a:solidFill>
            <a:srgbClr val="9757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8951976" y="3383280"/>
            <a:ext cx="384048" cy="384048"/>
          </a:xfrm>
          <a:prstGeom prst="rect">
            <a:avLst/>
          </a:prstGeom>
          <a:solidFill>
            <a:srgbClr val="AD5F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9336024" y="3383280"/>
            <a:ext cx="384048" cy="384048"/>
          </a:xfrm>
          <a:prstGeom prst="rect">
            <a:avLst/>
          </a:prstGeom>
          <a:solidFill>
            <a:srgbClr val="B762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9720072" y="3383280"/>
            <a:ext cx="384048" cy="384048"/>
          </a:xfrm>
          <a:prstGeom prst="rect">
            <a:avLst/>
          </a:prstGeom>
          <a:solidFill>
            <a:srgbClr val="8B52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10104120" y="3383280"/>
            <a:ext cx="384048" cy="384048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10488168" y="3383280"/>
            <a:ext cx="384048" cy="384048"/>
          </a:xfrm>
          <a:prstGeom prst="rect">
            <a:avLst/>
          </a:prstGeom>
          <a:solidFill>
            <a:srgbClr val="624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10872216" y="3383280"/>
            <a:ext cx="384048" cy="384048"/>
          </a:xfrm>
          <a:prstGeom prst="rect">
            <a:avLst/>
          </a:prstGeom>
          <a:solidFill>
            <a:srgbClr val="DB6F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11256264" y="3383280"/>
            <a:ext cx="384048" cy="384048"/>
          </a:xfrm>
          <a:prstGeom prst="rect">
            <a:avLst/>
          </a:prstGeom>
          <a:solidFill>
            <a:srgbClr val="3533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8183880" y="3767328"/>
            <a:ext cx="384048" cy="384048"/>
          </a:xfrm>
          <a:prstGeom prst="rect">
            <a:avLst/>
          </a:prstGeom>
          <a:solidFill>
            <a:srgbClr val="D46D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8567928" y="3767328"/>
            <a:ext cx="384048" cy="384048"/>
          </a:xfrm>
          <a:prstGeom prst="rect">
            <a:avLst/>
          </a:prstGeom>
          <a:solidFill>
            <a:srgbClr val="533E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8951976" y="3767328"/>
            <a:ext cx="384048" cy="384048"/>
          </a:xfrm>
          <a:prstGeom prst="rect">
            <a:avLst/>
          </a:prstGeom>
          <a:solidFill>
            <a:srgbClr val="DD70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9336024" y="3767328"/>
            <a:ext cx="384048" cy="384048"/>
          </a:xfrm>
          <a:prstGeom prst="rect">
            <a:avLst/>
          </a:prstGeom>
          <a:solidFill>
            <a:srgbClr val="383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9720072" y="3767328"/>
            <a:ext cx="384048" cy="384048"/>
          </a:xfrm>
          <a:prstGeom prst="rect">
            <a:avLst/>
          </a:prstGeom>
          <a:solidFill>
            <a:srgbClr val="DB6F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10104120" y="3767328"/>
            <a:ext cx="384048" cy="384048"/>
          </a:xfrm>
          <a:prstGeom prst="rect">
            <a:avLst/>
          </a:prstGeom>
          <a:solidFill>
            <a:srgbClr val="644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10488168" y="3767328"/>
            <a:ext cx="384048" cy="384048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10872216" y="3767328"/>
            <a:ext cx="384048" cy="384048"/>
          </a:xfrm>
          <a:prstGeom prst="rect">
            <a:avLst/>
          </a:prstGeom>
          <a:solidFill>
            <a:srgbClr val="8D53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11256264" y="3767328"/>
            <a:ext cx="384048" cy="384048"/>
          </a:xfrm>
          <a:prstGeom prst="rect">
            <a:avLst/>
          </a:prstGeom>
          <a:solidFill>
            <a:srgbClr val="B562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8183880" y="4151376"/>
            <a:ext cx="384048" cy="384048"/>
          </a:xfrm>
          <a:prstGeom prst="rect">
            <a:avLst/>
          </a:prstGeom>
          <a:solidFill>
            <a:srgbClr val="7249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8567928" y="4151376"/>
            <a:ext cx="384048" cy="384048"/>
          </a:xfrm>
          <a:prstGeom prst="rect">
            <a:avLst/>
          </a:prstGeom>
          <a:solidFill>
            <a:srgbClr val="C7683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8951976" y="4151376"/>
            <a:ext cx="384048" cy="384048"/>
          </a:xfrm>
          <a:prstGeom prst="rect">
            <a:avLst/>
          </a:prstGeom>
          <a:solidFill>
            <a:srgbClr val="9957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9336024" y="4151376"/>
            <a:ext cx="384048" cy="384048"/>
          </a:xfrm>
          <a:prstGeom prst="rect">
            <a:avLst/>
          </a:prstGeom>
          <a:solidFill>
            <a:srgbClr val="AB5E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9720072" y="4151376"/>
            <a:ext cx="384048" cy="384048"/>
          </a:xfrm>
          <a:prstGeom prst="rect">
            <a:avLst/>
          </a:prstGeom>
          <a:solidFill>
            <a:srgbClr val="B96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10104120" y="4151376"/>
            <a:ext cx="384048" cy="384048"/>
          </a:xfrm>
          <a:prstGeom prst="rect">
            <a:avLst/>
          </a:prstGeom>
          <a:solidFill>
            <a:srgbClr val="8851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10488168" y="4151376"/>
            <a:ext cx="384048" cy="384048"/>
          </a:xfrm>
          <a:prstGeom prst="rect">
            <a:avLst/>
          </a:prstGeom>
          <a:solidFill>
            <a:srgbClr val="D06B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10872216" y="4151376"/>
            <a:ext cx="384048" cy="384048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11256264" y="4151376"/>
            <a:ext cx="384048" cy="384048"/>
          </a:xfrm>
          <a:prstGeom prst="rect">
            <a:avLst/>
          </a:prstGeom>
          <a:solidFill>
            <a:srgbClr val="DC70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8183880" y="4535424"/>
            <a:ext cx="384048" cy="384048"/>
          </a:xfrm>
          <a:prstGeom prst="rect">
            <a:avLst/>
          </a:prstGeom>
          <a:solidFill>
            <a:srgbClr val="7B4D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8567928" y="4535424"/>
            <a:ext cx="384048" cy="384048"/>
          </a:xfrm>
          <a:prstGeom prst="rect">
            <a:avLst/>
          </a:prstGeom>
          <a:solidFill>
            <a:srgbClr val="D56D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8951976" y="4535424"/>
            <a:ext cx="384048" cy="384048"/>
          </a:xfrm>
          <a:prstGeom prst="rect">
            <a:avLst/>
          </a:prstGeom>
          <a:solidFill>
            <a:srgbClr val="513D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9336024" y="4535424"/>
            <a:ext cx="384048" cy="384048"/>
          </a:xfrm>
          <a:prstGeom prst="rect">
            <a:avLst/>
          </a:prstGeom>
          <a:solidFill>
            <a:srgbClr val="DD70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9720072" y="4535424"/>
            <a:ext cx="384048" cy="384048"/>
          </a:xfrm>
          <a:prstGeom prst="rect">
            <a:avLst/>
          </a:prstGeom>
          <a:solidFill>
            <a:srgbClr val="3B36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10104120" y="4535424"/>
            <a:ext cx="384048" cy="384048"/>
          </a:xfrm>
          <a:prstGeom prst="rect">
            <a:avLst/>
          </a:prstGeom>
          <a:solidFill>
            <a:srgbClr val="DA6F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10488168" y="4535424"/>
            <a:ext cx="384048" cy="384048"/>
          </a:xfrm>
          <a:prstGeom prst="rect">
            <a:avLst/>
          </a:prstGeom>
          <a:solidFill>
            <a:srgbClr val="6746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10872216" y="4535424"/>
            <a:ext cx="384048" cy="384048"/>
          </a:xfrm>
          <a:prstGeom prst="rect">
            <a:avLst/>
          </a:prstGeom>
          <a:solidFill>
            <a:srgbClr val="CC6A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11256264" y="4535424"/>
            <a:ext cx="384048" cy="384048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777240" y="14630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Representational</a:t>
            </a:r>
            <a:endParaRPr lang="en-US" sz="4200" dirty="0"/>
          </a:p>
        </p:txBody>
      </p:sp>
      <p:sp>
        <p:nvSpPr>
          <p:cNvPr id="84" name="Text 82"/>
          <p:cNvSpPr/>
          <p:nvPr/>
        </p:nvSpPr>
        <p:spPr>
          <a:xfrm>
            <a:off x="777240" y="208483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Regularisation</a:t>
            </a:r>
            <a:endParaRPr lang="en-US" sz="4200" dirty="0"/>
          </a:p>
        </p:txBody>
      </p:sp>
      <p:sp>
        <p:nvSpPr>
          <p:cNvPr id="85" name="Text 83"/>
          <p:cNvSpPr/>
          <p:nvPr/>
        </p:nvSpPr>
        <p:spPr>
          <a:xfrm>
            <a:off x="777240" y="30175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builds of the same idea, why they diverge, and what the difference does to the model.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7772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McMenamin</a:t>
            </a:r>
            <a:r>
              <a:rPr lang="en-US" sz="13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Experiment 3     Supervisor: Barry Devereux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each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ground:  </a:t>
            </a: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 us add a soft-Spearman loss that pulls the model's word-pair cosine similarities toward human similarity ratings, trained alongside masked language modelling.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68880" cy="457200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17520" y="2103120"/>
            <a:ext cx="3017520" cy="457200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15468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 (RoBERTa)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2103120"/>
            <a:ext cx="3017520" cy="457200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1722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(BERT)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52560" y="2103120"/>
            <a:ext cx="2560320" cy="457200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1897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it matters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2468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017520" y="2560320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035040" y="2560320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052560" y="2560320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5800" y="25603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680" y="25603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25603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89720" y="25603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962656"/>
            <a:ext cx="2468880" cy="566928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017520" y="2962656"/>
            <a:ext cx="3017520" cy="566928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035040" y="2962656"/>
            <a:ext cx="3017520" cy="566928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9052560" y="2962656"/>
            <a:ext cx="2560320" cy="566928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85800" y="29626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sees words 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54680" y="29626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template: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word is X.'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29626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Wikipedia sentences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89720" y="29626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529584"/>
            <a:ext cx="2468880" cy="566928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017520" y="3529584"/>
            <a:ext cx="3017520" cy="566928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035040" y="3529584"/>
            <a:ext cx="3017520" cy="566928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9052560" y="3529584"/>
            <a:ext cx="2560320" cy="566928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85800" y="35295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losses mix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154680" y="35295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alternating: 3 MLM steps,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1 pure RSR step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72200" y="35295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weighted: both losses 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step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189720" y="35295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096512"/>
            <a:ext cx="2468880" cy="402336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3017520" y="4096512"/>
            <a:ext cx="3017520" cy="402336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035040" y="4096512"/>
            <a:ext cx="3017520" cy="402336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9052560" y="4096512"/>
            <a:ext cx="2560320" cy="402336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85800" y="40965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Read-out layer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154680" y="40965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72200" y="40965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12 (probed 0-12)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189720" y="40965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498848"/>
            <a:ext cx="2468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3017520" y="4498848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6035040" y="4498848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9052560" y="4498848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85800" y="44988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154680" y="44988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8000 steps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172200" y="44988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best checkpoint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189720" y="44988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4901184"/>
            <a:ext cx="2468880" cy="402336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017520" y="4901184"/>
            <a:ext cx="3017520" cy="402336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035040" y="4901184"/>
            <a:ext cx="3017520" cy="402336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9052560" y="4901184"/>
            <a:ext cx="2560320" cy="402336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685800" y="49011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154680" y="49011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WordSim + SimVerb + THINGS,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inflection-augmented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172200" y="49011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SimVerb + THINGS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189720" y="490118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48640" y="5349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777240" y="5458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Barry’s reasoning for templates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77240" y="57058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context is sterile. Every word sits in an identical frame, so the loss touches pure lexical geometry with no contextual noise.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217920" y="5349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6446520" y="5458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reasoning for real sentences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446520" y="57058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is a contextual model. Reshaping it in context is the honest test, and it matches how the model gets used downstream.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Differences | 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loss mixing, precisely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two losses, same data. The only difference is whether they arrive in the SAME gradient step or in different 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Barry: alternating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7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train.py:254   is_rsr_step = (step % 4 == 0)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548640" cy="420624"/>
          </a:xfrm>
          <a:prstGeom prst="rect">
            <a:avLst/>
          </a:prstGeom>
          <a:solidFill>
            <a:srgbClr val="5C6F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80744" y="2487168"/>
            <a:ext cx="548640" cy="420624"/>
          </a:xfrm>
          <a:prstGeom prst="rect">
            <a:avLst/>
          </a:prstGeom>
          <a:solidFill>
            <a:srgbClr val="5C6F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80744" y="24871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84248" y="2487168"/>
            <a:ext cx="548640" cy="420624"/>
          </a:xfrm>
          <a:prstGeom prst="rect">
            <a:avLst/>
          </a:prstGeom>
          <a:solidFill>
            <a:srgbClr val="5C6F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984248" y="24871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87752" y="2487168"/>
            <a:ext cx="548640" cy="420624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587752" y="24871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91256" y="2487168"/>
            <a:ext cx="548640" cy="420624"/>
          </a:xfrm>
          <a:prstGeom prst="rect">
            <a:avLst/>
          </a:prstGeom>
          <a:solidFill>
            <a:srgbClr val="5C6F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191256" y="24871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94760" y="2487168"/>
            <a:ext cx="548640" cy="420624"/>
          </a:xfrm>
          <a:prstGeom prst="rect">
            <a:avLst/>
          </a:prstGeom>
          <a:solidFill>
            <a:srgbClr val="5C6F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794760" y="24871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98264" y="2487168"/>
            <a:ext cx="548640" cy="420624"/>
          </a:xfrm>
          <a:prstGeom prst="rect">
            <a:avLst/>
          </a:prstGeom>
          <a:solidFill>
            <a:srgbClr val="5C6F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398264" y="24871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01768" y="2487168"/>
            <a:ext cx="548640" cy="420624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001768" y="24871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0175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driven by ONE loss: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2735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 = grad(RSR)          &lt;- nothing else in 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5295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RSR step the language objective contributes exactly zero.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446520" y="1901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Jack: weighted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46520" y="21762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(1-L)*mlm_loss + L*rsr_loss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46520" y="2487168"/>
            <a:ext cx="548640" cy="420624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446520" y="2487168"/>
            <a:ext cx="548640" cy="292608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446520" y="24871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46520" y="277977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050024" y="2487168"/>
            <a:ext cx="548640" cy="420624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050024" y="2487168"/>
            <a:ext cx="548640" cy="292608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050024" y="24871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50024" y="277977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653528" y="2487168"/>
            <a:ext cx="548640" cy="420624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653528" y="2487168"/>
            <a:ext cx="548640" cy="292608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653528" y="24871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653528" y="277977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257032" y="2487168"/>
            <a:ext cx="548640" cy="420624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8257032" y="2487168"/>
            <a:ext cx="548640" cy="292608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8257032" y="24871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57032" y="277977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860536" y="2487168"/>
            <a:ext cx="548640" cy="420624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8860536" y="2487168"/>
            <a:ext cx="548640" cy="292608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8860536" y="24871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860536" y="277977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464040" y="2487168"/>
            <a:ext cx="548640" cy="420624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9464040" y="2487168"/>
            <a:ext cx="548640" cy="292608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9464040" y="24871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464040" y="277977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067544" y="2487168"/>
            <a:ext cx="548640" cy="420624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10067544" y="2487168"/>
            <a:ext cx="548640" cy="292608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10067544" y="24871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067544" y="277977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671048" y="2487168"/>
            <a:ext cx="548640" cy="420624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10671048" y="2487168"/>
            <a:ext cx="548640" cy="292608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10671048" y="24871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671048" y="277977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446520" y="30175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driven by BOTH: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46520" y="32735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 = 0.3*grad(MLM) + 0.7*grad(RSR)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46520" y="35295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objective is never absent from an update.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48640" y="402336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822960" y="41605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are not equivalent, even at matched average ratios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68680" y="4636008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1143000" y="455371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each step goes.  </a:t>
            </a: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lurches all the way in the RSR direction, then corrects on the next step. Weighted moves in a compromise direction every time, so it never strays far from being a working language model.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868680" y="5166360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1143000" y="508406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optimiser gets confused.  </a:t>
            </a: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decides how big a step to take for each weight based on the gradients it has seen recently. When steps alternate between two different jobs, it is always tuned to the previous one. A constant blend keeps that tuning honest.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868680" y="5696712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1143000" y="561441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damage is not undone.  </a:t>
            </a: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MLM step after a bad RSR step restores the model's language ability - but nothing restores the similarity structure that the bad step distorted. That damage just stays.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945" y="32689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Differences | 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9945" y="566928"/>
            <a:ext cx="114921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evidence: Anchoring =the more language signal, the better it holds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9945" y="12115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data, same steps. Only the amount of MLM present in each update changes. Held-out SimLex at the peak, and again at the end of training.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78638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68680" y="3465576"/>
            <a:ext cx="7223760" cy="0"/>
          </a:xfrm>
          <a:prstGeom prst="line">
            <a:avLst/>
          </a:prstGeom>
          <a:noFill/>
          <a:ln w="19050">
            <a:solidFill>
              <a:srgbClr val="24325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8640" y="5120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recipe peaks above vanilla. Only the well-anchored ones are still above it when training stops.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5440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configurations with almost no MLM in the update - alternating, and lambda 0.9 - both finish BELOW the model we started from. They do not merely fail to help; they damage what was already there.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178308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77824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predicts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778240" y="223113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should need TWO things: a noisy training signal, and no anchor to hold the geometry while it is absorbed.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78240" y="303580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give a clean signal, so they survive even unanchored. Real sentences give a noisy one, so they need the anchor.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49640" y="41148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we have fits that 2x2: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281160" y="440740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424160" y="440740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unanchored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549640" y="464515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(templates)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281160" y="4645152"/>
            <a:ext cx="1143000" cy="566928"/>
          </a:xfrm>
          <a:prstGeom prst="rect">
            <a:avLst/>
          </a:prstGeom>
          <a:solidFill>
            <a:srgbClr val="EDF1F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9281160" y="464515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424160" y="4645152"/>
            <a:ext cx="1143000" cy="566928"/>
          </a:xfrm>
          <a:prstGeom prst="rect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10424160" y="464515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549640" y="521208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(wiki data)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9281160" y="5212080"/>
            <a:ext cx="1143000" cy="566928"/>
          </a:xfrm>
          <a:prstGeom prst="rect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9281160" y="52120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424160" y="5212080"/>
            <a:ext cx="1143000" cy="566928"/>
          </a:xfrm>
          <a:prstGeom prst="rect">
            <a:avLst/>
          </a:prstGeom>
          <a:solidFill>
            <a:srgbClr val="E874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10424160" y="52120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anchoring, real sentences generalise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SimLex-999, five seeds, against a control trained for exactly the same steps without RSR. Split by whether each pair's words were ever supervised.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75895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178308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503920" y="1938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SUPERVISED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03920" y="22128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+0.053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503920" y="29809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matched control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0.00002, positive in all 5 seeds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75320" y="402336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503920" y="4160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that column matters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03920" y="446227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words got no human rating at all. There is nothing to memorise, so a gain there means the space itself moved.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COMPARISON IS FAIR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Barry's experiments reproduced independently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setup, datasets regenerated with given scripts, full grid on GPU.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438912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920240"/>
            <a:ext cx="1143000" cy="438912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310128" y="1920240"/>
            <a:ext cx="923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1143000" cy="438912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453128" y="1920240"/>
            <a:ext cx="923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Barry’s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0" y="1920240"/>
            <a:ext cx="2011680" cy="438912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596128" y="1920240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35915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200400" y="2359152"/>
            <a:ext cx="1143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343400" y="2359152"/>
            <a:ext cx="1143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486400" y="2359152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58368" y="2359152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(step 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3591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23591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96128" y="2359152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798064"/>
            <a:ext cx="2651760" cy="438912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200400" y="2798064"/>
            <a:ext cx="1143000" cy="438912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343400" y="2798064"/>
            <a:ext cx="1143000" cy="438912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486400" y="2798064"/>
            <a:ext cx="2011680" cy="438912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58368" y="2798064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vanilla_all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279806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279806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96128" y="279806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as reported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23697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200400" y="3236976"/>
            <a:ext cx="1143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343400" y="3236976"/>
            <a:ext cx="1143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486400" y="323697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58368" y="3236976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vanilla_targetwords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323697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43400" y="323697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96128" y="3236976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as reported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675888"/>
            <a:ext cx="2651760" cy="43891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3200400" y="3675888"/>
            <a:ext cx="1143000" cy="43891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343400" y="3675888"/>
            <a:ext cx="1143000" cy="43891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486400" y="3675888"/>
            <a:ext cx="2011680" cy="43891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58368" y="3675888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rsr_all (templates)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0" y="36758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43400" y="36758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96128" y="3675888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- confirmed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114800"/>
            <a:ext cx="2651760" cy="438912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3200400" y="4114800"/>
            <a:ext cx="1143000" cy="438912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4343400" y="4114800"/>
            <a:ext cx="1143000" cy="438912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5486400" y="4114800"/>
            <a:ext cx="2011680" cy="438912"/>
          </a:xfrm>
          <a:prstGeom prst="rect">
            <a:avLst/>
          </a:prstGeom>
          <a:solidFill>
            <a:srgbClr val="FDF1E9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58368" y="4114800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rsr_targetwords (real)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00400" y="41148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343400" y="41148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596128" y="4114800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- confirmed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48640" y="438308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reproduced. Mine sits about 0.013 higher throughout because the Wikipedia stream gathered 405k sentences to Barry’s 336k. His brain pipeline reproduced too, to the voxel: 2,296.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863840" y="1920240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8092440" y="2066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along the way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09244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says the collapsing mode used 4 word-pairs per batch because of memory limits. The code uses 24 - same as the mode that works.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92440" y="3200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small-batch artefact is ruled out.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run would settle it - RUNNING NEEEOW!!!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444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 result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sentences collapse, 0.57 down to 0.48. Conclusion in the report: aligning context-specific vectors to context-free scores is inherently destructive, so RSR needs templates.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92240" y="1444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result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7556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sentences work. The generalisation gain two slides back came from exactly the setup his conclusion rules 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are true. The confound is that we changed two things at once.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used templates AND alternating. I used real sentences AND weighted. So 'templates vs real sentences' and 'anchored vs unanchored' are perfectly confounded across our two codebases - and the dose-response evidence says the second one is doing the work.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6949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deciding experiment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his rsr_targetwords exactly as written and change ONE thing: weighted mixing instead of alternating. Roughly two hours.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6052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collapse disappears, the conclusion in the report is about anchoring, not context - and real-sentence RSR is back on the table for both of us.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0" y="47091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1E2A4E"/>
          </a:solidFill>
          <a:ln w="12700">
            <a:solidFill>
              <a:srgbClr val="F2C14E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001000" y="4846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0" y="513892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runs using his alternating scheme also decayed - and finished below the untrained baseline. Same model, same data, only the mixing changed.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PEREIRA 2018 FMRI  |  3 SUBJECTS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builds help the brain in opposite places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Barry’s evaluation harness, ported to BERT, run on identical brain data. Where a method helps tells us what kind of change it made.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3172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concepts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1772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supervised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Barry: templates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2240280"/>
            <a:ext cx="2286000" cy="868680"/>
          </a:xfrm>
          <a:prstGeom prst="rect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331720" y="2350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+0.007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33172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240280"/>
            <a:ext cx="2286000" cy="868680"/>
          </a:xfrm>
          <a:prstGeom prst="rect">
            <a:avLst/>
          </a:prstGeom>
          <a:solidFill>
            <a:srgbClr val="EDF1F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17720" y="2350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A65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Jack: real context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31720" y="3108960"/>
            <a:ext cx="2286000" cy="868680"/>
          </a:xfrm>
          <a:prstGeom prst="rect">
            <a:avLst/>
          </a:prstGeom>
          <a:solidFill>
            <a:srgbClr val="EDF1F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33172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A65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-0.008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3317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3108960"/>
            <a:ext cx="2286000" cy="868680"/>
          </a:xfrm>
          <a:prstGeom prst="rect">
            <a:avLst/>
          </a:prstGeom>
          <a:solidFill>
            <a:srgbClr val="E874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61772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+0.078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6177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gain over the matched MLM control. A double dissociation: Barry’s method moves the words it trained on, mine moves the ones it never saw.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6309360" cy="1188720"/>
          </a:xfrm>
          <a:prstGeom prst="roundRect">
            <a:avLst>
              <a:gd name="adj" fmla="val 6154"/>
            </a:avLst>
          </a:prstGeom>
          <a:solidFill>
            <a:srgbClr val="2E1F14"/>
          </a:solidFill>
          <a:ln w="12700">
            <a:solidFill>
              <a:srgbClr val="E8743B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!! ^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2120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of 10 subjects - the public download source keeps failing. The headline effect is p = 0.068: same direction in every subject and every upper layer, but not yet significant. @ Barry, do you have the raw </a:t>
            </a:r>
            <a:r>
              <a:rPr lang="en-US" sz="1100" dirty="0" err="1">
                <a:solidFill>
                  <a:srgbClr val="F5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</a:t>
            </a:r>
            <a:r>
              <a:rPr lang="en-US" sz="1100" dirty="0">
                <a:solidFill>
                  <a:srgbClr val="F5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your data folder ??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1874520"/>
            <a:ext cx="4480560" cy="4114800"/>
          </a:xfrm>
          <a:prstGeom prst="roundRect">
            <a:avLst>
              <a:gd name="adj" fmla="val 1778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406640" y="2029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deepens through the stack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advantage on never-supervised concepts, by layer: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2843784"/>
            <a:ext cx="1016391" cy="219456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0378440" y="2788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3246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0" y="3300984"/>
            <a:ext cx="866922" cy="219456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378440" y="32461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3703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55280" y="3758184"/>
            <a:ext cx="807134" cy="219456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0378440" y="37033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4160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0" y="4215384"/>
            <a:ext cx="1016391" cy="219456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0378440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4617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55280" y="4672584"/>
            <a:ext cx="1375117" cy="219456"/>
          </a:xfrm>
          <a:prstGeom prst="rect">
            <a:avLst/>
          </a:prstGeom>
          <a:solidFill>
            <a:srgbClr val="3E5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0378440" y="4617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06640" y="50749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55280" y="5129784"/>
            <a:ext cx="2331720" cy="219456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10378440" y="5074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+0.078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5486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upward propagation he found for his encoding models: the correction is built upon by later layers, not merely preserved.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finished pipeline, end to 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should take raw datasets to a defended claim. Badges show what is built and what is outstanding.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INPUTS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194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similarity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9631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SimVerb + THINGS,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and normalised.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pair overlapping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SimLex is removed.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355848"/>
            <a:ext cx="749808" cy="219456"/>
          </a:xfrm>
          <a:prstGeom prst="roundRect">
            <a:avLst>
              <a:gd name="adj" fmla="val 41667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1520" y="33558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2194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23367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Wikipedia sentences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target word, split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train / 30 held 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evaluation.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5093208"/>
            <a:ext cx="749808" cy="219456"/>
          </a:xfrm>
          <a:prstGeom prst="roundRect">
            <a:avLst>
              <a:gd name="adj" fmla="val 41667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31520" y="50932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816352" y="3566160"/>
            <a:ext cx="292608" cy="237744"/>
          </a:xfrm>
          <a:prstGeom prst="rightArrow">
            <a:avLst/>
          </a:prstGeom>
          <a:solidFill>
            <a:srgbClr val="B9C4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0040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CONTINUED PRE-TRAINING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2057400"/>
            <a:ext cx="2697480" cy="3337560"/>
          </a:xfrm>
          <a:prstGeom prst="roundRect">
            <a:avLst>
              <a:gd name="adj" fmla="val 2712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401568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from pretrained BERT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01568" y="2505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computes both: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01568" y="2779776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1E2A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520440" y="28346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30358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context -&gt; cosine RDM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soft Spearman vs humans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01568" y="3419856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E2A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520440" y="34655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36484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anchor: keeps it a language model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01568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= (1-L) MLM  +  L RSR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01568" y="433425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held-out SimLex every 100 steps and keep the best checkpoint, because RSR overshoots if left running.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01568" y="5029200"/>
            <a:ext cx="749808" cy="219456"/>
          </a:xfrm>
          <a:prstGeom prst="roundRect">
            <a:avLst>
              <a:gd name="adj" fmla="val 41667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401568" y="502920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71032" y="3566160"/>
            <a:ext cx="292608" cy="237744"/>
          </a:xfrm>
          <a:prstGeom prst="rightArrow">
            <a:avLst/>
          </a:prstGeom>
          <a:solidFill>
            <a:srgbClr val="B9C4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355080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THREE INDEPENDENT TESTS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205740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53796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Intrinsic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41080" y="2176272"/>
            <a:ext cx="749808" cy="219456"/>
          </a:xfrm>
          <a:prstGeom prst="roundRect">
            <a:avLst>
              <a:gd name="adj" fmla="val 41667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8641080" y="217627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37960" y="24231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SimLex-999, split by whether each pair was supervised.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37960" y="27340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geometry move - and does it generalise?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55080" y="320040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53796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641080" y="3319272"/>
            <a:ext cx="749808" cy="219456"/>
          </a:xfrm>
          <a:prstGeom prst="roundRect">
            <a:avLst>
              <a:gd name="adj" fmla="val 41667"/>
            </a:avLst>
          </a:prstGeom>
          <a:solidFill>
            <a:srgbClr val="9AA6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641080" y="331927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37960" y="35661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GLUE and tagging, against the same control.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37960" y="38770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still a good language model?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55080" y="434340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537960" y="4434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641080" y="4462272"/>
            <a:ext cx="749808" cy="219456"/>
          </a:xfrm>
          <a:prstGeom prst="roundRect">
            <a:avLst>
              <a:gd name="adj" fmla="val 41667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8641080" y="446227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 SUBJ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37960" y="47091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Pereira fMRI: RSA, 2vs2 and voxelwise encoding.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37960" y="50200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more like a human brain?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55080" y="55138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arm answers a different objection. Together they are the argument.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82912" y="3566160"/>
            <a:ext cx="292608" cy="237744"/>
          </a:xfrm>
          <a:prstGeom prst="rightArrow">
            <a:avLst/>
          </a:prstGeom>
          <a:solidFill>
            <a:srgbClr val="B9C4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9966960" y="1737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CLAIM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966960" y="2057400"/>
            <a:ext cx="1691640" cy="3337560"/>
          </a:xfrm>
          <a:prstGeom prst="roundRect">
            <a:avLst>
              <a:gd name="adj" fmla="val 4324"/>
            </a:avLst>
          </a:prstGeom>
          <a:solidFill>
            <a:srgbClr val="24325C"/>
          </a:solidFill>
          <a:ln w="12700">
            <a:solidFill>
              <a:srgbClr val="24325C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5" name="Text 53"/>
          <p:cNvSpPr/>
          <p:nvPr/>
        </p:nvSpPr>
        <p:spPr>
          <a:xfrm>
            <a:off x="10104120" y="2194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Supervising a model with human similarity ratings reshapes its conceptual geometry: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104120" y="31546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generalises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104120" y="33741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words never rated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0104120" y="38130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usable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104120" y="40325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ability intact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104120" y="44714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human-like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104120" y="46908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brain fit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do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420624" cy="420624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deciding run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434840" y="17739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08176" y="2176272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Barry’s collapsing mode with weighted mixing, one variable changed. Settles the confound either way.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537960" y="1755648"/>
            <a:ext cx="420624" cy="420624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53796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23176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the brain evaluation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149840" y="17739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23176" y="2176272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subjects outstanding. At n = 10 the dissociation either holds or it does not.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22960" y="3904488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22960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08176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layer pooling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434840" y="3922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idea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08176" y="4325112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the loss reads one layer. The probe says 7-9 carry the most signal, so learn a weighted blend across layers instead of picking one.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6118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537960" y="3904488"/>
            <a:ext cx="420624" cy="420624"/>
          </a:xfrm>
          <a:prstGeom prst="ellipse">
            <a:avLst/>
          </a:prstGeom>
          <a:solidFill>
            <a:srgbClr val="2432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537960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23176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competence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149840" y="3922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days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17080" y="4215384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properly converged GLUE and tagging check.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920240"/>
            <a:ext cx="402336" cy="402336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9576" y="1920240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581912" y="1920240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984248" y="1920240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386584" y="1920240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88920" y="1920240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191256" y="1920240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77240" y="2322576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79576" y="2322576"/>
            <a:ext cx="402336" cy="402336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81912" y="2322576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84248" y="2322576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386584" y="2322576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88920" y="2322576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191256" y="2322576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77240" y="2724912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179576" y="2724912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581912" y="2724912"/>
            <a:ext cx="402336" cy="402336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984248" y="2724912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386584" y="2724912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788920" y="2724912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191256" y="2724912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77240" y="3127248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179576" y="3127248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581912" y="3127248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984248" y="3127248"/>
            <a:ext cx="402336" cy="402336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2386584" y="3127248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88920" y="3127248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191256" y="3127248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77240" y="3529584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179576" y="3529584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581912" y="3529584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984248" y="3529584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386584" y="3529584"/>
            <a:ext cx="402336" cy="402336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788920" y="3529584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191256" y="3529584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77240" y="3931920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1179576" y="3931920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1581912" y="3931920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1984248" y="3931920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2386584" y="3931920"/>
            <a:ext cx="402336" cy="402336"/>
          </a:xfrm>
          <a:prstGeom prst="rect">
            <a:avLst/>
          </a:prstGeom>
          <a:solidFill>
            <a:srgbClr val="1D3C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2788920" y="3931920"/>
            <a:ext cx="402336" cy="402336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3191256" y="3931920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77240" y="4334256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1179576" y="4334256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1581912" y="4334256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1984248" y="4334256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2386584" y="4334256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2788920" y="4334256"/>
            <a:ext cx="402336" cy="402336"/>
          </a:xfrm>
          <a:prstGeom prst="rect">
            <a:avLst/>
          </a:prstGeom>
          <a:solidFill>
            <a:srgbClr val="288F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3191256" y="4334256"/>
            <a:ext cx="402336" cy="402336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4846320" y="87325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task stands</a:t>
            </a:r>
            <a:endParaRPr lang="en-US" sz="3300" dirty="0"/>
          </a:p>
        </p:txBody>
      </p:sp>
      <p:sp>
        <p:nvSpPr>
          <p:cNvPr id="52" name="Shape 50"/>
          <p:cNvSpPr/>
          <p:nvPr/>
        </p:nvSpPr>
        <p:spPr>
          <a:xfrm>
            <a:off x="4846320" y="2135124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5166360" y="1833372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looks like the real variable.  </a:t>
            </a: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Dose-dependent: the less MLM in each update, the further the model falls - two configs end below where they started.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846320" y="2798064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5166360" y="2523744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anchoring, real-sentence RSR generalises.  </a:t>
            </a: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+0.053 over a matched control on words never supervised, every seed.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846320" y="3369737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5166360" y="3067812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Barry's results replicate independently.  </a:t>
            </a: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modes, plus his brain pipeline to the voxel.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4846320" y="3897630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5166360" y="3669030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data hints at a dissociation.  </a:t>
            </a: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method moves trained words, mine moves untrained ones. Three subjects in, seven to go.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4846320" y="58064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 run the deciding experiment?    can you share your fMRI beta CSVs?    one write-up or two?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|  THE LAYER DETOUR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layer should the loss read from?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Barry’s </a:t>
            </a:r>
            <a:r>
              <a:rPr lang="en-US" sz="1300" dirty="0" err="1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r>
              <a:rPr lang="en-US" sz="13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plot suggested the final layer is the worst place to read meaning from.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072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7 - the peak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242316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06324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65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63240" y="3072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12 - the default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and it replicates Vulic et al. (2020): upper layers specialise for predicting masked tokens and shed general lexical structure. Barry had independently landed on layer 5 for the same reason.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follow-ups: freezing all but one layer barely worked at all, so RSR needs the whole network to move. And the two curves peak in different places - 7 for all pairs, 9 for generalisation - which is what motivates pooling layers rather than picking one.</a:t>
            </a:r>
            <a:endParaRPr lang="en-US" sz="11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669280" y="1371600"/>
          <a:ext cx="59436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2394</Words>
  <Application>Microsoft Office PowerPoint</Application>
  <PresentationFormat>Widescreen</PresentationFormat>
  <Paragraphs>298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Representational Similarity Regularisation</dc:title>
  <dc:subject>PptxGenJS Presentation</dc:subject>
  <dc:creator>Jack McMenamin</dc:creator>
  <cp:lastModifiedBy>Jack McMenamin</cp:lastModifiedBy>
  <cp:revision>3</cp:revision>
  <dcterms:created xsi:type="dcterms:W3CDTF">2026-07-28T22:07:05Z</dcterms:created>
  <dcterms:modified xsi:type="dcterms:W3CDTF">2026-07-28T23:13:14Z</dcterms:modified>
</cp:coreProperties>
</file>